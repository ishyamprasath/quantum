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quantum-pi-blush.vercel.app" TargetMode="External"/><Relationship Id="rId4" Type="http://schemas.openxmlformats.org/officeDocument/2006/relationships/hyperlink" Target="https://github.com/ishyamprasath/quantum" TargetMode="External"/><Relationship Id="rId5" Type="http://schemas.openxmlformats.org/officeDocument/2006/relationships/hyperlink" Target="https://drive.google.com/file/d/1wskAFJJ6Vx5H08E7pGRBakwX2vZdtDsc/view?usp=sharing"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rive.google.com/file/d/1wskAFJJ6Vx5H08E7pGRBakwX2vZdtDsc/view?usp=sharing" TargetMode="External"/><Relationship Id="rId3" Type="http://schemas.openxmlformats.org/officeDocument/2006/relationships/hyperlink" Target="https://quantum-pi-blush.vercel.app" TargetMode="External"/><Relationship Id="rId4" Type="http://schemas.openxmlformats.org/officeDocument/2006/relationships/hyperlink" Target="https://github.com/ishyamprasath/quantum"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3387" y="512064"/>
            <a:ext cx="1554480" cy="237744"/>
          </a:xfrm>
          <a:prstGeom prst="rect">
            <a:avLst/>
          </a:prstGeom>
          <a:solidFill>
            <a:srgbClr val="EAEFEA"/>
          </a:solidFill>
          <a:ln w="7620">
            <a:solidFill>
              <a:srgbClr val="2C514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spc="120">
                <a:solidFill>
                  <a:srgbClr val="2C5142"/>
                </a:solidFill>
                <a:latin typeface="Segoe UI"/>
              </a:rPr>
              <a:t>AI MINI PROJECT</a:t>
            </a:r>
          </a:p>
        </p:txBody>
      </p:sp>
      <p:sp>
        <p:nvSpPr>
          <p:cNvPr id="4" name="Rectangle 3"/>
          <p:cNvSpPr/>
          <p:nvPr/>
        </p:nvSpPr>
        <p:spPr>
          <a:xfrm>
            <a:off x="2211019" y="512064"/>
            <a:ext cx="1828800" cy="237744"/>
          </a:xfrm>
          <a:prstGeom prst="rect">
            <a:avLst/>
          </a:prstGeom>
          <a:solidFill>
            <a:srgbClr val="F4F1E9"/>
          </a:solidFill>
          <a:ln w="7620">
            <a:solidFill>
              <a:srgbClr val="8A6414"/>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spc="120">
                <a:solidFill>
                  <a:srgbClr val="8A6414"/>
                </a:solidFill>
                <a:latin typeface="Segoe UI"/>
              </a:rPr>
              <a:t>RUNS IN THE BROWSER</a:t>
            </a:r>
          </a:p>
        </p:txBody>
      </p:sp>
      <p:sp>
        <p:nvSpPr>
          <p:cNvPr id="5" name="TextBox 4"/>
          <p:cNvSpPr txBox="1"/>
          <p:nvPr/>
        </p:nvSpPr>
        <p:spPr>
          <a:xfrm>
            <a:off x="528523" y="969264"/>
            <a:ext cx="5120640" cy="1005840"/>
          </a:xfrm>
          <a:prstGeom prst="rect">
            <a:avLst/>
          </a:prstGeom>
          <a:noFill/>
        </p:spPr>
        <p:txBody>
          <a:bodyPr wrap="square" lIns="0" rIns="0" tIns="0" bIns="0" anchor="t">
            <a:spAutoFit/>
          </a:bodyPr>
          <a:lstStyle/>
          <a:p>
            <a:pPr algn="l"/>
            <a:r>
              <a:rPr sz="6200" b="1" u="none">
                <a:solidFill>
                  <a:srgbClr val="1C1A17"/>
                </a:solidFill>
                <a:latin typeface="Georgia"/>
              </a:rPr>
              <a:t>ONDRU</a:t>
            </a:r>
          </a:p>
        </p:txBody>
      </p:sp>
      <p:sp>
        <p:nvSpPr>
          <p:cNvPr id="6" name="TextBox 5"/>
          <p:cNvSpPr txBox="1"/>
          <p:nvPr/>
        </p:nvSpPr>
        <p:spPr>
          <a:xfrm>
            <a:off x="583387" y="1975104"/>
            <a:ext cx="5120640" cy="365760"/>
          </a:xfrm>
          <a:prstGeom prst="rect">
            <a:avLst/>
          </a:prstGeom>
          <a:noFill/>
        </p:spPr>
        <p:txBody>
          <a:bodyPr wrap="square" lIns="0" rIns="0" tIns="0" bIns="0" anchor="t">
            <a:spAutoFit/>
          </a:bodyPr>
          <a:lstStyle/>
          <a:p>
            <a:pPr algn="l"/>
            <a:r>
              <a:rPr sz="1400" b="1" u="none">
                <a:solidFill>
                  <a:srgbClr val="2C5142"/>
                </a:solidFill>
                <a:latin typeface="Segoe UI"/>
              </a:rPr>
              <a:t>ஒன்று   ·   many voices, one issue</a:t>
            </a:r>
          </a:p>
        </p:txBody>
      </p:sp>
      <p:sp>
        <p:nvSpPr>
          <p:cNvPr id="7" name="Rectangle 6"/>
          <p:cNvSpPr/>
          <p:nvPr/>
        </p:nvSpPr>
        <p:spPr>
          <a:xfrm>
            <a:off x="583387" y="2432304"/>
            <a:ext cx="4617720" cy="12801"/>
          </a:xfrm>
          <a:prstGeom prst="rect">
            <a:avLst/>
          </a:prstGeom>
          <a:solidFill>
            <a:srgbClr val="C9C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3387" y="2651760"/>
            <a:ext cx="4709160" cy="914400"/>
          </a:xfrm>
          <a:prstGeom prst="rect">
            <a:avLst/>
          </a:prstGeom>
          <a:noFill/>
        </p:spPr>
        <p:txBody>
          <a:bodyPr wrap="square" lIns="0" rIns="0" tIns="0" bIns="0" anchor="t">
            <a:spAutoFit/>
          </a:bodyPr>
          <a:lstStyle/>
          <a:p>
            <a:pPr algn="l">
              <a:lnSpc>
                <a:spcPct val="138000"/>
              </a:lnSpc>
            </a:pPr>
            <a:r>
              <a:rPr sz="1250" b="0" u="none">
                <a:solidFill>
                  <a:srgbClr val="4A4640"/>
                </a:solidFill>
                <a:latin typeface="Segoe UI"/>
              </a:rPr>
              <a:t>On-device AI triage for a municipal grievance desk. It groups re-reports of one incident into a single card, routes it to a desk, ranks what is dangerous, and refuses to guess when it is not sure.</a:t>
            </a:r>
          </a:p>
        </p:txBody>
      </p:sp>
      <p:sp>
        <p:nvSpPr>
          <p:cNvPr id="9" name="TextBox 8"/>
          <p:cNvSpPr txBox="1"/>
          <p:nvPr/>
        </p:nvSpPr>
        <p:spPr>
          <a:xfrm>
            <a:off x="583387" y="3675887"/>
            <a:ext cx="2743200" cy="237744"/>
          </a:xfrm>
          <a:prstGeom prst="rect">
            <a:avLst/>
          </a:prstGeom>
          <a:noFill/>
        </p:spPr>
        <p:txBody>
          <a:bodyPr wrap="square" lIns="0" rIns="0" tIns="0" bIns="0" anchor="t">
            <a:spAutoFit/>
          </a:bodyPr>
          <a:lstStyle/>
          <a:p>
            <a:pPr algn="l"/>
            <a:r>
              <a:rPr sz="850" b="1" u="none" spc="120">
                <a:solidFill>
                  <a:srgbClr val="8A8478"/>
                </a:solidFill>
                <a:latin typeface="Segoe UI"/>
              </a:rPr>
              <a:t>SUBMITTED BY</a:t>
            </a:r>
          </a:p>
        </p:txBody>
      </p:sp>
      <p:sp>
        <p:nvSpPr>
          <p:cNvPr id="10" name="TextBox 9"/>
          <p:cNvSpPr txBox="1"/>
          <p:nvPr/>
        </p:nvSpPr>
        <p:spPr>
          <a:xfrm>
            <a:off x="583387" y="3913632"/>
            <a:ext cx="4023360" cy="274320"/>
          </a:xfrm>
          <a:prstGeom prst="rect">
            <a:avLst/>
          </a:prstGeom>
          <a:noFill/>
        </p:spPr>
        <p:txBody>
          <a:bodyPr wrap="square" lIns="0" rIns="0" tIns="0" bIns="0" anchor="t">
            <a:spAutoFit/>
          </a:bodyPr>
          <a:lstStyle/>
          <a:p>
            <a:pPr algn="l"/>
            <a:r>
              <a:rPr sz="1500" b="1" u="none">
                <a:solidFill>
                  <a:srgbClr val="1C1A17"/>
                </a:solidFill>
                <a:latin typeface="Georgia"/>
              </a:rPr>
              <a:t>Shyam Prasath S</a:t>
            </a:r>
          </a:p>
        </p:txBody>
      </p:sp>
      <p:sp>
        <p:nvSpPr>
          <p:cNvPr id="11" name="TextBox 10"/>
          <p:cNvSpPr txBox="1"/>
          <p:nvPr/>
        </p:nvSpPr>
        <p:spPr>
          <a:xfrm>
            <a:off x="583387" y="4261104"/>
            <a:ext cx="4572000" cy="237744"/>
          </a:xfrm>
          <a:prstGeom prst="rect">
            <a:avLst/>
          </a:prstGeom>
          <a:noFill/>
        </p:spPr>
        <p:txBody>
          <a:bodyPr wrap="square" lIns="0" rIns="0" tIns="0" bIns="0" anchor="t">
            <a:spAutoFit/>
          </a:bodyPr>
          <a:lstStyle/>
          <a:p>
            <a:pPr algn="l"/>
            <a:r>
              <a:rPr sz="1100" b="0" u="none">
                <a:solidFill>
                  <a:srgbClr val="4A4640"/>
                </a:solidFill>
                <a:latin typeface="Segoe UI"/>
              </a:rPr>
              <a:t>Sri Krishna College of Technology, Coimbatore</a:t>
            </a:r>
          </a:p>
        </p:txBody>
      </p:sp>
      <p:sp>
        <p:nvSpPr>
          <p:cNvPr id="12" name="TextBox 11"/>
          <p:cNvSpPr txBox="1"/>
          <p:nvPr/>
        </p:nvSpPr>
        <p:spPr>
          <a:xfrm>
            <a:off x="583387" y="4626864"/>
            <a:ext cx="2743200" cy="237744"/>
          </a:xfrm>
          <a:prstGeom prst="rect">
            <a:avLst/>
          </a:prstGeom>
          <a:noFill/>
        </p:spPr>
        <p:txBody>
          <a:bodyPr wrap="square" lIns="0" rIns="0" tIns="0" bIns="0" anchor="t">
            <a:spAutoFit/>
          </a:bodyPr>
          <a:lstStyle/>
          <a:p>
            <a:pPr algn="l"/>
            <a:r>
              <a:rPr sz="850" b="1" u="none" spc="120">
                <a:solidFill>
                  <a:srgbClr val="8A8478"/>
                </a:solidFill>
                <a:latin typeface="Segoe UI"/>
              </a:rPr>
              <a:t>TRACK</a:t>
            </a:r>
          </a:p>
        </p:txBody>
      </p:sp>
      <p:sp>
        <p:nvSpPr>
          <p:cNvPr id="13" name="TextBox 12"/>
          <p:cNvSpPr txBox="1"/>
          <p:nvPr/>
        </p:nvSpPr>
        <p:spPr>
          <a:xfrm>
            <a:off x="583387" y="4864608"/>
            <a:ext cx="4846320" cy="274320"/>
          </a:xfrm>
          <a:prstGeom prst="rect">
            <a:avLst/>
          </a:prstGeom>
          <a:noFill/>
        </p:spPr>
        <p:txBody>
          <a:bodyPr wrap="square" lIns="0" rIns="0" tIns="0" bIns="0" anchor="t">
            <a:spAutoFit/>
          </a:bodyPr>
          <a:lstStyle/>
          <a:p>
            <a:pPr algn="l"/>
            <a:r>
              <a:rPr sz="1250" b="1" u="none">
                <a:solidFill>
                  <a:srgbClr val="1C1A17"/>
                </a:solidFill>
                <a:latin typeface="Georgia"/>
              </a:rPr>
              <a:t>SDG 16  ·  Peace, Justice and Strong Institutions</a:t>
            </a:r>
          </a:p>
        </p:txBody>
      </p:sp>
      <p:sp>
        <p:nvSpPr>
          <p:cNvPr id="14" name="TextBox 13"/>
          <p:cNvSpPr txBox="1"/>
          <p:nvPr/>
        </p:nvSpPr>
        <p:spPr>
          <a:xfrm>
            <a:off x="583387" y="5175504"/>
            <a:ext cx="4846320" cy="237744"/>
          </a:xfrm>
          <a:prstGeom prst="rect">
            <a:avLst/>
          </a:prstGeom>
          <a:noFill/>
        </p:spPr>
        <p:txBody>
          <a:bodyPr wrap="square" lIns="0" rIns="0" tIns="0" bIns="0" anchor="t">
            <a:spAutoFit/>
          </a:bodyPr>
          <a:lstStyle/>
          <a:p>
            <a:pPr algn="l"/>
            <a:r>
              <a:rPr sz="1050" b="0" u="none">
                <a:solidFill>
                  <a:srgbClr val="8A8478"/>
                </a:solidFill>
                <a:latin typeface="Segoe UI"/>
              </a:rPr>
              <a:t>Code for Communities  ·  Tech for Good 2026</a:t>
            </a:r>
          </a:p>
        </p:txBody>
      </p:sp>
      <p:sp>
        <p:nvSpPr>
          <p:cNvPr id="15" name="Rounded Rectangle 14"/>
          <p:cNvSpPr/>
          <p:nvPr/>
        </p:nvSpPr>
        <p:spPr>
          <a:xfrm>
            <a:off x="5797296" y="932688"/>
            <a:ext cx="5815584" cy="3858768"/>
          </a:xfrm>
          <a:prstGeom prst="roundRect">
            <a:avLst>
              <a:gd name="adj" fmla="val 800"/>
            </a:avLst>
          </a:prstGeom>
          <a:solidFill>
            <a:srgbClr val="FFFFFF"/>
          </a:solidFill>
          <a:ln w="9525">
            <a:solidFill>
              <a:srgbClr val="E0DC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02-triage.png"/>
          <p:cNvPicPr>
            <a:picLocks noChangeAspect="1"/>
          </p:cNvPicPr>
          <p:nvPr/>
        </p:nvPicPr>
        <p:blipFill>
          <a:blip r:embed="rId2"/>
          <a:stretch>
            <a:fillRect/>
          </a:stretch>
        </p:blipFill>
        <p:spPr>
          <a:xfrm>
            <a:off x="5907024" y="1042415"/>
            <a:ext cx="5596128" cy="3497580"/>
          </a:xfrm>
          <a:prstGeom prst="rect">
            <a:avLst/>
          </a:prstGeom>
        </p:spPr>
      </p:pic>
      <p:sp>
        <p:nvSpPr>
          <p:cNvPr id="17" name="TextBox 16"/>
          <p:cNvSpPr txBox="1"/>
          <p:nvPr/>
        </p:nvSpPr>
        <p:spPr>
          <a:xfrm>
            <a:off x="5797296" y="4901184"/>
            <a:ext cx="5815584" cy="274320"/>
          </a:xfrm>
          <a:prstGeom prst="rect">
            <a:avLst/>
          </a:prstGeom>
          <a:noFill/>
        </p:spPr>
        <p:txBody>
          <a:bodyPr wrap="square" lIns="0" rIns="0" tIns="0" bIns="0" anchor="t">
            <a:spAutoFit/>
          </a:bodyPr>
          <a:lstStyle/>
          <a:p>
            <a:pPr algn="ctr"/>
            <a:r>
              <a:rPr sz="1050" b="0" u="none">
                <a:solidFill>
                  <a:srgbClr val="8A8478"/>
                </a:solidFill>
                <a:latin typeface="Segoe UI"/>
              </a:rPr>
              <a:t>The console. 100 complaints in a ward inbox, grouped into 68 real incidents.</a:t>
            </a:r>
          </a:p>
        </p:txBody>
      </p:sp>
      <p:sp>
        <p:nvSpPr>
          <p:cNvPr id="18" name="Rounded Rectangle 17"/>
          <p:cNvSpPr/>
          <p:nvPr/>
        </p:nvSpPr>
        <p:spPr>
          <a:xfrm>
            <a:off x="583387" y="5413248"/>
            <a:ext cx="11011204" cy="859536"/>
          </a:xfrm>
          <a:prstGeom prst="roundRect">
            <a:avLst>
              <a:gd name="adj" fmla="val 800"/>
            </a:avLst>
          </a:prstGeom>
          <a:solidFill>
            <a:srgbClr val="FFFFFF"/>
          </a:solidFill>
          <a:ln w="9525">
            <a:solidFill>
              <a:srgbClr val="E0DC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39419" y="5596128"/>
            <a:ext cx="3280257" cy="219456"/>
          </a:xfrm>
          <a:prstGeom prst="rect">
            <a:avLst/>
          </a:prstGeom>
          <a:noFill/>
        </p:spPr>
        <p:txBody>
          <a:bodyPr wrap="square" lIns="0" rIns="0" tIns="0" bIns="0" anchor="t">
            <a:spAutoFit/>
          </a:bodyPr>
          <a:lstStyle/>
          <a:p>
            <a:pPr algn="l"/>
            <a:r>
              <a:rPr sz="800" b="1" u="none" spc="140">
                <a:solidFill>
                  <a:srgbClr val="2C5142"/>
                </a:solidFill>
                <a:latin typeface="Segoe UI"/>
              </a:rPr>
              <a:t>LIVE APPLICATION</a:t>
            </a:r>
          </a:p>
        </p:txBody>
      </p:sp>
      <p:sp>
        <p:nvSpPr>
          <p:cNvPr id="20" name="TextBox 19"/>
          <p:cNvSpPr txBox="1"/>
          <p:nvPr/>
        </p:nvSpPr>
        <p:spPr>
          <a:xfrm>
            <a:off x="839419" y="5843016"/>
            <a:ext cx="3353409" cy="292608"/>
          </a:xfrm>
          <a:prstGeom prst="rect">
            <a:avLst/>
          </a:prstGeom>
          <a:noFill/>
        </p:spPr>
        <p:txBody>
          <a:bodyPr wrap="square" lIns="0" rIns="0" tIns="0" bIns="0" anchor="t">
            <a:spAutoFit/>
          </a:bodyPr>
          <a:lstStyle/>
          <a:p>
            <a:pPr algn="l"/>
            <a:r>
              <a:rPr sz="1050" b="1" u="none">
                <a:solidFill>
                  <a:srgbClr val="1C1A17"/>
                </a:solidFill>
                <a:latin typeface="Segoe UI"/>
                <a:hlinkClick r:id="rId3"/>
              </a:rPr>
              <a:t>quantum-pi-blush.vercel.app</a:t>
            </a:r>
          </a:p>
        </p:txBody>
      </p:sp>
      <p:sp>
        <p:nvSpPr>
          <p:cNvPr id="21" name="Rectangle 20"/>
          <p:cNvSpPr/>
          <p:nvPr/>
        </p:nvSpPr>
        <p:spPr>
          <a:xfrm>
            <a:off x="4211116" y="5596128"/>
            <a:ext cx="9144" cy="493776"/>
          </a:xfrm>
          <a:prstGeom prst="rect">
            <a:avLst/>
          </a:prstGeom>
          <a:solidFill>
            <a:srgbClr val="E0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339132" y="5596128"/>
            <a:ext cx="3280257" cy="219456"/>
          </a:xfrm>
          <a:prstGeom prst="rect">
            <a:avLst/>
          </a:prstGeom>
          <a:noFill/>
        </p:spPr>
        <p:txBody>
          <a:bodyPr wrap="square" lIns="0" rIns="0" tIns="0" bIns="0" anchor="t">
            <a:spAutoFit/>
          </a:bodyPr>
          <a:lstStyle/>
          <a:p>
            <a:pPr algn="l"/>
            <a:r>
              <a:rPr sz="800" b="1" u="none" spc="140">
                <a:solidFill>
                  <a:srgbClr val="2C5142"/>
                </a:solidFill>
                <a:latin typeface="Segoe UI"/>
              </a:rPr>
              <a:t>SOURCE CODE</a:t>
            </a:r>
          </a:p>
        </p:txBody>
      </p:sp>
      <p:sp>
        <p:nvSpPr>
          <p:cNvPr id="23" name="TextBox 22"/>
          <p:cNvSpPr txBox="1"/>
          <p:nvPr/>
        </p:nvSpPr>
        <p:spPr>
          <a:xfrm>
            <a:off x="4339132" y="5843016"/>
            <a:ext cx="3353409" cy="292608"/>
          </a:xfrm>
          <a:prstGeom prst="rect">
            <a:avLst/>
          </a:prstGeom>
          <a:noFill/>
        </p:spPr>
        <p:txBody>
          <a:bodyPr wrap="square" lIns="0" rIns="0" tIns="0" bIns="0" anchor="t">
            <a:spAutoFit/>
          </a:bodyPr>
          <a:lstStyle/>
          <a:p>
            <a:pPr algn="l"/>
            <a:r>
              <a:rPr sz="1050" b="1" u="none">
                <a:solidFill>
                  <a:srgbClr val="1C1A17"/>
                </a:solidFill>
                <a:latin typeface="Segoe UI"/>
                <a:hlinkClick r:id="rId4"/>
              </a:rPr>
              <a:t>github.com/ishyamprasath/quantum</a:t>
            </a:r>
          </a:p>
        </p:txBody>
      </p:sp>
      <p:sp>
        <p:nvSpPr>
          <p:cNvPr id="24" name="Rectangle 23"/>
          <p:cNvSpPr/>
          <p:nvPr/>
        </p:nvSpPr>
        <p:spPr>
          <a:xfrm>
            <a:off x="7710830" y="5596128"/>
            <a:ext cx="9144" cy="493776"/>
          </a:xfrm>
          <a:prstGeom prst="rect">
            <a:avLst/>
          </a:prstGeom>
          <a:solidFill>
            <a:srgbClr val="E0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838846" y="5596128"/>
            <a:ext cx="3280257" cy="219456"/>
          </a:xfrm>
          <a:prstGeom prst="rect">
            <a:avLst/>
          </a:prstGeom>
          <a:noFill/>
        </p:spPr>
        <p:txBody>
          <a:bodyPr wrap="square" lIns="0" rIns="0" tIns="0" bIns="0" anchor="t">
            <a:spAutoFit/>
          </a:bodyPr>
          <a:lstStyle/>
          <a:p>
            <a:pPr algn="l"/>
            <a:r>
              <a:rPr sz="800" b="1" u="none" spc="140">
                <a:solidFill>
                  <a:srgbClr val="2C5142"/>
                </a:solidFill>
                <a:latin typeface="Segoe UI"/>
              </a:rPr>
              <a:t>DEMO VIDEO</a:t>
            </a:r>
          </a:p>
        </p:txBody>
      </p:sp>
      <p:sp>
        <p:nvSpPr>
          <p:cNvPr id="26" name="TextBox 25"/>
          <p:cNvSpPr txBox="1"/>
          <p:nvPr/>
        </p:nvSpPr>
        <p:spPr>
          <a:xfrm>
            <a:off x="7838846" y="5843016"/>
            <a:ext cx="3353409" cy="292608"/>
          </a:xfrm>
          <a:prstGeom prst="rect">
            <a:avLst/>
          </a:prstGeom>
          <a:noFill/>
        </p:spPr>
        <p:txBody>
          <a:bodyPr wrap="square" lIns="0" rIns="0" tIns="0" bIns="0" anchor="t">
            <a:spAutoFit/>
          </a:bodyPr>
          <a:lstStyle/>
          <a:p>
            <a:pPr algn="l"/>
            <a:r>
              <a:rPr sz="900" b="1" u="none">
                <a:solidFill>
                  <a:srgbClr val="1C1A17"/>
                </a:solidFill>
                <a:latin typeface="Segoe UI"/>
                <a:hlinkClick r:id="rId5"/>
              </a:rPr>
              <a:t>drive.google.com/file/d/1wskAFJJ6Vx5H08E7pGRBakwX2vZdtDsc/view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3387" y="402336"/>
            <a:ext cx="9144000" cy="603504"/>
          </a:xfrm>
          <a:prstGeom prst="rect">
            <a:avLst/>
          </a:prstGeom>
          <a:noFill/>
        </p:spPr>
        <p:txBody>
          <a:bodyPr wrap="square" lIns="0" rIns="0" tIns="0" bIns="0" anchor="t">
            <a:spAutoFit/>
          </a:bodyPr>
          <a:lstStyle/>
          <a:p>
            <a:pPr algn="l"/>
            <a:r>
              <a:rPr sz="3100" b="0" u="none">
                <a:solidFill>
                  <a:srgbClr val="1C1A17"/>
                </a:solidFill>
                <a:latin typeface="Georgia"/>
              </a:rPr>
              <a:t>Problem Statement</a:t>
            </a:r>
          </a:p>
        </p:txBody>
      </p:sp>
      <p:sp>
        <p:nvSpPr>
          <p:cNvPr id="4" name="Rectangle 3"/>
          <p:cNvSpPr/>
          <p:nvPr/>
        </p:nvSpPr>
        <p:spPr>
          <a:xfrm>
            <a:off x="583387" y="1060704"/>
            <a:ext cx="960120" cy="25603"/>
          </a:xfrm>
          <a:prstGeom prst="rect">
            <a:avLst/>
          </a:prstGeom>
          <a:solidFill>
            <a:srgbClr val="2C5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83387" y="1207008"/>
            <a:ext cx="9692640" cy="310896"/>
          </a:xfrm>
          <a:prstGeom prst="rect">
            <a:avLst/>
          </a:prstGeom>
          <a:noFill/>
        </p:spPr>
        <p:txBody>
          <a:bodyPr wrap="square" lIns="0" rIns="0" tIns="0" bIns="0" anchor="t">
            <a:spAutoFit/>
          </a:bodyPr>
          <a:lstStyle/>
          <a:p>
            <a:pPr algn="l"/>
            <a:r>
              <a:rPr sz="1250" b="0" u="none">
                <a:solidFill>
                  <a:srgbClr val="4A4640"/>
                </a:solidFill>
                <a:latin typeface="Segoe UI"/>
              </a:rPr>
              <a:t>Why a ward grievance desk is slow, and where the complaints go missing.</a:t>
            </a:r>
          </a:p>
        </p:txBody>
      </p:sp>
      <p:sp>
        <p:nvSpPr>
          <p:cNvPr id="6" name="TextBox 5"/>
          <p:cNvSpPr txBox="1"/>
          <p:nvPr/>
        </p:nvSpPr>
        <p:spPr>
          <a:xfrm>
            <a:off x="9326880" y="457200"/>
            <a:ext cx="2286000" cy="310896"/>
          </a:xfrm>
          <a:prstGeom prst="rect">
            <a:avLst/>
          </a:prstGeom>
          <a:noFill/>
        </p:spPr>
        <p:txBody>
          <a:bodyPr wrap="square" lIns="0" rIns="0" tIns="0" bIns="0" anchor="t">
            <a:spAutoFit/>
          </a:bodyPr>
          <a:lstStyle/>
          <a:p>
            <a:pPr algn="r"/>
            <a:r>
              <a:rPr sz="1500" b="1" u="none">
                <a:solidFill>
                  <a:srgbClr val="1C1A17"/>
                </a:solidFill>
                <a:latin typeface="Georgia"/>
              </a:rPr>
              <a:t>ONDRU</a:t>
            </a:r>
          </a:p>
        </p:txBody>
      </p:sp>
      <p:sp>
        <p:nvSpPr>
          <p:cNvPr id="7" name="TextBox 6"/>
          <p:cNvSpPr txBox="1"/>
          <p:nvPr/>
        </p:nvSpPr>
        <p:spPr>
          <a:xfrm>
            <a:off x="9326880" y="749808"/>
            <a:ext cx="2286000" cy="237744"/>
          </a:xfrm>
          <a:prstGeom prst="rect">
            <a:avLst/>
          </a:prstGeom>
          <a:noFill/>
        </p:spPr>
        <p:txBody>
          <a:bodyPr wrap="square" lIns="0" rIns="0" tIns="0" bIns="0" anchor="t">
            <a:spAutoFit/>
          </a:bodyPr>
          <a:lstStyle/>
          <a:p>
            <a:pPr algn="r"/>
            <a:r>
              <a:rPr sz="900" b="0" u="none" spc="40">
                <a:solidFill>
                  <a:srgbClr val="8A8478"/>
                </a:solidFill>
                <a:latin typeface="Segoe UI"/>
              </a:rPr>
              <a:t>many voices, one issue</a:t>
            </a:r>
          </a:p>
        </p:txBody>
      </p:sp>
      <p:sp>
        <p:nvSpPr>
          <p:cNvPr id="8" name="Rounded Rectangle 7"/>
          <p:cNvSpPr/>
          <p:nvPr/>
        </p:nvSpPr>
        <p:spPr>
          <a:xfrm>
            <a:off x="583387" y="1956816"/>
            <a:ext cx="3556101" cy="3858768"/>
          </a:xfrm>
          <a:prstGeom prst="roundRect">
            <a:avLst>
              <a:gd name="adj" fmla="val 800"/>
            </a:avLst>
          </a:prstGeom>
          <a:solidFill>
            <a:srgbClr val="F4F1E9"/>
          </a:solidFill>
          <a:ln w="9525">
            <a:solidFill>
              <a:srgbClr val="E0DC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1767078" y="1837944"/>
            <a:ext cx="1188720" cy="237744"/>
          </a:xfrm>
          <a:prstGeom prst="rect">
            <a:avLst/>
          </a:prstGeom>
          <a:solidFill>
            <a:srgbClr val="EAEFEA"/>
          </a:solidFill>
          <a:ln w="7620">
            <a:solidFill>
              <a:srgbClr val="2C514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spc="120">
                <a:solidFill>
                  <a:srgbClr val="2C5142"/>
                </a:solidFill>
                <a:latin typeface="Segoe UI"/>
              </a:rPr>
              <a:t>THE COST</a:t>
            </a:r>
          </a:p>
        </p:txBody>
      </p:sp>
      <p:sp>
        <p:nvSpPr>
          <p:cNvPr id="10" name="TextBox 9"/>
          <p:cNvSpPr txBox="1"/>
          <p:nvPr/>
        </p:nvSpPr>
        <p:spPr>
          <a:xfrm>
            <a:off x="583387" y="2523744"/>
            <a:ext cx="3556101" cy="731520"/>
          </a:xfrm>
          <a:prstGeom prst="rect">
            <a:avLst/>
          </a:prstGeom>
          <a:noFill/>
        </p:spPr>
        <p:txBody>
          <a:bodyPr wrap="square" lIns="0" rIns="0" tIns="0" bIns="0" anchor="t">
            <a:spAutoFit/>
          </a:bodyPr>
          <a:lstStyle/>
          <a:p>
            <a:pPr algn="ctr"/>
            <a:r>
              <a:rPr sz="4400" b="1" u="none">
                <a:solidFill>
                  <a:srgbClr val="2C5142"/>
                </a:solidFill>
                <a:latin typeface="Georgia"/>
              </a:rPr>
              <a:t>49%</a:t>
            </a:r>
          </a:p>
        </p:txBody>
      </p:sp>
      <p:sp>
        <p:nvSpPr>
          <p:cNvPr id="11" name="TextBox 10"/>
          <p:cNvSpPr txBox="1"/>
          <p:nvPr/>
        </p:nvSpPr>
        <p:spPr>
          <a:xfrm>
            <a:off x="949147" y="3255264"/>
            <a:ext cx="2824581" cy="548640"/>
          </a:xfrm>
          <a:prstGeom prst="rect">
            <a:avLst/>
          </a:prstGeom>
          <a:noFill/>
        </p:spPr>
        <p:txBody>
          <a:bodyPr wrap="square" lIns="0" rIns="0" tIns="0" bIns="0" anchor="t">
            <a:spAutoFit/>
          </a:bodyPr>
          <a:lstStyle/>
          <a:p>
            <a:pPr algn="ctr">
              <a:lnSpc>
                <a:spcPct val="125000"/>
              </a:lnSpc>
            </a:pPr>
            <a:r>
              <a:rPr sz="1150" b="1" u="none">
                <a:solidFill>
                  <a:srgbClr val="1C1A17"/>
                </a:solidFill>
                <a:latin typeface="Segoe UI"/>
              </a:rPr>
              <a:t>of the sample queue were re-reports of an incident already open</a:t>
            </a:r>
          </a:p>
        </p:txBody>
      </p:sp>
      <p:sp>
        <p:nvSpPr>
          <p:cNvPr id="12" name="TextBox 11"/>
          <p:cNvSpPr txBox="1"/>
          <p:nvPr/>
        </p:nvSpPr>
        <p:spPr>
          <a:xfrm>
            <a:off x="583387" y="3858768"/>
            <a:ext cx="3556101" cy="274320"/>
          </a:xfrm>
          <a:prstGeom prst="rect">
            <a:avLst/>
          </a:prstGeom>
          <a:noFill/>
        </p:spPr>
        <p:txBody>
          <a:bodyPr wrap="square" lIns="0" rIns="0" tIns="0" bIns="0" anchor="t">
            <a:spAutoFit/>
          </a:bodyPr>
          <a:lstStyle/>
          <a:p>
            <a:pPr algn="ctr"/>
            <a:r>
              <a:rPr sz="950" b="0" u="none">
                <a:solidFill>
                  <a:srgbClr val="8A8478"/>
                </a:solidFill>
                <a:latin typeface="Segoe UI"/>
              </a:rPr>
              <a:t>measured on 100 labelled complaints</a:t>
            </a:r>
          </a:p>
        </p:txBody>
      </p:sp>
      <p:sp>
        <p:nvSpPr>
          <p:cNvPr id="13" name="Rectangle 12"/>
          <p:cNvSpPr/>
          <p:nvPr/>
        </p:nvSpPr>
        <p:spPr>
          <a:xfrm>
            <a:off x="1717243" y="4169664"/>
            <a:ext cx="1288389" cy="9144"/>
          </a:xfrm>
          <a:prstGeom prst="rect">
            <a:avLst/>
          </a:prstGeom>
          <a:solidFill>
            <a:srgbClr val="C9C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83387" y="4315968"/>
            <a:ext cx="3556101" cy="731520"/>
          </a:xfrm>
          <a:prstGeom prst="rect">
            <a:avLst/>
          </a:prstGeom>
          <a:noFill/>
        </p:spPr>
        <p:txBody>
          <a:bodyPr wrap="square" lIns="0" rIns="0" tIns="0" bIns="0" anchor="t">
            <a:spAutoFit/>
          </a:bodyPr>
          <a:lstStyle/>
          <a:p>
            <a:pPr algn="ctr"/>
            <a:r>
              <a:rPr sz="3800" b="1" u="none">
                <a:solidFill>
                  <a:srgbClr val="1C1A17"/>
                </a:solidFill>
                <a:latin typeface="Georgia"/>
              </a:rPr>
              <a:t>200+</a:t>
            </a:r>
          </a:p>
        </p:txBody>
      </p:sp>
      <p:sp>
        <p:nvSpPr>
          <p:cNvPr id="15" name="TextBox 14"/>
          <p:cNvSpPr txBox="1"/>
          <p:nvPr/>
        </p:nvSpPr>
        <p:spPr>
          <a:xfrm>
            <a:off x="949147" y="4937760"/>
            <a:ext cx="2824581" cy="548640"/>
          </a:xfrm>
          <a:prstGeom prst="rect">
            <a:avLst/>
          </a:prstGeom>
          <a:noFill/>
        </p:spPr>
        <p:txBody>
          <a:bodyPr wrap="square" lIns="0" rIns="0" tIns="0" bIns="0" anchor="t">
            <a:spAutoFit/>
          </a:bodyPr>
          <a:lstStyle/>
          <a:p>
            <a:pPr algn="ctr">
              <a:lnSpc>
                <a:spcPct val="125000"/>
              </a:lnSpc>
            </a:pPr>
            <a:r>
              <a:rPr sz="1150" b="1" u="none">
                <a:solidFill>
                  <a:srgbClr val="1C1A17"/>
                </a:solidFill>
                <a:latin typeface="Segoe UI"/>
              </a:rPr>
              <a:t>complaints a day into one shared ward inbox, sorted by hand</a:t>
            </a:r>
          </a:p>
        </p:txBody>
      </p:sp>
      <p:sp>
        <p:nvSpPr>
          <p:cNvPr id="16" name="TextBox 15"/>
          <p:cNvSpPr txBox="1"/>
          <p:nvPr/>
        </p:nvSpPr>
        <p:spPr>
          <a:xfrm>
            <a:off x="583387" y="5522976"/>
            <a:ext cx="3556101" cy="274320"/>
          </a:xfrm>
          <a:prstGeom prst="rect">
            <a:avLst/>
          </a:prstGeom>
          <a:noFill/>
        </p:spPr>
        <p:txBody>
          <a:bodyPr wrap="square" lIns="0" rIns="0" tIns="0" bIns="0" anchor="t">
            <a:spAutoFit/>
          </a:bodyPr>
          <a:lstStyle/>
          <a:p>
            <a:pPr algn="ctr"/>
            <a:r>
              <a:rPr sz="950" b="0" u="none">
                <a:solidFill>
                  <a:srgbClr val="8A8478"/>
                </a:solidFill>
                <a:latin typeface="Segoe UI"/>
              </a:rPr>
              <a:t>CODERA, team 295, Code for Communities</a:t>
            </a:r>
          </a:p>
        </p:txBody>
      </p:sp>
      <p:sp>
        <p:nvSpPr>
          <p:cNvPr id="17" name="Rounded Rectangle 16"/>
          <p:cNvSpPr/>
          <p:nvPr/>
        </p:nvSpPr>
        <p:spPr>
          <a:xfrm>
            <a:off x="4310938" y="1956816"/>
            <a:ext cx="3550386" cy="1883664"/>
          </a:xfrm>
          <a:prstGeom prst="roundRect">
            <a:avLst>
              <a:gd name="adj" fmla="val 800"/>
            </a:avLst>
          </a:prstGeom>
          <a:solidFill>
            <a:srgbClr val="FFFFFF"/>
          </a:solidFill>
          <a:ln w="9525">
            <a:solidFill>
              <a:srgbClr val="E0DC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5820956" y="1837944"/>
            <a:ext cx="530352" cy="237744"/>
          </a:xfrm>
          <a:prstGeom prst="rect">
            <a:avLst/>
          </a:prstGeom>
          <a:solidFill>
            <a:srgbClr val="EAEFEA"/>
          </a:solidFill>
          <a:ln w="7620">
            <a:solidFill>
              <a:srgbClr val="2C514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spc="120">
                <a:solidFill>
                  <a:srgbClr val="2C5142"/>
                </a:solidFill>
                <a:latin typeface="Segoe UI"/>
              </a:rPr>
              <a:t>01</a:t>
            </a:r>
          </a:p>
        </p:txBody>
      </p:sp>
      <p:sp>
        <p:nvSpPr>
          <p:cNvPr id="19" name="TextBox 18"/>
          <p:cNvSpPr txBox="1"/>
          <p:nvPr/>
        </p:nvSpPr>
        <p:spPr>
          <a:xfrm>
            <a:off x="4530394" y="2322576"/>
            <a:ext cx="3111474" cy="256032"/>
          </a:xfrm>
          <a:prstGeom prst="rect">
            <a:avLst/>
          </a:prstGeom>
          <a:noFill/>
        </p:spPr>
        <p:txBody>
          <a:bodyPr wrap="square" lIns="0" rIns="0" tIns="0" bIns="0" anchor="t">
            <a:spAutoFit/>
          </a:bodyPr>
          <a:lstStyle/>
          <a:p>
            <a:pPr algn="l"/>
            <a:r>
              <a:rPr sz="1150" b="1" u="none" spc="40">
                <a:solidFill>
                  <a:srgbClr val="2C5142"/>
                </a:solidFill>
                <a:latin typeface="Segoe UI"/>
              </a:rPr>
              <a:t>DUPLICATES ARE READ AS NEW WORK</a:t>
            </a:r>
          </a:p>
        </p:txBody>
      </p:sp>
      <p:sp>
        <p:nvSpPr>
          <p:cNvPr id="20" name="TextBox 19"/>
          <p:cNvSpPr txBox="1"/>
          <p:nvPr/>
        </p:nvSpPr>
        <p:spPr>
          <a:xfrm>
            <a:off x="4530394" y="2670048"/>
            <a:ext cx="3111474" cy="1060704"/>
          </a:xfrm>
          <a:prstGeom prst="rect">
            <a:avLst/>
          </a:prstGeom>
          <a:noFill/>
        </p:spPr>
        <p:txBody>
          <a:bodyPr wrap="square" lIns="0" rIns="0" tIns="0" bIns="0" anchor="t">
            <a:spAutoFit/>
          </a:bodyPr>
          <a:lstStyle/>
          <a:p>
            <a:pPr algn="l">
              <a:lnSpc>
                <a:spcPct val="132000"/>
              </a:lnSpc>
            </a:pPr>
            <a:r>
              <a:rPr sz="1100" b="0" u="none">
                <a:solidFill>
                  <a:srgbClr val="4A4640"/>
                </a:solidFill>
                <a:latin typeface="Segoe UI"/>
              </a:rPr>
              <a:t>Eleven reports of one pothole become eleven tickets. The crew goes once, one ticket closes, and ten stay open with nobody looking at them.</a:t>
            </a:r>
          </a:p>
        </p:txBody>
      </p:sp>
      <p:sp>
        <p:nvSpPr>
          <p:cNvPr id="21" name="Rounded Rectangle 20"/>
          <p:cNvSpPr/>
          <p:nvPr/>
        </p:nvSpPr>
        <p:spPr>
          <a:xfrm>
            <a:off x="8044205" y="1956816"/>
            <a:ext cx="3550386" cy="1883664"/>
          </a:xfrm>
          <a:prstGeom prst="roundRect">
            <a:avLst>
              <a:gd name="adj" fmla="val 800"/>
            </a:avLst>
          </a:prstGeom>
          <a:solidFill>
            <a:srgbClr val="FFFFFF"/>
          </a:solidFill>
          <a:ln w="9525">
            <a:solidFill>
              <a:srgbClr val="E0DC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9554222" y="1837944"/>
            <a:ext cx="530352" cy="237744"/>
          </a:xfrm>
          <a:prstGeom prst="rect">
            <a:avLst/>
          </a:prstGeom>
          <a:solidFill>
            <a:srgbClr val="EAEFEA"/>
          </a:solidFill>
          <a:ln w="7620">
            <a:solidFill>
              <a:srgbClr val="2C514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spc="120">
                <a:solidFill>
                  <a:srgbClr val="2C5142"/>
                </a:solidFill>
                <a:latin typeface="Segoe UI"/>
              </a:rPr>
              <a:t>02</a:t>
            </a:r>
          </a:p>
        </p:txBody>
      </p:sp>
      <p:sp>
        <p:nvSpPr>
          <p:cNvPr id="23" name="TextBox 22"/>
          <p:cNvSpPr txBox="1"/>
          <p:nvPr/>
        </p:nvSpPr>
        <p:spPr>
          <a:xfrm>
            <a:off x="8263661" y="2322576"/>
            <a:ext cx="3111474" cy="256032"/>
          </a:xfrm>
          <a:prstGeom prst="rect">
            <a:avLst/>
          </a:prstGeom>
          <a:noFill/>
        </p:spPr>
        <p:txBody>
          <a:bodyPr wrap="square" lIns="0" rIns="0" tIns="0" bIns="0" anchor="t">
            <a:spAutoFit/>
          </a:bodyPr>
          <a:lstStyle/>
          <a:p>
            <a:pPr algn="l"/>
            <a:r>
              <a:rPr sz="1150" b="1" u="none" spc="40">
                <a:solidFill>
                  <a:srgbClr val="2C5142"/>
                </a:solidFill>
                <a:latin typeface="Segoe UI"/>
              </a:rPr>
              <a:t>ROUTING IS MANUAL AND SLOW</a:t>
            </a:r>
          </a:p>
        </p:txBody>
      </p:sp>
      <p:sp>
        <p:nvSpPr>
          <p:cNvPr id="24" name="TextBox 23"/>
          <p:cNvSpPr txBox="1"/>
          <p:nvPr/>
        </p:nvSpPr>
        <p:spPr>
          <a:xfrm>
            <a:off x="8263661" y="2670048"/>
            <a:ext cx="3111474" cy="1060704"/>
          </a:xfrm>
          <a:prstGeom prst="rect">
            <a:avLst/>
          </a:prstGeom>
          <a:noFill/>
        </p:spPr>
        <p:txBody>
          <a:bodyPr wrap="square" lIns="0" rIns="0" tIns="0" bIns="0" anchor="t">
            <a:spAutoFit/>
          </a:bodyPr>
          <a:lstStyle/>
          <a:p>
            <a:pPr algn="l">
              <a:lnSpc>
                <a:spcPct val="132000"/>
              </a:lnSpc>
            </a:pPr>
            <a:r>
              <a:rPr sz="1100" b="0" u="none">
                <a:solidFill>
                  <a:srgbClr val="4A4640"/>
                </a:solidFill>
                <a:latin typeface="Segoe UI"/>
              </a:rPr>
              <a:t>A clerk reads each complaint to guess a department. A wrong desk does not bounce back. It sits in the wrong queue while the resident is told “under process”.</a:t>
            </a:r>
          </a:p>
        </p:txBody>
      </p:sp>
      <p:sp>
        <p:nvSpPr>
          <p:cNvPr id="25" name="Rounded Rectangle 24"/>
          <p:cNvSpPr/>
          <p:nvPr/>
        </p:nvSpPr>
        <p:spPr>
          <a:xfrm>
            <a:off x="4310938" y="3931920"/>
            <a:ext cx="3550386" cy="1883664"/>
          </a:xfrm>
          <a:prstGeom prst="roundRect">
            <a:avLst>
              <a:gd name="adj" fmla="val 800"/>
            </a:avLst>
          </a:prstGeom>
          <a:solidFill>
            <a:srgbClr val="FFFFFF"/>
          </a:solidFill>
          <a:ln w="9525">
            <a:solidFill>
              <a:srgbClr val="E0DC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5820956" y="3813048"/>
            <a:ext cx="530352" cy="237744"/>
          </a:xfrm>
          <a:prstGeom prst="rect">
            <a:avLst/>
          </a:prstGeom>
          <a:solidFill>
            <a:srgbClr val="EAEFEA"/>
          </a:solidFill>
          <a:ln w="7620">
            <a:solidFill>
              <a:srgbClr val="2C514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spc="120">
                <a:solidFill>
                  <a:srgbClr val="2C5142"/>
                </a:solidFill>
                <a:latin typeface="Segoe UI"/>
              </a:rPr>
              <a:t>03</a:t>
            </a:r>
          </a:p>
        </p:txBody>
      </p:sp>
      <p:sp>
        <p:nvSpPr>
          <p:cNvPr id="27" name="TextBox 26"/>
          <p:cNvSpPr txBox="1"/>
          <p:nvPr/>
        </p:nvSpPr>
        <p:spPr>
          <a:xfrm>
            <a:off x="4530394" y="4297680"/>
            <a:ext cx="3111474" cy="256032"/>
          </a:xfrm>
          <a:prstGeom prst="rect">
            <a:avLst/>
          </a:prstGeom>
          <a:noFill/>
        </p:spPr>
        <p:txBody>
          <a:bodyPr wrap="square" lIns="0" rIns="0" tIns="0" bIns="0" anchor="t">
            <a:spAutoFit/>
          </a:bodyPr>
          <a:lstStyle/>
          <a:p>
            <a:pPr algn="l"/>
            <a:r>
              <a:rPr sz="1150" b="1" u="none" spc="40">
                <a:solidFill>
                  <a:srgbClr val="2C5142"/>
                </a:solidFill>
                <a:latin typeface="Segoe UI"/>
              </a:rPr>
              <a:t>URGENCY IS FIRST COME, NOT SEVERITY</a:t>
            </a:r>
          </a:p>
        </p:txBody>
      </p:sp>
      <p:sp>
        <p:nvSpPr>
          <p:cNvPr id="28" name="TextBox 27"/>
          <p:cNvSpPr txBox="1"/>
          <p:nvPr/>
        </p:nvSpPr>
        <p:spPr>
          <a:xfrm>
            <a:off x="4530394" y="4645152"/>
            <a:ext cx="3111474" cy="1060704"/>
          </a:xfrm>
          <a:prstGeom prst="rect">
            <a:avLst/>
          </a:prstGeom>
          <a:noFill/>
        </p:spPr>
        <p:txBody>
          <a:bodyPr wrap="square" lIns="0" rIns="0" tIns="0" bIns="0" anchor="t">
            <a:spAutoFit/>
          </a:bodyPr>
          <a:lstStyle/>
          <a:p>
            <a:pPr algn="l">
              <a:lnSpc>
                <a:spcPct val="132000"/>
              </a:lnSpc>
            </a:pPr>
            <a:r>
              <a:rPr sz="1100" b="0" u="none">
                <a:solidFill>
                  <a:srgbClr val="4A4640"/>
                </a:solidFill>
                <a:latin typeface="Segoe UI"/>
              </a:rPr>
              <a:t>An open manhole waits behind a request to repaint a speed breaker, because the queue is ordered by arrival time and nothing else.</a:t>
            </a:r>
          </a:p>
        </p:txBody>
      </p:sp>
      <p:sp>
        <p:nvSpPr>
          <p:cNvPr id="29" name="Rounded Rectangle 28"/>
          <p:cNvSpPr/>
          <p:nvPr/>
        </p:nvSpPr>
        <p:spPr>
          <a:xfrm>
            <a:off x="8044205" y="3931920"/>
            <a:ext cx="3550386" cy="1883664"/>
          </a:xfrm>
          <a:prstGeom prst="roundRect">
            <a:avLst>
              <a:gd name="adj" fmla="val 800"/>
            </a:avLst>
          </a:prstGeom>
          <a:solidFill>
            <a:srgbClr val="FFFFFF"/>
          </a:solidFill>
          <a:ln w="9525">
            <a:solidFill>
              <a:srgbClr val="E0DC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9554222" y="3813048"/>
            <a:ext cx="530352" cy="237744"/>
          </a:xfrm>
          <a:prstGeom prst="rect">
            <a:avLst/>
          </a:prstGeom>
          <a:solidFill>
            <a:srgbClr val="EAEFEA"/>
          </a:solidFill>
          <a:ln w="7620">
            <a:solidFill>
              <a:srgbClr val="2C514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spc="120">
                <a:solidFill>
                  <a:srgbClr val="2C5142"/>
                </a:solidFill>
                <a:latin typeface="Segoe UI"/>
              </a:rPr>
              <a:t>04</a:t>
            </a:r>
          </a:p>
        </p:txBody>
      </p:sp>
      <p:sp>
        <p:nvSpPr>
          <p:cNvPr id="31" name="TextBox 30"/>
          <p:cNvSpPr txBox="1"/>
          <p:nvPr/>
        </p:nvSpPr>
        <p:spPr>
          <a:xfrm>
            <a:off x="8263661" y="4297680"/>
            <a:ext cx="3111474" cy="256032"/>
          </a:xfrm>
          <a:prstGeom prst="rect">
            <a:avLst/>
          </a:prstGeom>
          <a:noFill/>
        </p:spPr>
        <p:txBody>
          <a:bodyPr wrap="square" lIns="0" rIns="0" tIns="0" bIns="0" anchor="t">
            <a:spAutoFit/>
          </a:bodyPr>
          <a:lstStyle/>
          <a:p>
            <a:pPr algn="l"/>
            <a:r>
              <a:rPr sz="1150" b="1" u="none" spc="40">
                <a:solidFill>
                  <a:srgbClr val="2C5142"/>
                </a:solidFill>
                <a:latin typeface="Segoe UI"/>
              </a:rPr>
              <a:t>AI TRIAGE TOOLS GUESS WHEN UNSURE</a:t>
            </a:r>
          </a:p>
        </p:txBody>
      </p:sp>
      <p:sp>
        <p:nvSpPr>
          <p:cNvPr id="32" name="TextBox 31"/>
          <p:cNvSpPr txBox="1"/>
          <p:nvPr/>
        </p:nvSpPr>
        <p:spPr>
          <a:xfrm>
            <a:off x="8263661" y="4645152"/>
            <a:ext cx="3111474" cy="1060704"/>
          </a:xfrm>
          <a:prstGeom prst="rect">
            <a:avLst/>
          </a:prstGeom>
          <a:noFill/>
        </p:spPr>
        <p:txBody>
          <a:bodyPr wrap="square" lIns="0" rIns="0" tIns="0" bIns="0" anchor="t">
            <a:spAutoFit/>
          </a:bodyPr>
          <a:lstStyle/>
          <a:p>
            <a:pPr algn="l">
              <a:lnSpc>
                <a:spcPct val="132000"/>
              </a:lnSpc>
            </a:pPr>
            <a:r>
              <a:rPr sz="1100" b="0" u="none">
                <a:solidFill>
                  <a:srgbClr val="4A4640"/>
                </a:solidFill>
                <a:latin typeface="Segoe UI"/>
              </a:rPr>
              <a:t>A model that always answers will confidently file “please do the needful” to a desk. A confidently wrong label is worse than no label at all.</a:t>
            </a:r>
          </a:p>
        </p:txBody>
      </p:sp>
      <p:sp>
        <p:nvSpPr>
          <p:cNvPr id="33" name="Rounded Rectangle 32"/>
          <p:cNvSpPr/>
          <p:nvPr/>
        </p:nvSpPr>
        <p:spPr>
          <a:xfrm>
            <a:off x="583387" y="6053327"/>
            <a:ext cx="11011204" cy="731520"/>
          </a:xfrm>
          <a:prstGeom prst="roundRect">
            <a:avLst>
              <a:gd name="adj" fmla="val 800"/>
            </a:avLst>
          </a:prstGeom>
          <a:solidFill>
            <a:srgbClr val="EAEFEA"/>
          </a:solidFill>
          <a:ln w="9525">
            <a:solidFill>
              <a:srgbClr val="2C51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5037429" y="5934455"/>
            <a:ext cx="2103120" cy="237744"/>
          </a:xfrm>
          <a:prstGeom prst="rect">
            <a:avLst/>
          </a:prstGeom>
          <a:solidFill>
            <a:srgbClr val="2C5142"/>
          </a:solidFill>
          <a:ln w="762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spc="120">
                <a:solidFill>
                  <a:srgbClr val="FFFFFF"/>
                </a:solidFill>
                <a:latin typeface="Segoe UI"/>
              </a:rPr>
              <a:t>THE GAP ONDRU FILLS</a:t>
            </a:r>
          </a:p>
        </p:txBody>
      </p:sp>
      <p:sp>
        <p:nvSpPr>
          <p:cNvPr id="35" name="TextBox 34"/>
          <p:cNvSpPr txBox="1"/>
          <p:nvPr/>
        </p:nvSpPr>
        <p:spPr>
          <a:xfrm>
            <a:off x="949147" y="6309359"/>
            <a:ext cx="10279684" cy="457200"/>
          </a:xfrm>
          <a:prstGeom prst="rect">
            <a:avLst/>
          </a:prstGeom>
          <a:noFill/>
        </p:spPr>
        <p:txBody>
          <a:bodyPr wrap="square" lIns="0" rIns="0" tIns="0" bIns="0" anchor="t">
            <a:spAutoFit/>
          </a:bodyPr>
          <a:lstStyle/>
          <a:p>
            <a:pPr algn="ctr"/>
            <a:r>
              <a:rPr sz="1250" b="1" u="none">
                <a:solidFill>
                  <a:srgbClr val="2C5142"/>
                </a:solidFill>
                <a:latin typeface="Georgia"/>
              </a:rPr>
              <a:t>“Show me the incidents, not the messages, and tell me plainly when you do not know which desk it belongs to.”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3387" y="402336"/>
            <a:ext cx="9144000" cy="603504"/>
          </a:xfrm>
          <a:prstGeom prst="rect">
            <a:avLst/>
          </a:prstGeom>
          <a:noFill/>
        </p:spPr>
        <p:txBody>
          <a:bodyPr wrap="square" lIns="0" rIns="0" tIns="0" bIns="0" anchor="t">
            <a:spAutoFit/>
          </a:bodyPr>
          <a:lstStyle/>
          <a:p>
            <a:pPr algn="l"/>
            <a:r>
              <a:rPr sz="3100" b="0" u="none">
                <a:solidFill>
                  <a:srgbClr val="1C1A17"/>
                </a:solidFill>
                <a:latin typeface="Georgia"/>
              </a:rPr>
              <a:t>Proposed Solution</a:t>
            </a:r>
          </a:p>
        </p:txBody>
      </p:sp>
      <p:sp>
        <p:nvSpPr>
          <p:cNvPr id="4" name="Rectangle 3"/>
          <p:cNvSpPr/>
          <p:nvPr/>
        </p:nvSpPr>
        <p:spPr>
          <a:xfrm>
            <a:off x="583387" y="1060704"/>
            <a:ext cx="960120" cy="25603"/>
          </a:xfrm>
          <a:prstGeom prst="rect">
            <a:avLst/>
          </a:prstGeom>
          <a:solidFill>
            <a:srgbClr val="2C5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83387" y="1207008"/>
            <a:ext cx="9692640" cy="310896"/>
          </a:xfrm>
          <a:prstGeom prst="rect">
            <a:avLst/>
          </a:prstGeom>
          <a:noFill/>
        </p:spPr>
        <p:txBody>
          <a:bodyPr wrap="square" lIns="0" rIns="0" tIns="0" bIns="0" anchor="t">
            <a:spAutoFit/>
          </a:bodyPr>
          <a:lstStyle/>
          <a:p>
            <a:pPr algn="l"/>
            <a:r>
              <a:rPr sz="1250" b="0" u="none">
                <a:solidFill>
                  <a:srgbClr val="4A4640"/>
                </a:solidFill>
                <a:latin typeface="Segoe UI"/>
              </a:rPr>
              <a:t>One queue, done properly, rather than a dashboard of four half-features.</a:t>
            </a:r>
          </a:p>
        </p:txBody>
      </p:sp>
      <p:sp>
        <p:nvSpPr>
          <p:cNvPr id="6" name="TextBox 5"/>
          <p:cNvSpPr txBox="1"/>
          <p:nvPr/>
        </p:nvSpPr>
        <p:spPr>
          <a:xfrm>
            <a:off x="9326880" y="457200"/>
            <a:ext cx="2286000" cy="310896"/>
          </a:xfrm>
          <a:prstGeom prst="rect">
            <a:avLst/>
          </a:prstGeom>
          <a:noFill/>
        </p:spPr>
        <p:txBody>
          <a:bodyPr wrap="square" lIns="0" rIns="0" tIns="0" bIns="0" anchor="t">
            <a:spAutoFit/>
          </a:bodyPr>
          <a:lstStyle/>
          <a:p>
            <a:pPr algn="r"/>
            <a:r>
              <a:rPr sz="1500" b="1" u="none">
                <a:solidFill>
                  <a:srgbClr val="1C1A17"/>
                </a:solidFill>
                <a:latin typeface="Georgia"/>
              </a:rPr>
              <a:t>ONDRU</a:t>
            </a:r>
          </a:p>
        </p:txBody>
      </p:sp>
      <p:sp>
        <p:nvSpPr>
          <p:cNvPr id="7" name="TextBox 6"/>
          <p:cNvSpPr txBox="1"/>
          <p:nvPr/>
        </p:nvSpPr>
        <p:spPr>
          <a:xfrm>
            <a:off x="9326880" y="749808"/>
            <a:ext cx="2286000" cy="237744"/>
          </a:xfrm>
          <a:prstGeom prst="rect">
            <a:avLst/>
          </a:prstGeom>
          <a:noFill/>
        </p:spPr>
        <p:txBody>
          <a:bodyPr wrap="square" lIns="0" rIns="0" tIns="0" bIns="0" anchor="t">
            <a:spAutoFit/>
          </a:bodyPr>
          <a:lstStyle/>
          <a:p>
            <a:pPr algn="r"/>
            <a:r>
              <a:rPr sz="900" b="0" u="none" spc="40">
                <a:solidFill>
                  <a:srgbClr val="8A8478"/>
                </a:solidFill>
                <a:latin typeface="Segoe UI"/>
              </a:rPr>
              <a:t>many voices, one issue</a:t>
            </a:r>
          </a:p>
        </p:txBody>
      </p:sp>
      <p:sp>
        <p:nvSpPr>
          <p:cNvPr id="8" name="Rounded Rectangle 7"/>
          <p:cNvSpPr/>
          <p:nvPr/>
        </p:nvSpPr>
        <p:spPr>
          <a:xfrm>
            <a:off x="583387" y="1847088"/>
            <a:ext cx="1682800" cy="402336"/>
          </a:xfrm>
          <a:prstGeom prst="roundRect">
            <a:avLst>
              <a:gd name="adj" fmla="val 800"/>
            </a:avLst>
          </a:prstGeom>
          <a:solidFill>
            <a:srgbClr val="2C5142"/>
          </a:solidFill>
          <a:ln w="9525">
            <a:solidFill>
              <a:srgbClr val="2C514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50" b="1" spc="120">
                <a:solidFill>
                  <a:srgbClr val="FFFFFF"/>
                </a:solidFill>
                <a:latin typeface="Segoe UI"/>
              </a:rPr>
              <a:t>INGEST</a:t>
            </a:r>
          </a:p>
        </p:txBody>
      </p:sp>
      <p:sp>
        <p:nvSpPr>
          <p:cNvPr id="9" name="TextBox 8"/>
          <p:cNvSpPr txBox="1"/>
          <p:nvPr/>
        </p:nvSpPr>
        <p:spPr>
          <a:xfrm>
            <a:off x="2277160" y="1865376"/>
            <a:ext cx="164592" cy="402336"/>
          </a:xfrm>
          <a:prstGeom prst="rect">
            <a:avLst/>
          </a:prstGeom>
          <a:noFill/>
        </p:spPr>
        <p:txBody>
          <a:bodyPr wrap="square" lIns="0" rIns="0" tIns="0" bIns="0" anchor="ctr">
            <a:spAutoFit/>
          </a:bodyPr>
          <a:lstStyle/>
          <a:p>
            <a:pPr algn="ctr"/>
            <a:r>
              <a:rPr sz="1600" b="0" u="none">
                <a:solidFill>
                  <a:srgbClr val="C9C2B4"/>
                </a:solidFill>
                <a:latin typeface="Segoe UI"/>
              </a:rPr>
              <a:t>›</a:t>
            </a:r>
          </a:p>
        </p:txBody>
      </p:sp>
      <p:sp>
        <p:nvSpPr>
          <p:cNvPr id="10" name="Rounded Rectangle 9"/>
          <p:cNvSpPr/>
          <p:nvPr/>
        </p:nvSpPr>
        <p:spPr>
          <a:xfrm>
            <a:off x="2449068" y="1847088"/>
            <a:ext cx="1682800" cy="402336"/>
          </a:xfrm>
          <a:prstGeom prst="roundRect">
            <a:avLst>
              <a:gd name="adj" fmla="val 800"/>
            </a:avLst>
          </a:prstGeom>
          <a:solidFill>
            <a:srgbClr val="2C5142"/>
          </a:solidFill>
          <a:ln w="9525">
            <a:solidFill>
              <a:srgbClr val="2C514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50" b="1" spc="120">
                <a:solidFill>
                  <a:srgbClr val="FFFFFF"/>
                </a:solidFill>
                <a:latin typeface="Segoe UI"/>
              </a:rPr>
              <a:t>EMBED</a:t>
            </a:r>
          </a:p>
        </p:txBody>
      </p:sp>
      <p:sp>
        <p:nvSpPr>
          <p:cNvPr id="11" name="TextBox 10"/>
          <p:cNvSpPr txBox="1"/>
          <p:nvPr/>
        </p:nvSpPr>
        <p:spPr>
          <a:xfrm>
            <a:off x="4142841" y="1865376"/>
            <a:ext cx="164592" cy="402336"/>
          </a:xfrm>
          <a:prstGeom prst="rect">
            <a:avLst/>
          </a:prstGeom>
          <a:noFill/>
        </p:spPr>
        <p:txBody>
          <a:bodyPr wrap="square" lIns="0" rIns="0" tIns="0" bIns="0" anchor="ctr">
            <a:spAutoFit/>
          </a:bodyPr>
          <a:lstStyle/>
          <a:p>
            <a:pPr algn="ctr"/>
            <a:r>
              <a:rPr sz="1600" b="0" u="none">
                <a:solidFill>
                  <a:srgbClr val="C9C2B4"/>
                </a:solidFill>
                <a:latin typeface="Segoe UI"/>
              </a:rPr>
              <a:t>›</a:t>
            </a:r>
          </a:p>
        </p:txBody>
      </p:sp>
      <p:sp>
        <p:nvSpPr>
          <p:cNvPr id="12" name="Rounded Rectangle 11"/>
          <p:cNvSpPr/>
          <p:nvPr/>
        </p:nvSpPr>
        <p:spPr>
          <a:xfrm>
            <a:off x="4314748" y="1847088"/>
            <a:ext cx="1682800" cy="402336"/>
          </a:xfrm>
          <a:prstGeom prst="roundRect">
            <a:avLst>
              <a:gd name="adj" fmla="val 800"/>
            </a:avLst>
          </a:prstGeom>
          <a:solidFill>
            <a:srgbClr val="2C5142"/>
          </a:solidFill>
          <a:ln w="9525">
            <a:solidFill>
              <a:srgbClr val="2C514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50" b="1" spc="120">
                <a:solidFill>
                  <a:srgbClr val="FFFFFF"/>
                </a:solidFill>
                <a:latin typeface="Segoe UI"/>
              </a:rPr>
              <a:t>CLUSTER</a:t>
            </a:r>
          </a:p>
        </p:txBody>
      </p:sp>
      <p:sp>
        <p:nvSpPr>
          <p:cNvPr id="13" name="TextBox 12"/>
          <p:cNvSpPr txBox="1"/>
          <p:nvPr/>
        </p:nvSpPr>
        <p:spPr>
          <a:xfrm>
            <a:off x="6008522" y="1865376"/>
            <a:ext cx="164592" cy="402336"/>
          </a:xfrm>
          <a:prstGeom prst="rect">
            <a:avLst/>
          </a:prstGeom>
          <a:noFill/>
        </p:spPr>
        <p:txBody>
          <a:bodyPr wrap="square" lIns="0" rIns="0" tIns="0" bIns="0" anchor="ctr">
            <a:spAutoFit/>
          </a:bodyPr>
          <a:lstStyle/>
          <a:p>
            <a:pPr algn="ctr"/>
            <a:r>
              <a:rPr sz="1600" b="0" u="none">
                <a:solidFill>
                  <a:srgbClr val="C9C2B4"/>
                </a:solidFill>
                <a:latin typeface="Segoe UI"/>
              </a:rPr>
              <a:t>›</a:t>
            </a:r>
          </a:p>
        </p:txBody>
      </p:sp>
      <p:sp>
        <p:nvSpPr>
          <p:cNvPr id="14" name="Rounded Rectangle 13"/>
          <p:cNvSpPr/>
          <p:nvPr/>
        </p:nvSpPr>
        <p:spPr>
          <a:xfrm>
            <a:off x="6180429" y="1847088"/>
            <a:ext cx="1682800" cy="402336"/>
          </a:xfrm>
          <a:prstGeom prst="roundRect">
            <a:avLst>
              <a:gd name="adj" fmla="val 800"/>
            </a:avLst>
          </a:prstGeom>
          <a:solidFill>
            <a:srgbClr val="2C5142"/>
          </a:solidFill>
          <a:ln w="9525">
            <a:solidFill>
              <a:srgbClr val="2C514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50" b="1" spc="120">
                <a:solidFill>
                  <a:srgbClr val="FFFFFF"/>
                </a:solidFill>
                <a:latin typeface="Segoe UI"/>
              </a:rPr>
              <a:t>ROUTE</a:t>
            </a:r>
          </a:p>
        </p:txBody>
      </p:sp>
      <p:sp>
        <p:nvSpPr>
          <p:cNvPr id="15" name="TextBox 14"/>
          <p:cNvSpPr txBox="1"/>
          <p:nvPr/>
        </p:nvSpPr>
        <p:spPr>
          <a:xfrm>
            <a:off x="7874203" y="1865376"/>
            <a:ext cx="164592" cy="402336"/>
          </a:xfrm>
          <a:prstGeom prst="rect">
            <a:avLst/>
          </a:prstGeom>
          <a:noFill/>
        </p:spPr>
        <p:txBody>
          <a:bodyPr wrap="square" lIns="0" rIns="0" tIns="0" bIns="0" anchor="ctr">
            <a:spAutoFit/>
          </a:bodyPr>
          <a:lstStyle/>
          <a:p>
            <a:pPr algn="ctr"/>
            <a:r>
              <a:rPr sz="1600" b="0" u="none">
                <a:solidFill>
                  <a:srgbClr val="C9C2B4"/>
                </a:solidFill>
                <a:latin typeface="Segoe UI"/>
              </a:rPr>
              <a:t>›</a:t>
            </a:r>
          </a:p>
        </p:txBody>
      </p:sp>
      <p:sp>
        <p:nvSpPr>
          <p:cNvPr id="16" name="Rounded Rectangle 15"/>
          <p:cNvSpPr/>
          <p:nvPr/>
        </p:nvSpPr>
        <p:spPr>
          <a:xfrm>
            <a:off x="8046110" y="1847088"/>
            <a:ext cx="1682800" cy="402336"/>
          </a:xfrm>
          <a:prstGeom prst="roundRect">
            <a:avLst>
              <a:gd name="adj" fmla="val 800"/>
            </a:avLst>
          </a:prstGeom>
          <a:solidFill>
            <a:srgbClr val="2C5142"/>
          </a:solidFill>
          <a:ln w="9525">
            <a:solidFill>
              <a:srgbClr val="2C514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50" b="1" spc="120">
                <a:solidFill>
                  <a:srgbClr val="FFFFFF"/>
                </a:solidFill>
                <a:latin typeface="Segoe UI"/>
              </a:rPr>
              <a:t>RANK</a:t>
            </a:r>
          </a:p>
        </p:txBody>
      </p:sp>
      <p:sp>
        <p:nvSpPr>
          <p:cNvPr id="17" name="TextBox 16"/>
          <p:cNvSpPr txBox="1"/>
          <p:nvPr/>
        </p:nvSpPr>
        <p:spPr>
          <a:xfrm>
            <a:off x="9739884" y="1865376"/>
            <a:ext cx="164592" cy="402336"/>
          </a:xfrm>
          <a:prstGeom prst="rect">
            <a:avLst/>
          </a:prstGeom>
          <a:noFill/>
        </p:spPr>
        <p:txBody>
          <a:bodyPr wrap="square" lIns="0" rIns="0" tIns="0" bIns="0" anchor="ctr">
            <a:spAutoFit/>
          </a:bodyPr>
          <a:lstStyle/>
          <a:p>
            <a:pPr algn="ctr"/>
            <a:r>
              <a:rPr sz="1600" b="0" u="none">
                <a:solidFill>
                  <a:srgbClr val="C9C2B4"/>
                </a:solidFill>
                <a:latin typeface="Segoe UI"/>
              </a:rPr>
              <a:t>›</a:t>
            </a:r>
          </a:p>
        </p:txBody>
      </p:sp>
      <p:sp>
        <p:nvSpPr>
          <p:cNvPr id="18" name="Rounded Rectangle 17"/>
          <p:cNvSpPr/>
          <p:nvPr/>
        </p:nvSpPr>
        <p:spPr>
          <a:xfrm>
            <a:off x="9911791" y="1847088"/>
            <a:ext cx="1682800" cy="402336"/>
          </a:xfrm>
          <a:prstGeom prst="roundRect">
            <a:avLst>
              <a:gd name="adj" fmla="val 800"/>
            </a:avLst>
          </a:prstGeom>
          <a:solidFill>
            <a:srgbClr val="EAEFEA"/>
          </a:solidFill>
          <a:ln w="9525">
            <a:solidFill>
              <a:srgbClr val="2C514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50" b="1" spc="120">
                <a:solidFill>
                  <a:srgbClr val="2C5142"/>
                </a:solidFill>
                <a:latin typeface="Segoe UI"/>
              </a:rPr>
              <a:t>HAND BACK</a:t>
            </a:r>
          </a:p>
        </p:txBody>
      </p:sp>
      <p:sp>
        <p:nvSpPr>
          <p:cNvPr id="19" name="Rounded Rectangle 18"/>
          <p:cNvSpPr/>
          <p:nvPr/>
        </p:nvSpPr>
        <p:spPr>
          <a:xfrm>
            <a:off x="583387" y="2615184"/>
            <a:ext cx="3556101" cy="2340864"/>
          </a:xfrm>
          <a:prstGeom prst="roundRect">
            <a:avLst>
              <a:gd name="adj" fmla="val 800"/>
            </a:avLst>
          </a:prstGeom>
          <a:solidFill>
            <a:srgbClr val="FFFFFF"/>
          </a:solidFill>
          <a:ln w="9525">
            <a:solidFill>
              <a:srgbClr val="E0DC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858517" y="2496312"/>
            <a:ext cx="1005840" cy="237744"/>
          </a:xfrm>
          <a:prstGeom prst="rect">
            <a:avLst/>
          </a:prstGeom>
          <a:solidFill>
            <a:srgbClr val="EAEFEA"/>
          </a:solidFill>
          <a:ln w="7620">
            <a:solidFill>
              <a:srgbClr val="2C514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spc="120">
                <a:solidFill>
                  <a:srgbClr val="2C5142"/>
                </a:solidFill>
                <a:latin typeface="Segoe UI"/>
              </a:rPr>
              <a:t>MOAT 01</a:t>
            </a:r>
          </a:p>
        </p:txBody>
      </p:sp>
      <p:sp>
        <p:nvSpPr>
          <p:cNvPr id="21" name="TextBox 20"/>
          <p:cNvSpPr txBox="1"/>
          <p:nvPr/>
        </p:nvSpPr>
        <p:spPr>
          <a:xfrm>
            <a:off x="821131" y="3017520"/>
            <a:ext cx="3080613" cy="256032"/>
          </a:xfrm>
          <a:prstGeom prst="rect">
            <a:avLst/>
          </a:prstGeom>
          <a:noFill/>
        </p:spPr>
        <p:txBody>
          <a:bodyPr wrap="square" lIns="0" rIns="0" tIns="0" bIns="0" anchor="t">
            <a:spAutoFit/>
          </a:bodyPr>
          <a:lstStyle/>
          <a:p>
            <a:pPr algn="l"/>
            <a:r>
              <a:rPr sz="1200" b="1" u="none" spc="40">
                <a:solidFill>
                  <a:srgbClr val="2C5142"/>
                </a:solidFill>
                <a:latin typeface="Segoe UI"/>
              </a:rPr>
              <a:t>IT NEVER LEAVES THE TAB</a:t>
            </a:r>
          </a:p>
        </p:txBody>
      </p:sp>
      <p:sp>
        <p:nvSpPr>
          <p:cNvPr id="22" name="TextBox 21"/>
          <p:cNvSpPr txBox="1"/>
          <p:nvPr/>
        </p:nvSpPr>
        <p:spPr>
          <a:xfrm>
            <a:off x="821131" y="3383279"/>
            <a:ext cx="3080613" cy="822960"/>
          </a:xfrm>
          <a:prstGeom prst="rect">
            <a:avLst/>
          </a:prstGeom>
          <a:noFill/>
        </p:spPr>
        <p:txBody>
          <a:bodyPr wrap="square" lIns="0" rIns="0" tIns="0" bIns="0">
            <a:spAutoFit/>
          </a:bodyPr>
          <a:lstStyle/>
          <a:p>
            <a:pPr>
              <a:lnSpc>
                <a:spcPct val="124000"/>
              </a:lnSpc>
            </a:pPr>
            <a:r>
              <a:rPr sz="900" b="1">
                <a:solidFill>
                  <a:srgbClr val="2C5142"/>
                </a:solidFill>
                <a:latin typeface="Segoe UI"/>
              </a:rPr>
              <a:t>▪  </a:t>
            </a:r>
            <a:r>
              <a:rPr sz="1100">
                <a:solidFill>
                  <a:srgbClr val="4A4640"/>
                </a:solidFill>
                <a:latin typeface="Segoe UI"/>
              </a:rPr>
              <a:t>all-MiniLM-L6-v2 runs in the browser on ONNX Runtime Web. No API key, no server, no complaint text in transit.</a:t>
            </a:r>
          </a:p>
        </p:txBody>
      </p:sp>
      <p:sp>
        <p:nvSpPr>
          <p:cNvPr id="23" name="TextBox 22"/>
          <p:cNvSpPr txBox="1"/>
          <p:nvPr/>
        </p:nvSpPr>
        <p:spPr>
          <a:xfrm>
            <a:off x="821131" y="4025005"/>
            <a:ext cx="3080613" cy="822960"/>
          </a:xfrm>
          <a:prstGeom prst="rect">
            <a:avLst/>
          </a:prstGeom>
          <a:noFill/>
        </p:spPr>
        <p:txBody>
          <a:bodyPr wrap="square" lIns="0" rIns="0" tIns="0" bIns="0">
            <a:spAutoFit/>
          </a:bodyPr>
          <a:lstStyle/>
          <a:p>
            <a:pPr>
              <a:lnSpc>
                <a:spcPct val="124000"/>
              </a:lnSpc>
            </a:pPr>
            <a:r>
              <a:rPr sz="900" b="1">
                <a:solidFill>
                  <a:srgbClr val="2C5142"/>
                </a:solidFill>
                <a:latin typeface="Segoe UI"/>
              </a:rPr>
              <a:t>▪  </a:t>
            </a:r>
            <a:r>
              <a:rPr sz="1100">
                <a:solidFill>
                  <a:srgbClr val="4A4640"/>
                </a:solidFill>
                <a:latin typeface="Segoe UI"/>
              </a:rPr>
              <a:t>That is the only reason a ward office can point it at a live inbox without a data sharing note.</a:t>
            </a:r>
          </a:p>
        </p:txBody>
      </p:sp>
      <p:sp>
        <p:nvSpPr>
          <p:cNvPr id="24" name="Rounded Rectangle 23"/>
          <p:cNvSpPr/>
          <p:nvPr/>
        </p:nvSpPr>
        <p:spPr>
          <a:xfrm>
            <a:off x="4310938" y="2615184"/>
            <a:ext cx="3556101" cy="2340864"/>
          </a:xfrm>
          <a:prstGeom prst="roundRect">
            <a:avLst>
              <a:gd name="adj" fmla="val 800"/>
            </a:avLst>
          </a:prstGeom>
          <a:solidFill>
            <a:srgbClr val="FFFFFF"/>
          </a:solidFill>
          <a:ln w="9525">
            <a:solidFill>
              <a:srgbClr val="E0DC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5586069" y="2496312"/>
            <a:ext cx="1005840" cy="237744"/>
          </a:xfrm>
          <a:prstGeom prst="rect">
            <a:avLst/>
          </a:prstGeom>
          <a:solidFill>
            <a:srgbClr val="EAEFEA"/>
          </a:solidFill>
          <a:ln w="7620">
            <a:solidFill>
              <a:srgbClr val="2C514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spc="120">
                <a:solidFill>
                  <a:srgbClr val="2C5142"/>
                </a:solidFill>
                <a:latin typeface="Segoe UI"/>
              </a:rPr>
              <a:t>MOAT 02</a:t>
            </a:r>
          </a:p>
        </p:txBody>
      </p:sp>
      <p:sp>
        <p:nvSpPr>
          <p:cNvPr id="26" name="TextBox 25"/>
          <p:cNvSpPr txBox="1"/>
          <p:nvPr/>
        </p:nvSpPr>
        <p:spPr>
          <a:xfrm>
            <a:off x="4548682" y="3017520"/>
            <a:ext cx="3080613" cy="256032"/>
          </a:xfrm>
          <a:prstGeom prst="rect">
            <a:avLst/>
          </a:prstGeom>
          <a:noFill/>
        </p:spPr>
        <p:txBody>
          <a:bodyPr wrap="square" lIns="0" rIns="0" tIns="0" bIns="0" anchor="t">
            <a:spAutoFit/>
          </a:bodyPr>
          <a:lstStyle/>
          <a:p>
            <a:pPr algn="l"/>
            <a:r>
              <a:rPr sz="1200" b="1" u="none" spc="40">
                <a:solidFill>
                  <a:srgbClr val="2C5142"/>
                </a:solidFill>
                <a:latin typeface="Segoe UI"/>
              </a:rPr>
              <a:t>IT IS ALLOWED TO SAY NO</a:t>
            </a:r>
          </a:p>
        </p:txBody>
      </p:sp>
      <p:sp>
        <p:nvSpPr>
          <p:cNvPr id="27" name="TextBox 26"/>
          <p:cNvSpPr txBox="1"/>
          <p:nvPr/>
        </p:nvSpPr>
        <p:spPr>
          <a:xfrm>
            <a:off x="4548682" y="3383279"/>
            <a:ext cx="3080613" cy="822960"/>
          </a:xfrm>
          <a:prstGeom prst="rect">
            <a:avLst/>
          </a:prstGeom>
          <a:noFill/>
        </p:spPr>
        <p:txBody>
          <a:bodyPr wrap="square" lIns="0" rIns="0" tIns="0" bIns="0">
            <a:spAutoFit/>
          </a:bodyPr>
          <a:lstStyle/>
          <a:p>
            <a:pPr>
              <a:lnSpc>
                <a:spcPct val="124000"/>
              </a:lnSpc>
            </a:pPr>
            <a:r>
              <a:rPr sz="900" b="1">
                <a:solidFill>
                  <a:srgbClr val="2C5142"/>
                </a:solidFill>
                <a:latin typeface="Segoe UI"/>
              </a:rPr>
              <a:t>▪  </a:t>
            </a:r>
            <a:r>
              <a:rPr sz="1100">
                <a:solidFill>
                  <a:srgbClr val="4A4640"/>
                </a:solidFill>
                <a:latin typeface="Segoe UI"/>
              </a:rPr>
              <a:t>Routing needs a score floor AND a margin over second place. Fail either and nothing is assigned.</a:t>
            </a:r>
          </a:p>
        </p:txBody>
      </p:sp>
      <p:sp>
        <p:nvSpPr>
          <p:cNvPr id="28" name="TextBox 27"/>
          <p:cNvSpPr txBox="1"/>
          <p:nvPr/>
        </p:nvSpPr>
        <p:spPr>
          <a:xfrm>
            <a:off x="4548682" y="4025005"/>
            <a:ext cx="3080613" cy="822960"/>
          </a:xfrm>
          <a:prstGeom prst="rect">
            <a:avLst/>
          </a:prstGeom>
          <a:noFill/>
        </p:spPr>
        <p:txBody>
          <a:bodyPr wrap="square" lIns="0" rIns="0" tIns="0" bIns="0">
            <a:spAutoFit/>
          </a:bodyPr>
          <a:lstStyle/>
          <a:p>
            <a:pPr>
              <a:lnSpc>
                <a:spcPct val="124000"/>
              </a:lnSpc>
            </a:pPr>
            <a:r>
              <a:rPr sz="900" b="1">
                <a:solidFill>
                  <a:srgbClr val="2C5142"/>
                </a:solidFill>
                <a:latin typeface="Segoe UI"/>
              </a:rPr>
              <a:t>▪  </a:t>
            </a:r>
            <a:r>
              <a:rPr sz="1100">
                <a:solidFill>
                  <a:srgbClr val="4A4640"/>
                </a:solidFill>
                <a:latin typeface="Segoe UI"/>
              </a:rPr>
              <a:t>The complaint lands in a visible review lane with the numeric reason. Never dropped, never auto filed.</a:t>
            </a:r>
          </a:p>
        </p:txBody>
      </p:sp>
      <p:sp>
        <p:nvSpPr>
          <p:cNvPr id="29" name="Rounded Rectangle 28"/>
          <p:cNvSpPr/>
          <p:nvPr/>
        </p:nvSpPr>
        <p:spPr>
          <a:xfrm>
            <a:off x="8038490" y="2615184"/>
            <a:ext cx="3556101" cy="2340864"/>
          </a:xfrm>
          <a:prstGeom prst="roundRect">
            <a:avLst>
              <a:gd name="adj" fmla="val 800"/>
            </a:avLst>
          </a:prstGeom>
          <a:solidFill>
            <a:srgbClr val="FFFFFF"/>
          </a:solidFill>
          <a:ln w="9525">
            <a:solidFill>
              <a:srgbClr val="E0DC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9313621" y="2496312"/>
            <a:ext cx="1005840" cy="237744"/>
          </a:xfrm>
          <a:prstGeom prst="rect">
            <a:avLst/>
          </a:prstGeom>
          <a:solidFill>
            <a:srgbClr val="EAEFEA"/>
          </a:solidFill>
          <a:ln w="7620">
            <a:solidFill>
              <a:srgbClr val="2C514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spc="120">
                <a:solidFill>
                  <a:srgbClr val="2C5142"/>
                </a:solidFill>
                <a:latin typeface="Segoe UI"/>
              </a:rPr>
              <a:t>MOAT 03</a:t>
            </a:r>
          </a:p>
        </p:txBody>
      </p:sp>
      <p:sp>
        <p:nvSpPr>
          <p:cNvPr id="31" name="TextBox 30"/>
          <p:cNvSpPr txBox="1"/>
          <p:nvPr/>
        </p:nvSpPr>
        <p:spPr>
          <a:xfrm>
            <a:off x="8276234" y="3017520"/>
            <a:ext cx="3080613" cy="256032"/>
          </a:xfrm>
          <a:prstGeom prst="rect">
            <a:avLst/>
          </a:prstGeom>
          <a:noFill/>
        </p:spPr>
        <p:txBody>
          <a:bodyPr wrap="square" lIns="0" rIns="0" tIns="0" bIns="0" anchor="t">
            <a:spAutoFit/>
          </a:bodyPr>
          <a:lstStyle/>
          <a:p>
            <a:pPr algn="l"/>
            <a:r>
              <a:rPr sz="1200" b="1" u="none" spc="40">
                <a:solidFill>
                  <a:srgbClr val="2C5142"/>
                </a:solidFill>
                <a:latin typeface="Segoe UI"/>
              </a:rPr>
              <a:t>EVERY NUMBER IS RECOMPUTED LIVE</a:t>
            </a:r>
          </a:p>
        </p:txBody>
      </p:sp>
      <p:sp>
        <p:nvSpPr>
          <p:cNvPr id="32" name="TextBox 31"/>
          <p:cNvSpPr txBox="1"/>
          <p:nvPr/>
        </p:nvSpPr>
        <p:spPr>
          <a:xfrm>
            <a:off x="8276234" y="3383279"/>
            <a:ext cx="3080613" cy="822960"/>
          </a:xfrm>
          <a:prstGeom prst="rect">
            <a:avLst/>
          </a:prstGeom>
          <a:noFill/>
        </p:spPr>
        <p:txBody>
          <a:bodyPr wrap="square" lIns="0" rIns="0" tIns="0" bIns="0">
            <a:spAutoFit/>
          </a:bodyPr>
          <a:lstStyle/>
          <a:p>
            <a:pPr>
              <a:lnSpc>
                <a:spcPct val="124000"/>
              </a:lnSpc>
            </a:pPr>
            <a:r>
              <a:rPr sz="900" b="1">
                <a:solidFill>
                  <a:srgbClr val="2C5142"/>
                </a:solidFill>
                <a:latin typeface="Segoe UI"/>
              </a:rPr>
              <a:t>▪  </a:t>
            </a:r>
            <a:r>
              <a:rPr sz="1100">
                <a:solidFill>
                  <a:srgbClr val="4A4640"/>
                </a:solidFill>
                <a:latin typeface="Segoe UI"/>
              </a:rPr>
              <a:t>The evaluation page scores 100 hand-labelled complaints in your browser when you press the button.</a:t>
            </a:r>
          </a:p>
        </p:txBody>
      </p:sp>
      <p:sp>
        <p:nvSpPr>
          <p:cNvPr id="33" name="TextBox 32"/>
          <p:cNvSpPr txBox="1"/>
          <p:nvPr/>
        </p:nvSpPr>
        <p:spPr>
          <a:xfrm>
            <a:off x="8276234" y="4025005"/>
            <a:ext cx="3080613" cy="822960"/>
          </a:xfrm>
          <a:prstGeom prst="rect">
            <a:avLst/>
          </a:prstGeom>
          <a:noFill/>
        </p:spPr>
        <p:txBody>
          <a:bodyPr wrap="square" lIns="0" rIns="0" tIns="0" bIns="0">
            <a:spAutoFit/>
          </a:bodyPr>
          <a:lstStyle/>
          <a:p>
            <a:pPr>
              <a:lnSpc>
                <a:spcPct val="124000"/>
              </a:lnSpc>
            </a:pPr>
            <a:r>
              <a:rPr sz="900" b="1">
                <a:solidFill>
                  <a:srgbClr val="2C5142"/>
                </a:solidFill>
                <a:latin typeface="Segoe UI"/>
              </a:rPr>
              <a:t>▪  </a:t>
            </a:r>
            <a:r>
              <a:rPr sz="1100">
                <a:solidFill>
                  <a:srgbClr val="4A4640"/>
                </a:solidFill>
                <a:latin typeface="Segoe UI"/>
              </a:rPr>
              <a:t>Nothing is hard-coded. If the model gets worse, the page gets worse.</a:t>
            </a:r>
          </a:p>
        </p:txBody>
      </p:sp>
      <p:sp>
        <p:nvSpPr>
          <p:cNvPr id="34" name="Rounded Rectangle 33"/>
          <p:cNvSpPr/>
          <p:nvPr/>
        </p:nvSpPr>
        <p:spPr>
          <a:xfrm>
            <a:off x="583387" y="5266944"/>
            <a:ext cx="11011204" cy="1024128"/>
          </a:xfrm>
          <a:prstGeom prst="roundRect">
            <a:avLst>
              <a:gd name="adj" fmla="val 800"/>
            </a:avLst>
          </a:prstGeom>
          <a:solidFill>
            <a:srgbClr val="F4F1E9"/>
          </a:solidFill>
          <a:ln w="9525">
            <a:solidFill>
              <a:srgbClr val="E0DC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5106009" y="5148072"/>
            <a:ext cx="1965960" cy="237744"/>
          </a:xfrm>
          <a:prstGeom prst="rect">
            <a:avLst/>
          </a:prstGeom>
          <a:solidFill>
            <a:srgbClr val="EAEFEA"/>
          </a:solidFill>
          <a:ln w="7620">
            <a:solidFill>
              <a:srgbClr val="2C514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spc="120">
                <a:solidFill>
                  <a:srgbClr val="2C5142"/>
                </a:solidFill>
                <a:latin typeface="Segoe UI"/>
              </a:rPr>
              <a:t>WHAT THE DESK GETS</a:t>
            </a:r>
          </a:p>
        </p:txBody>
      </p:sp>
      <p:sp>
        <p:nvSpPr>
          <p:cNvPr id="36" name="TextBox 35"/>
          <p:cNvSpPr txBox="1"/>
          <p:nvPr/>
        </p:nvSpPr>
        <p:spPr>
          <a:xfrm>
            <a:off x="912571" y="5559552"/>
            <a:ext cx="5048402" cy="822960"/>
          </a:xfrm>
          <a:prstGeom prst="rect">
            <a:avLst/>
          </a:prstGeom>
          <a:noFill/>
        </p:spPr>
        <p:txBody>
          <a:bodyPr wrap="square" lIns="0" rIns="0" tIns="0" bIns="0">
            <a:spAutoFit/>
          </a:bodyPr>
          <a:lstStyle/>
          <a:p>
            <a:pPr>
              <a:lnSpc>
                <a:spcPct val="124000"/>
              </a:lnSpc>
            </a:pPr>
            <a:r>
              <a:rPr sz="900" b="1">
                <a:solidFill>
                  <a:srgbClr val="2C5142"/>
                </a:solidFill>
                <a:latin typeface="Segoe UI"/>
              </a:rPr>
              <a:t>▪  </a:t>
            </a:r>
            <a:r>
              <a:rPr sz="1100">
                <a:solidFill>
                  <a:srgbClr val="4A4640"/>
                </a:solidFill>
                <a:latin typeface="Segoe UI"/>
              </a:rPr>
              <a:t>100 complaints collapse to 68 incident cards, P1 first.</a:t>
            </a:r>
          </a:p>
        </p:txBody>
      </p:sp>
      <p:sp>
        <p:nvSpPr>
          <p:cNvPr id="37" name="TextBox 36"/>
          <p:cNvSpPr txBox="1"/>
          <p:nvPr/>
        </p:nvSpPr>
        <p:spPr>
          <a:xfrm>
            <a:off x="912571" y="5806988"/>
            <a:ext cx="5048402" cy="822960"/>
          </a:xfrm>
          <a:prstGeom prst="rect">
            <a:avLst/>
          </a:prstGeom>
          <a:noFill/>
        </p:spPr>
        <p:txBody>
          <a:bodyPr wrap="square" lIns="0" rIns="0" tIns="0" bIns="0">
            <a:spAutoFit/>
          </a:bodyPr>
          <a:lstStyle/>
          <a:p>
            <a:pPr>
              <a:lnSpc>
                <a:spcPct val="124000"/>
              </a:lnSpc>
            </a:pPr>
            <a:r>
              <a:rPr sz="900" b="1">
                <a:solidFill>
                  <a:srgbClr val="2C5142"/>
                </a:solidFill>
                <a:latin typeface="Segoe UI"/>
              </a:rPr>
              <a:t>▪  </a:t>
            </a:r>
            <a:r>
              <a:rPr sz="1100">
                <a:solidFill>
                  <a:srgbClr val="4A4640"/>
                </a:solidFill>
                <a:latin typeface="Segoe UI"/>
              </a:rPr>
              <a:t>Every original report stays attached to its card.</a:t>
            </a:r>
          </a:p>
        </p:txBody>
      </p:sp>
      <p:sp>
        <p:nvSpPr>
          <p:cNvPr id="38" name="TextBox 37"/>
          <p:cNvSpPr txBox="1"/>
          <p:nvPr/>
        </p:nvSpPr>
        <p:spPr>
          <a:xfrm>
            <a:off x="6235293" y="5559552"/>
            <a:ext cx="5048402" cy="822960"/>
          </a:xfrm>
          <a:prstGeom prst="rect">
            <a:avLst/>
          </a:prstGeom>
          <a:noFill/>
        </p:spPr>
        <p:txBody>
          <a:bodyPr wrap="square" lIns="0" rIns="0" tIns="0" bIns="0">
            <a:spAutoFit/>
          </a:bodyPr>
          <a:lstStyle/>
          <a:p>
            <a:pPr>
              <a:lnSpc>
                <a:spcPct val="124000"/>
              </a:lnSpc>
            </a:pPr>
            <a:r>
              <a:rPr sz="900" b="1">
                <a:solidFill>
                  <a:srgbClr val="2C5142"/>
                </a:solidFill>
                <a:latin typeface="Segoe UI"/>
              </a:rPr>
              <a:t>▪  </a:t>
            </a:r>
            <a:r>
              <a:rPr sz="1100">
                <a:solidFill>
                  <a:srgbClr val="4A4640"/>
                </a:solidFill>
                <a:latin typeface="Segoe UI"/>
              </a:rPr>
              <a:t>22 items handed back with the reason they failed the gate.</a:t>
            </a:r>
          </a:p>
        </p:txBody>
      </p:sp>
      <p:sp>
        <p:nvSpPr>
          <p:cNvPr id="39" name="TextBox 38"/>
          <p:cNvSpPr txBox="1"/>
          <p:nvPr/>
        </p:nvSpPr>
        <p:spPr>
          <a:xfrm>
            <a:off x="6235293" y="5806988"/>
            <a:ext cx="5048402" cy="822960"/>
          </a:xfrm>
          <a:prstGeom prst="rect">
            <a:avLst/>
          </a:prstGeom>
          <a:noFill/>
        </p:spPr>
        <p:txBody>
          <a:bodyPr wrap="square" lIns="0" rIns="0" tIns="0" bIns="0">
            <a:spAutoFit/>
          </a:bodyPr>
          <a:lstStyle/>
          <a:p>
            <a:pPr>
              <a:lnSpc>
                <a:spcPct val="124000"/>
              </a:lnSpc>
            </a:pPr>
            <a:r>
              <a:rPr sz="900" b="1">
                <a:solidFill>
                  <a:srgbClr val="2C5142"/>
                </a:solidFill>
                <a:latin typeface="Segoe UI"/>
              </a:rPr>
              <a:t>▪  </a:t>
            </a:r>
            <a:r>
              <a:rPr sz="1100">
                <a:solidFill>
                  <a:srgbClr val="4A4640"/>
                </a:solidFill>
                <a:latin typeface="Segoe UI"/>
              </a:rPr>
              <a:t>A live metrics page the officer can audit, plus CSV upload for their own inbox.</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3387" y="402336"/>
            <a:ext cx="9144000" cy="603504"/>
          </a:xfrm>
          <a:prstGeom prst="rect">
            <a:avLst/>
          </a:prstGeom>
          <a:noFill/>
        </p:spPr>
        <p:txBody>
          <a:bodyPr wrap="square" lIns="0" rIns="0" tIns="0" bIns="0" anchor="t">
            <a:spAutoFit/>
          </a:bodyPr>
          <a:lstStyle/>
          <a:p>
            <a:pPr algn="l"/>
            <a:r>
              <a:rPr sz="3100" b="0" u="none">
                <a:solidFill>
                  <a:srgbClr val="1C1A17"/>
                </a:solidFill>
                <a:latin typeface="Georgia"/>
              </a:rPr>
              <a:t>Features</a:t>
            </a:r>
          </a:p>
        </p:txBody>
      </p:sp>
      <p:sp>
        <p:nvSpPr>
          <p:cNvPr id="4" name="Rectangle 3"/>
          <p:cNvSpPr/>
          <p:nvPr/>
        </p:nvSpPr>
        <p:spPr>
          <a:xfrm>
            <a:off x="583387" y="1060704"/>
            <a:ext cx="960120" cy="25603"/>
          </a:xfrm>
          <a:prstGeom prst="rect">
            <a:avLst/>
          </a:prstGeom>
          <a:solidFill>
            <a:srgbClr val="2C5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83387" y="1207008"/>
            <a:ext cx="9692640" cy="310896"/>
          </a:xfrm>
          <a:prstGeom prst="rect">
            <a:avLst/>
          </a:prstGeom>
          <a:noFill/>
        </p:spPr>
        <p:txBody>
          <a:bodyPr wrap="square" lIns="0" rIns="0" tIns="0" bIns="0" anchor="t">
            <a:spAutoFit/>
          </a:bodyPr>
          <a:lstStyle/>
          <a:p>
            <a:pPr algn="l"/>
            <a:r>
              <a:rPr sz="1250" b="0" u="none">
                <a:solidFill>
                  <a:srgbClr val="4A4640"/>
                </a:solidFill>
                <a:latin typeface="Segoe UI"/>
              </a:rPr>
              <a:t>Six capabilities. The fourth is the one most triage demos skip.</a:t>
            </a:r>
          </a:p>
        </p:txBody>
      </p:sp>
      <p:sp>
        <p:nvSpPr>
          <p:cNvPr id="6" name="TextBox 5"/>
          <p:cNvSpPr txBox="1"/>
          <p:nvPr/>
        </p:nvSpPr>
        <p:spPr>
          <a:xfrm>
            <a:off x="9326880" y="457200"/>
            <a:ext cx="2286000" cy="310896"/>
          </a:xfrm>
          <a:prstGeom prst="rect">
            <a:avLst/>
          </a:prstGeom>
          <a:noFill/>
        </p:spPr>
        <p:txBody>
          <a:bodyPr wrap="square" lIns="0" rIns="0" tIns="0" bIns="0" anchor="t">
            <a:spAutoFit/>
          </a:bodyPr>
          <a:lstStyle/>
          <a:p>
            <a:pPr algn="r"/>
            <a:r>
              <a:rPr sz="1500" b="1" u="none">
                <a:solidFill>
                  <a:srgbClr val="1C1A17"/>
                </a:solidFill>
                <a:latin typeface="Georgia"/>
              </a:rPr>
              <a:t>ONDRU</a:t>
            </a:r>
          </a:p>
        </p:txBody>
      </p:sp>
      <p:sp>
        <p:nvSpPr>
          <p:cNvPr id="7" name="TextBox 6"/>
          <p:cNvSpPr txBox="1"/>
          <p:nvPr/>
        </p:nvSpPr>
        <p:spPr>
          <a:xfrm>
            <a:off x="9326880" y="749808"/>
            <a:ext cx="2286000" cy="237744"/>
          </a:xfrm>
          <a:prstGeom prst="rect">
            <a:avLst/>
          </a:prstGeom>
          <a:noFill/>
        </p:spPr>
        <p:txBody>
          <a:bodyPr wrap="square" lIns="0" rIns="0" tIns="0" bIns="0" anchor="t">
            <a:spAutoFit/>
          </a:bodyPr>
          <a:lstStyle/>
          <a:p>
            <a:pPr algn="r"/>
            <a:r>
              <a:rPr sz="900" b="0" u="none" spc="40">
                <a:solidFill>
                  <a:srgbClr val="8A8478"/>
                </a:solidFill>
                <a:latin typeface="Segoe UI"/>
              </a:rPr>
              <a:t>many voices, one issue</a:t>
            </a:r>
          </a:p>
        </p:txBody>
      </p:sp>
      <p:sp>
        <p:nvSpPr>
          <p:cNvPr id="8" name="Rounded Rectangle 7"/>
          <p:cNvSpPr/>
          <p:nvPr/>
        </p:nvSpPr>
        <p:spPr>
          <a:xfrm>
            <a:off x="583387" y="1810512"/>
            <a:ext cx="3556101" cy="2066543"/>
          </a:xfrm>
          <a:prstGeom prst="roundRect">
            <a:avLst>
              <a:gd name="adj" fmla="val 800"/>
            </a:avLst>
          </a:prstGeom>
          <a:solidFill>
            <a:srgbClr val="FFFFFF"/>
          </a:solidFill>
          <a:ln w="9525">
            <a:solidFill>
              <a:srgbClr val="E0DC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1730502" y="1691640"/>
            <a:ext cx="1261872" cy="237744"/>
          </a:xfrm>
          <a:prstGeom prst="rect">
            <a:avLst/>
          </a:prstGeom>
          <a:solidFill>
            <a:srgbClr val="EAEFEA"/>
          </a:solidFill>
          <a:ln w="7620">
            <a:solidFill>
              <a:srgbClr val="2C514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spc="120">
                <a:solidFill>
                  <a:srgbClr val="2C5142"/>
                </a:solidFill>
                <a:latin typeface="Segoe UI"/>
              </a:rPr>
              <a:t>FEATURE 01</a:t>
            </a:r>
          </a:p>
        </p:txBody>
      </p:sp>
      <p:sp>
        <p:nvSpPr>
          <p:cNvPr id="10" name="TextBox 9"/>
          <p:cNvSpPr txBox="1"/>
          <p:nvPr/>
        </p:nvSpPr>
        <p:spPr>
          <a:xfrm>
            <a:off x="821131" y="2194560"/>
            <a:ext cx="3080613" cy="256032"/>
          </a:xfrm>
          <a:prstGeom prst="rect">
            <a:avLst/>
          </a:prstGeom>
          <a:noFill/>
        </p:spPr>
        <p:txBody>
          <a:bodyPr wrap="square" lIns="0" rIns="0" tIns="0" bIns="0" anchor="t">
            <a:spAutoFit/>
          </a:bodyPr>
          <a:lstStyle/>
          <a:p>
            <a:pPr algn="l"/>
            <a:r>
              <a:rPr sz="1200" b="1" u="none" spc="40">
                <a:solidFill>
                  <a:srgbClr val="2C5142"/>
                </a:solidFill>
                <a:latin typeface="Segoe UI"/>
              </a:rPr>
              <a:t>INCIDENT GROUPING</a:t>
            </a:r>
          </a:p>
        </p:txBody>
      </p:sp>
      <p:sp>
        <p:nvSpPr>
          <p:cNvPr id="11" name="TextBox 10"/>
          <p:cNvSpPr txBox="1"/>
          <p:nvPr/>
        </p:nvSpPr>
        <p:spPr>
          <a:xfrm>
            <a:off x="821131" y="2542032"/>
            <a:ext cx="3080613" cy="822960"/>
          </a:xfrm>
          <a:prstGeom prst="rect">
            <a:avLst/>
          </a:prstGeom>
          <a:noFill/>
        </p:spPr>
        <p:txBody>
          <a:bodyPr wrap="square" lIns="0" rIns="0" tIns="0" bIns="0">
            <a:spAutoFit/>
          </a:bodyPr>
          <a:lstStyle/>
          <a:p>
            <a:pPr>
              <a:lnSpc>
                <a:spcPct val="124000"/>
              </a:lnSpc>
            </a:pPr>
            <a:r>
              <a:rPr sz="850" b="1">
                <a:solidFill>
                  <a:srgbClr val="2C5142"/>
                </a:solidFill>
                <a:latin typeface="Segoe UI"/>
              </a:rPr>
              <a:t>▪  </a:t>
            </a:r>
            <a:r>
              <a:rPr sz="1050">
                <a:solidFill>
                  <a:srgbClr val="4A4640"/>
                </a:solidFill>
                <a:latin typeface="Segoe UI"/>
              </a:rPr>
              <a:t>Complete-linkage clustering on cosine similarity, not single-linkage.</a:t>
            </a:r>
          </a:p>
        </p:txBody>
      </p:sp>
      <p:sp>
        <p:nvSpPr>
          <p:cNvPr id="12" name="TextBox 11"/>
          <p:cNvSpPr txBox="1"/>
          <p:nvPr/>
        </p:nvSpPr>
        <p:spPr>
          <a:xfrm>
            <a:off x="821131" y="2986613"/>
            <a:ext cx="3080613" cy="822960"/>
          </a:xfrm>
          <a:prstGeom prst="rect">
            <a:avLst/>
          </a:prstGeom>
          <a:noFill/>
        </p:spPr>
        <p:txBody>
          <a:bodyPr wrap="square" lIns="0" rIns="0" tIns="0" bIns="0">
            <a:spAutoFit/>
          </a:bodyPr>
          <a:lstStyle/>
          <a:p>
            <a:pPr>
              <a:lnSpc>
                <a:spcPct val="124000"/>
              </a:lnSpc>
            </a:pPr>
            <a:r>
              <a:rPr sz="850" b="1">
                <a:solidFill>
                  <a:srgbClr val="2C5142"/>
                </a:solidFill>
                <a:latin typeface="Segoe UI"/>
              </a:rPr>
              <a:t>▪  </a:t>
            </a:r>
            <a:r>
              <a:rPr sz="1050">
                <a:solidFill>
                  <a:srgbClr val="4A4640"/>
                </a:solidFill>
                <a:latin typeface="Segoe UI"/>
              </a:rPr>
              <a:t>A report joins an incident only if it clears the threshold against every member, so unrelated complaints are never chained together and closed as one.</a:t>
            </a:r>
          </a:p>
        </p:txBody>
      </p:sp>
      <p:sp>
        <p:nvSpPr>
          <p:cNvPr id="13" name="Rounded Rectangle 12"/>
          <p:cNvSpPr/>
          <p:nvPr/>
        </p:nvSpPr>
        <p:spPr>
          <a:xfrm>
            <a:off x="4310938" y="1810512"/>
            <a:ext cx="3556101" cy="2066543"/>
          </a:xfrm>
          <a:prstGeom prst="roundRect">
            <a:avLst>
              <a:gd name="adj" fmla="val 800"/>
            </a:avLst>
          </a:prstGeom>
          <a:solidFill>
            <a:srgbClr val="FFFFFF"/>
          </a:solidFill>
          <a:ln w="9525">
            <a:solidFill>
              <a:srgbClr val="E0DC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458053" y="1691640"/>
            <a:ext cx="1261872" cy="237744"/>
          </a:xfrm>
          <a:prstGeom prst="rect">
            <a:avLst/>
          </a:prstGeom>
          <a:solidFill>
            <a:srgbClr val="EAEFEA"/>
          </a:solidFill>
          <a:ln w="7620">
            <a:solidFill>
              <a:srgbClr val="2C514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spc="120">
                <a:solidFill>
                  <a:srgbClr val="2C5142"/>
                </a:solidFill>
                <a:latin typeface="Segoe UI"/>
              </a:rPr>
              <a:t>FEATURE 02</a:t>
            </a:r>
          </a:p>
        </p:txBody>
      </p:sp>
      <p:sp>
        <p:nvSpPr>
          <p:cNvPr id="15" name="TextBox 14"/>
          <p:cNvSpPr txBox="1"/>
          <p:nvPr/>
        </p:nvSpPr>
        <p:spPr>
          <a:xfrm>
            <a:off x="4548682" y="2194560"/>
            <a:ext cx="3080613" cy="256032"/>
          </a:xfrm>
          <a:prstGeom prst="rect">
            <a:avLst/>
          </a:prstGeom>
          <a:noFill/>
        </p:spPr>
        <p:txBody>
          <a:bodyPr wrap="square" lIns="0" rIns="0" tIns="0" bIns="0" anchor="t">
            <a:spAutoFit/>
          </a:bodyPr>
          <a:lstStyle/>
          <a:p>
            <a:pPr algn="l"/>
            <a:r>
              <a:rPr sz="1200" b="1" u="none" spc="40">
                <a:solidFill>
                  <a:srgbClr val="2C5142"/>
                </a:solidFill>
                <a:latin typeface="Segoe UI"/>
              </a:rPr>
              <a:t>DESK ROUTING</a:t>
            </a:r>
          </a:p>
        </p:txBody>
      </p:sp>
      <p:sp>
        <p:nvSpPr>
          <p:cNvPr id="16" name="TextBox 15"/>
          <p:cNvSpPr txBox="1"/>
          <p:nvPr/>
        </p:nvSpPr>
        <p:spPr>
          <a:xfrm>
            <a:off x="4548682" y="2542032"/>
            <a:ext cx="3080613" cy="822960"/>
          </a:xfrm>
          <a:prstGeom prst="rect">
            <a:avLst/>
          </a:prstGeom>
          <a:noFill/>
        </p:spPr>
        <p:txBody>
          <a:bodyPr wrap="square" lIns="0" rIns="0" tIns="0" bIns="0">
            <a:spAutoFit/>
          </a:bodyPr>
          <a:lstStyle/>
          <a:p>
            <a:pPr>
              <a:lnSpc>
                <a:spcPct val="124000"/>
              </a:lnSpc>
            </a:pPr>
            <a:r>
              <a:rPr sz="850" b="1">
                <a:solidFill>
                  <a:srgbClr val="2C5142"/>
                </a:solidFill>
                <a:latin typeface="Segoe UI"/>
              </a:rPr>
              <a:t>▪  </a:t>
            </a:r>
            <a:r>
              <a:rPr sz="1050">
                <a:solidFill>
                  <a:srgbClr val="4A4640"/>
                </a:solidFill>
                <a:latin typeface="Segoe UI"/>
              </a:rPr>
              <a:t>Eight prototype vectors, one per municipal desk, built from the phrasing residents actually use.</a:t>
            </a:r>
          </a:p>
        </p:txBody>
      </p:sp>
      <p:sp>
        <p:nvSpPr>
          <p:cNvPr id="17" name="TextBox 16"/>
          <p:cNvSpPr txBox="1"/>
          <p:nvPr/>
        </p:nvSpPr>
        <p:spPr>
          <a:xfrm>
            <a:off x="4548682" y="3183757"/>
            <a:ext cx="3080613" cy="822960"/>
          </a:xfrm>
          <a:prstGeom prst="rect">
            <a:avLst/>
          </a:prstGeom>
          <a:noFill/>
        </p:spPr>
        <p:txBody>
          <a:bodyPr wrap="square" lIns="0" rIns="0" tIns="0" bIns="0">
            <a:spAutoFit/>
          </a:bodyPr>
          <a:lstStyle/>
          <a:p>
            <a:pPr>
              <a:lnSpc>
                <a:spcPct val="124000"/>
              </a:lnSpc>
            </a:pPr>
            <a:r>
              <a:rPr sz="850" b="1">
                <a:solidFill>
                  <a:srgbClr val="2C5142"/>
                </a:solidFill>
                <a:latin typeface="Segoe UI"/>
              </a:rPr>
              <a:t>▪  </a:t>
            </a:r>
            <a:r>
              <a:rPr sz="1050">
                <a:solidFill>
                  <a:srgbClr val="4A4640"/>
                </a:solidFill>
                <a:latin typeface="Segoe UI"/>
              </a:rPr>
              <a:t>96.2% accurate on what it answered, across the labelled set.</a:t>
            </a:r>
          </a:p>
        </p:txBody>
      </p:sp>
      <p:sp>
        <p:nvSpPr>
          <p:cNvPr id="18" name="Rounded Rectangle 17"/>
          <p:cNvSpPr/>
          <p:nvPr/>
        </p:nvSpPr>
        <p:spPr>
          <a:xfrm>
            <a:off x="8038490" y="1810512"/>
            <a:ext cx="3556101" cy="2066543"/>
          </a:xfrm>
          <a:prstGeom prst="roundRect">
            <a:avLst>
              <a:gd name="adj" fmla="val 800"/>
            </a:avLst>
          </a:prstGeom>
          <a:solidFill>
            <a:srgbClr val="FFFFFF"/>
          </a:solidFill>
          <a:ln w="9525">
            <a:solidFill>
              <a:srgbClr val="E0DC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185605" y="1691640"/>
            <a:ext cx="1261872" cy="237744"/>
          </a:xfrm>
          <a:prstGeom prst="rect">
            <a:avLst/>
          </a:prstGeom>
          <a:solidFill>
            <a:srgbClr val="EAEFEA"/>
          </a:solidFill>
          <a:ln w="7620">
            <a:solidFill>
              <a:srgbClr val="2C514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spc="120">
                <a:solidFill>
                  <a:srgbClr val="2C5142"/>
                </a:solidFill>
                <a:latin typeface="Segoe UI"/>
              </a:rPr>
              <a:t>FEATURE 03</a:t>
            </a:r>
          </a:p>
        </p:txBody>
      </p:sp>
      <p:sp>
        <p:nvSpPr>
          <p:cNvPr id="20" name="TextBox 19"/>
          <p:cNvSpPr txBox="1"/>
          <p:nvPr/>
        </p:nvSpPr>
        <p:spPr>
          <a:xfrm>
            <a:off x="8276234" y="2194560"/>
            <a:ext cx="3080613" cy="256032"/>
          </a:xfrm>
          <a:prstGeom prst="rect">
            <a:avLst/>
          </a:prstGeom>
          <a:noFill/>
        </p:spPr>
        <p:txBody>
          <a:bodyPr wrap="square" lIns="0" rIns="0" tIns="0" bIns="0" anchor="t">
            <a:spAutoFit/>
          </a:bodyPr>
          <a:lstStyle/>
          <a:p>
            <a:pPr algn="l"/>
            <a:r>
              <a:rPr sz="1200" b="1" u="none" spc="40">
                <a:solidFill>
                  <a:srgbClr val="2C5142"/>
                </a:solidFill>
                <a:latin typeface="Segoe UI"/>
              </a:rPr>
              <a:t>SEVERITY RANKING</a:t>
            </a:r>
          </a:p>
        </p:txBody>
      </p:sp>
      <p:sp>
        <p:nvSpPr>
          <p:cNvPr id="21" name="TextBox 20"/>
          <p:cNvSpPr txBox="1"/>
          <p:nvPr/>
        </p:nvSpPr>
        <p:spPr>
          <a:xfrm>
            <a:off x="8276234" y="2542032"/>
            <a:ext cx="3080613" cy="822960"/>
          </a:xfrm>
          <a:prstGeom prst="rect">
            <a:avLst/>
          </a:prstGeom>
          <a:noFill/>
        </p:spPr>
        <p:txBody>
          <a:bodyPr wrap="square" lIns="0" rIns="0" tIns="0" bIns="0">
            <a:spAutoFit/>
          </a:bodyPr>
          <a:lstStyle/>
          <a:p>
            <a:pPr>
              <a:lnSpc>
                <a:spcPct val="124000"/>
              </a:lnSpc>
            </a:pPr>
            <a:r>
              <a:rPr sz="850" b="1">
                <a:solidFill>
                  <a:srgbClr val="2C5142"/>
                </a:solidFill>
                <a:latin typeface="Segoe UI"/>
              </a:rPr>
              <a:t>▪  </a:t>
            </a:r>
            <a:r>
              <a:rPr sz="1050">
                <a:solidFill>
                  <a:srgbClr val="4A4640"/>
                </a:solidFill>
                <a:latin typeface="Segoe UI"/>
              </a:rPr>
              <a:t>Similarity to three severity prototypes plus a nine-rule hazard lexicon that is printed in full.</a:t>
            </a:r>
          </a:p>
        </p:txBody>
      </p:sp>
      <p:sp>
        <p:nvSpPr>
          <p:cNvPr id="22" name="TextBox 21"/>
          <p:cNvSpPr txBox="1"/>
          <p:nvPr/>
        </p:nvSpPr>
        <p:spPr>
          <a:xfrm>
            <a:off x="8276234" y="3183757"/>
            <a:ext cx="3080613" cy="822960"/>
          </a:xfrm>
          <a:prstGeom prst="rect">
            <a:avLst/>
          </a:prstGeom>
          <a:noFill/>
        </p:spPr>
        <p:txBody>
          <a:bodyPr wrap="square" lIns="0" rIns="0" tIns="0" bIns="0">
            <a:spAutoFit/>
          </a:bodyPr>
          <a:lstStyle/>
          <a:p>
            <a:pPr>
              <a:lnSpc>
                <a:spcPct val="124000"/>
              </a:lnSpc>
            </a:pPr>
            <a:r>
              <a:rPr sz="850" b="1">
                <a:solidFill>
                  <a:srgbClr val="2C5142"/>
                </a:solidFill>
                <a:latin typeface="Segoe UI"/>
              </a:rPr>
              <a:t>▪  </a:t>
            </a:r>
            <a:r>
              <a:rPr sz="1050">
                <a:solidFill>
                  <a:srgbClr val="4A4640"/>
                </a:solidFill>
                <a:latin typeface="Segoe UI"/>
              </a:rPr>
              <a:t>No language model writes the priority, so a supervisor can point at the rule that fired.</a:t>
            </a:r>
          </a:p>
        </p:txBody>
      </p:sp>
      <p:sp>
        <p:nvSpPr>
          <p:cNvPr id="23" name="Rounded Rectangle 22"/>
          <p:cNvSpPr/>
          <p:nvPr/>
        </p:nvSpPr>
        <p:spPr>
          <a:xfrm>
            <a:off x="583387" y="4279392"/>
            <a:ext cx="3556101" cy="2066543"/>
          </a:xfrm>
          <a:prstGeom prst="roundRect">
            <a:avLst>
              <a:gd name="adj" fmla="val 800"/>
            </a:avLst>
          </a:prstGeom>
          <a:solidFill>
            <a:srgbClr val="EAEFEA"/>
          </a:solidFill>
          <a:ln w="9525">
            <a:solidFill>
              <a:srgbClr val="2C51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730502" y="4160520"/>
            <a:ext cx="1261872" cy="237744"/>
          </a:xfrm>
          <a:prstGeom prst="rect">
            <a:avLst/>
          </a:prstGeom>
          <a:solidFill>
            <a:srgbClr val="EAEFEA"/>
          </a:solidFill>
          <a:ln w="7620">
            <a:solidFill>
              <a:srgbClr val="2C514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spc="120">
                <a:solidFill>
                  <a:srgbClr val="2C5142"/>
                </a:solidFill>
                <a:latin typeface="Segoe UI"/>
              </a:rPr>
              <a:t>FEATURE 04</a:t>
            </a:r>
          </a:p>
        </p:txBody>
      </p:sp>
      <p:sp>
        <p:nvSpPr>
          <p:cNvPr id="25" name="TextBox 24"/>
          <p:cNvSpPr txBox="1"/>
          <p:nvPr/>
        </p:nvSpPr>
        <p:spPr>
          <a:xfrm>
            <a:off x="821131" y="4663440"/>
            <a:ext cx="3080613" cy="256032"/>
          </a:xfrm>
          <a:prstGeom prst="rect">
            <a:avLst/>
          </a:prstGeom>
          <a:noFill/>
        </p:spPr>
        <p:txBody>
          <a:bodyPr wrap="square" lIns="0" rIns="0" tIns="0" bIns="0" anchor="t">
            <a:spAutoFit/>
          </a:bodyPr>
          <a:lstStyle/>
          <a:p>
            <a:pPr algn="l"/>
            <a:r>
              <a:rPr sz="1200" b="1" u="none" spc="40">
                <a:solidFill>
                  <a:srgbClr val="2C5142"/>
                </a:solidFill>
                <a:latin typeface="Segoe UI"/>
              </a:rPr>
              <a:t>THE REFUSAL LANE</a:t>
            </a:r>
          </a:p>
        </p:txBody>
      </p:sp>
      <p:sp>
        <p:nvSpPr>
          <p:cNvPr id="26" name="TextBox 25"/>
          <p:cNvSpPr txBox="1"/>
          <p:nvPr/>
        </p:nvSpPr>
        <p:spPr>
          <a:xfrm>
            <a:off x="821131" y="5010912"/>
            <a:ext cx="3080613" cy="822960"/>
          </a:xfrm>
          <a:prstGeom prst="rect">
            <a:avLst/>
          </a:prstGeom>
          <a:noFill/>
        </p:spPr>
        <p:txBody>
          <a:bodyPr wrap="square" lIns="0" rIns="0" tIns="0" bIns="0">
            <a:spAutoFit/>
          </a:bodyPr>
          <a:lstStyle/>
          <a:p>
            <a:pPr>
              <a:lnSpc>
                <a:spcPct val="124000"/>
              </a:lnSpc>
            </a:pPr>
            <a:r>
              <a:rPr sz="850" b="1">
                <a:solidFill>
                  <a:srgbClr val="2C5142"/>
                </a:solidFill>
                <a:latin typeface="Segoe UI"/>
              </a:rPr>
              <a:t>▪  </a:t>
            </a:r>
            <a:r>
              <a:rPr sz="1050">
                <a:solidFill>
                  <a:srgbClr val="4A4640"/>
                </a:solidFill>
                <a:latin typeface="Segoe UI"/>
              </a:rPr>
              <a:t>Below the floor or inside the margin, nothing is assigned.</a:t>
            </a:r>
          </a:p>
        </p:txBody>
      </p:sp>
      <p:sp>
        <p:nvSpPr>
          <p:cNvPr id="27" name="TextBox 26"/>
          <p:cNvSpPr txBox="1"/>
          <p:nvPr/>
        </p:nvSpPr>
        <p:spPr>
          <a:xfrm>
            <a:off x="821131" y="5455493"/>
            <a:ext cx="3080613" cy="822960"/>
          </a:xfrm>
          <a:prstGeom prst="rect">
            <a:avLst/>
          </a:prstGeom>
          <a:noFill/>
        </p:spPr>
        <p:txBody>
          <a:bodyPr wrap="square" lIns="0" rIns="0" tIns="0" bIns="0">
            <a:spAutoFit/>
          </a:bodyPr>
          <a:lstStyle/>
          <a:p>
            <a:pPr>
              <a:lnSpc>
                <a:spcPct val="124000"/>
              </a:lnSpc>
            </a:pPr>
            <a:r>
              <a:rPr sz="850" b="1">
                <a:solidFill>
                  <a:srgbClr val="2C5142"/>
                </a:solidFill>
                <a:latin typeface="Segoe UI"/>
              </a:rPr>
              <a:t>▪  </a:t>
            </a:r>
            <a:r>
              <a:rPr sz="1050">
                <a:solidFill>
                  <a:srgbClr val="4A4640"/>
                </a:solidFill>
                <a:latin typeface="Segoe UI"/>
              </a:rPr>
              <a:t>It abstained on 7 of the 7 complaints a human reader could not route either.</a:t>
            </a:r>
          </a:p>
        </p:txBody>
      </p:sp>
      <p:sp>
        <p:nvSpPr>
          <p:cNvPr id="28" name="Rounded Rectangle 27"/>
          <p:cNvSpPr/>
          <p:nvPr/>
        </p:nvSpPr>
        <p:spPr>
          <a:xfrm>
            <a:off x="4310938" y="4279392"/>
            <a:ext cx="3556101" cy="2066543"/>
          </a:xfrm>
          <a:prstGeom prst="roundRect">
            <a:avLst>
              <a:gd name="adj" fmla="val 800"/>
            </a:avLst>
          </a:prstGeom>
          <a:solidFill>
            <a:srgbClr val="FFFFFF"/>
          </a:solidFill>
          <a:ln w="9525">
            <a:solidFill>
              <a:srgbClr val="E0DC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5458053" y="4160520"/>
            <a:ext cx="1261872" cy="237744"/>
          </a:xfrm>
          <a:prstGeom prst="rect">
            <a:avLst/>
          </a:prstGeom>
          <a:solidFill>
            <a:srgbClr val="EAEFEA"/>
          </a:solidFill>
          <a:ln w="7620">
            <a:solidFill>
              <a:srgbClr val="2C514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spc="120">
                <a:solidFill>
                  <a:srgbClr val="2C5142"/>
                </a:solidFill>
                <a:latin typeface="Segoe UI"/>
              </a:rPr>
              <a:t>FEATURE 05</a:t>
            </a:r>
          </a:p>
        </p:txBody>
      </p:sp>
      <p:sp>
        <p:nvSpPr>
          <p:cNvPr id="30" name="TextBox 29"/>
          <p:cNvSpPr txBox="1"/>
          <p:nvPr/>
        </p:nvSpPr>
        <p:spPr>
          <a:xfrm>
            <a:off x="4548682" y="4663440"/>
            <a:ext cx="3080613" cy="256032"/>
          </a:xfrm>
          <a:prstGeom prst="rect">
            <a:avLst/>
          </a:prstGeom>
          <a:noFill/>
        </p:spPr>
        <p:txBody>
          <a:bodyPr wrap="square" lIns="0" rIns="0" tIns="0" bIns="0" anchor="t">
            <a:spAutoFit/>
          </a:bodyPr>
          <a:lstStyle/>
          <a:p>
            <a:pPr algn="l"/>
            <a:r>
              <a:rPr sz="1200" b="1" u="none" spc="40">
                <a:solidFill>
                  <a:srgbClr val="2C5142"/>
                </a:solidFill>
                <a:latin typeface="Segoe UI"/>
              </a:rPr>
              <a:t>GRACEFUL DEGRADATION</a:t>
            </a:r>
          </a:p>
        </p:txBody>
      </p:sp>
      <p:sp>
        <p:nvSpPr>
          <p:cNvPr id="31" name="TextBox 30"/>
          <p:cNvSpPr txBox="1"/>
          <p:nvPr/>
        </p:nvSpPr>
        <p:spPr>
          <a:xfrm>
            <a:off x="4548682" y="5010912"/>
            <a:ext cx="3080613" cy="822960"/>
          </a:xfrm>
          <a:prstGeom prst="rect">
            <a:avLst/>
          </a:prstGeom>
          <a:noFill/>
        </p:spPr>
        <p:txBody>
          <a:bodyPr wrap="square" lIns="0" rIns="0" tIns="0" bIns="0">
            <a:spAutoFit/>
          </a:bodyPr>
          <a:lstStyle/>
          <a:p>
            <a:pPr>
              <a:lnSpc>
                <a:spcPct val="124000"/>
              </a:lnSpc>
            </a:pPr>
            <a:r>
              <a:rPr sz="850" b="1">
                <a:solidFill>
                  <a:srgbClr val="2C5142"/>
                </a:solidFill>
                <a:latin typeface="Segoe UI"/>
              </a:rPr>
              <a:t>▪  </a:t>
            </a:r>
            <a:r>
              <a:rPr sz="1050">
                <a:solidFill>
                  <a:srgbClr val="4A4640"/>
                </a:solidFill>
                <a:latin typeface="Segoe UI"/>
              </a:rPr>
              <a:t>If the model cannot be fetched, a deterministic n-gram engine takes over with its own tuned thresholds.</a:t>
            </a:r>
          </a:p>
        </p:txBody>
      </p:sp>
      <p:sp>
        <p:nvSpPr>
          <p:cNvPr id="32" name="TextBox 31"/>
          <p:cNvSpPr txBox="1"/>
          <p:nvPr/>
        </p:nvSpPr>
        <p:spPr>
          <a:xfrm>
            <a:off x="4548682" y="5652637"/>
            <a:ext cx="3080613" cy="822960"/>
          </a:xfrm>
          <a:prstGeom prst="rect">
            <a:avLst/>
          </a:prstGeom>
          <a:noFill/>
        </p:spPr>
        <p:txBody>
          <a:bodyPr wrap="square" lIns="0" rIns="0" tIns="0" bIns="0">
            <a:spAutoFit/>
          </a:bodyPr>
          <a:lstStyle/>
          <a:p>
            <a:pPr>
              <a:lnSpc>
                <a:spcPct val="124000"/>
              </a:lnSpc>
            </a:pPr>
            <a:r>
              <a:rPr sz="850" b="1">
                <a:solidFill>
                  <a:srgbClr val="2C5142"/>
                </a:solidFill>
                <a:latin typeface="Segoe UI"/>
              </a:rPr>
              <a:t>▪  </a:t>
            </a:r>
            <a:r>
              <a:rPr sz="1050">
                <a:solidFill>
                  <a:srgbClr val="4A4640"/>
                </a:solidFill>
                <a:latin typeface="Segoe UI"/>
              </a:rPr>
              <a:t>The desk still gets grouping on a bad connection instead of a spinner.</a:t>
            </a:r>
          </a:p>
        </p:txBody>
      </p:sp>
      <p:sp>
        <p:nvSpPr>
          <p:cNvPr id="33" name="Rounded Rectangle 32"/>
          <p:cNvSpPr/>
          <p:nvPr/>
        </p:nvSpPr>
        <p:spPr>
          <a:xfrm>
            <a:off x="8038490" y="4279392"/>
            <a:ext cx="3556101" cy="2066543"/>
          </a:xfrm>
          <a:prstGeom prst="roundRect">
            <a:avLst>
              <a:gd name="adj" fmla="val 800"/>
            </a:avLst>
          </a:prstGeom>
          <a:solidFill>
            <a:srgbClr val="FFFFFF"/>
          </a:solidFill>
          <a:ln w="9525">
            <a:solidFill>
              <a:srgbClr val="E0DC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9185605" y="4160520"/>
            <a:ext cx="1261872" cy="237744"/>
          </a:xfrm>
          <a:prstGeom prst="rect">
            <a:avLst/>
          </a:prstGeom>
          <a:solidFill>
            <a:srgbClr val="EAEFEA"/>
          </a:solidFill>
          <a:ln w="7620">
            <a:solidFill>
              <a:srgbClr val="2C514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spc="120">
                <a:solidFill>
                  <a:srgbClr val="2C5142"/>
                </a:solidFill>
                <a:latin typeface="Segoe UI"/>
              </a:rPr>
              <a:t>FEATURE 06</a:t>
            </a:r>
          </a:p>
        </p:txBody>
      </p:sp>
      <p:sp>
        <p:nvSpPr>
          <p:cNvPr id="35" name="TextBox 34"/>
          <p:cNvSpPr txBox="1"/>
          <p:nvPr/>
        </p:nvSpPr>
        <p:spPr>
          <a:xfrm>
            <a:off x="8276234" y="4663440"/>
            <a:ext cx="3080613" cy="256032"/>
          </a:xfrm>
          <a:prstGeom prst="rect">
            <a:avLst/>
          </a:prstGeom>
          <a:noFill/>
        </p:spPr>
        <p:txBody>
          <a:bodyPr wrap="square" lIns="0" rIns="0" tIns="0" bIns="0" anchor="t">
            <a:spAutoFit/>
          </a:bodyPr>
          <a:lstStyle/>
          <a:p>
            <a:pPr algn="l"/>
            <a:r>
              <a:rPr sz="1200" b="1" u="none" spc="40">
                <a:solidFill>
                  <a:srgbClr val="2C5142"/>
                </a:solidFill>
                <a:latin typeface="Segoe UI"/>
              </a:rPr>
              <a:t>AUDITABLE BY DESIGN</a:t>
            </a:r>
          </a:p>
        </p:txBody>
      </p:sp>
      <p:sp>
        <p:nvSpPr>
          <p:cNvPr id="36" name="TextBox 35"/>
          <p:cNvSpPr txBox="1"/>
          <p:nvPr/>
        </p:nvSpPr>
        <p:spPr>
          <a:xfrm>
            <a:off x="8276234" y="5010912"/>
            <a:ext cx="3080613" cy="822960"/>
          </a:xfrm>
          <a:prstGeom prst="rect">
            <a:avLst/>
          </a:prstGeom>
          <a:noFill/>
        </p:spPr>
        <p:txBody>
          <a:bodyPr wrap="square" lIns="0" rIns="0" tIns="0" bIns="0">
            <a:spAutoFit/>
          </a:bodyPr>
          <a:lstStyle/>
          <a:p>
            <a:pPr>
              <a:lnSpc>
                <a:spcPct val="124000"/>
              </a:lnSpc>
            </a:pPr>
            <a:r>
              <a:rPr sz="850" b="1">
                <a:solidFill>
                  <a:srgbClr val="2C5142"/>
                </a:solidFill>
                <a:latin typeface="Segoe UI"/>
              </a:rPr>
              <a:t>▪  </a:t>
            </a:r>
            <a:r>
              <a:rPr sz="1050">
                <a:solidFill>
                  <a:srgbClr val="4A4640"/>
                </a:solidFill>
                <a:latin typeface="Segoe UI"/>
              </a:rPr>
              <a:t>Every threshold, prototype and lexicon rule is on the method page.</a:t>
            </a:r>
          </a:p>
        </p:txBody>
      </p:sp>
      <p:sp>
        <p:nvSpPr>
          <p:cNvPr id="37" name="TextBox 36"/>
          <p:cNvSpPr txBox="1"/>
          <p:nvPr/>
        </p:nvSpPr>
        <p:spPr>
          <a:xfrm>
            <a:off x="8276234" y="5455493"/>
            <a:ext cx="3080613" cy="822960"/>
          </a:xfrm>
          <a:prstGeom prst="rect">
            <a:avLst/>
          </a:prstGeom>
          <a:noFill/>
        </p:spPr>
        <p:txBody>
          <a:bodyPr wrap="square" lIns="0" rIns="0" tIns="0" bIns="0">
            <a:spAutoFit/>
          </a:bodyPr>
          <a:lstStyle/>
          <a:p>
            <a:pPr>
              <a:lnSpc>
                <a:spcPct val="124000"/>
              </a:lnSpc>
            </a:pPr>
            <a:r>
              <a:rPr sz="850" b="1">
                <a:solidFill>
                  <a:srgbClr val="2C5142"/>
                </a:solidFill>
                <a:latin typeface="Segoe UI"/>
              </a:rPr>
              <a:t>▪  </a:t>
            </a:r>
            <a:r>
              <a:rPr sz="1050">
                <a:solidFill>
                  <a:srgbClr val="4A4640"/>
                </a:solidFill>
                <a:latin typeface="Segoe UI"/>
              </a:rPr>
              <a:t>The sweep that chose them ships in the repository as tune.mts.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3387" y="402336"/>
            <a:ext cx="9144000" cy="603504"/>
          </a:xfrm>
          <a:prstGeom prst="rect">
            <a:avLst/>
          </a:prstGeom>
          <a:noFill/>
        </p:spPr>
        <p:txBody>
          <a:bodyPr wrap="square" lIns="0" rIns="0" tIns="0" bIns="0" anchor="t">
            <a:spAutoFit/>
          </a:bodyPr>
          <a:lstStyle/>
          <a:p>
            <a:pPr algn="l"/>
            <a:r>
              <a:rPr sz="3100" b="0" u="none">
                <a:solidFill>
                  <a:srgbClr val="1C1A17"/>
                </a:solidFill>
                <a:latin typeface="Georgia"/>
              </a:rPr>
              <a:t>Idea and Approach</a:t>
            </a:r>
          </a:p>
        </p:txBody>
      </p:sp>
      <p:sp>
        <p:nvSpPr>
          <p:cNvPr id="4" name="Rectangle 3"/>
          <p:cNvSpPr/>
          <p:nvPr/>
        </p:nvSpPr>
        <p:spPr>
          <a:xfrm>
            <a:off x="583387" y="1060704"/>
            <a:ext cx="960120" cy="25603"/>
          </a:xfrm>
          <a:prstGeom prst="rect">
            <a:avLst/>
          </a:prstGeom>
          <a:solidFill>
            <a:srgbClr val="2C5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83387" y="1207008"/>
            <a:ext cx="9692640" cy="310896"/>
          </a:xfrm>
          <a:prstGeom prst="rect">
            <a:avLst/>
          </a:prstGeom>
          <a:noFill/>
        </p:spPr>
        <p:txBody>
          <a:bodyPr wrap="square" lIns="0" rIns="0" tIns="0" bIns="0" anchor="t">
            <a:spAutoFit/>
          </a:bodyPr>
          <a:lstStyle/>
          <a:p>
            <a:pPr algn="l"/>
            <a:r>
              <a:rPr sz="1250" b="0" u="none">
                <a:solidFill>
                  <a:srgbClr val="4A4640"/>
                </a:solidFill>
                <a:latin typeface="Segoe UI"/>
              </a:rPr>
              <a:t>Every layer is a component that already shipped. Nothing here is speculative.</a:t>
            </a:r>
          </a:p>
        </p:txBody>
      </p:sp>
      <p:sp>
        <p:nvSpPr>
          <p:cNvPr id="6" name="TextBox 5"/>
          <p:cNvSpPr txBox="1"/>
          <p:nvPr/>
        </p:nvSpPr>
        <p:spPr>
          <a:xfrm>
            <a:off x="9326880" y="457200"/>
            <a:ext cx="2286000" cy="310896"/>
          </a:xfrm>
          <a:prstGeom prst="rect">
            <a:avLst/>
          </a:prstGeom>
          <a:noFill/>
        </p:spPr>
        <p:txBody>
          <a:bodyPr wrap="square" lIns="0" rIns="0" tIns="0" bIns="0" anchor="t">
            <a:spAutoFit/>
          </a:bodyPr>
          <a:lstStyle/>
          <a:p>
            <a:pPr algn="r"/>
            <a:r>
              <a:rPr sz="1500" b="1" u="none">
                <a:solidFill>
                  <a:srgbClr val="1C1A17"/>
                </a:solidFill>
                <a:latin typeface="Georgia"/>
              </a:rPr>
              <a:t>ONDRU</a:t>
            </a:r>
          </a:p>
        </p:txBody>
      </p:sp>
      <p:sp>
        <p:nvSpPr>
          <p:cNvPr id="7" name="TextBox 6"/>
          <p:cNvSpPr txBox="1"/>
          <p:nvPr/>
        </p:nvSpPr>
        <p:spPr>
          <a:xfrm>
            <a:off x="9326880" y="749808"/>
            <a:ext cx="2286000" cy="237744"/>
          </a:xfrm>
          <a:prstGeom prst="rect">
            <a:avLst/>
          </a:prstGeom>
          <a:noFill/>
        </p:spPr>
        <p:txBody>
          <a:bodyPr wrap="square" lIns="0" rIns="0" tIns="0" bIns="0" anchor="t">
            <a:spAutoFit/>
          </a:bodyPr>
          <a:lstStyle/>
          <a:p>
            <a:pPr algn="r"/>
            <a:r>
              <a:rPr sz="900" b="0" u="none" spc="40">
                <a:solidFill>
                  <a:srgbClr val="8A8478"/>
                </a:solidFill>
                <a:latin typeface="Segoe UI"/>
              </a:rPr>
              <a:t>many voices, one issue</a:t>
            </a:r>
          </a:p>
        </p:txBody>
      </p:sp>
      <p:sp>
        <p:nvSpPr>
          <p:cNvPr id="8" name="Rounded Rectangle 7"/>
          <p:cNvSpPr/>
          <p:nvPr/>
        </p:nvSpPr>
        <p:spPr>
          <a:xfrm>
            <a:off x="583387" y="1810512"/>
            <a:ext cx="3556101" cy="2066543"/>
          </a:xfrm>
          <a:prstGeom prst="roundRect">
            <a:avLst>
              <a:gd name="adj" fmla="val 800"/>
            </a:avLst>
          </a:prstGeom>
          <a:solidFill>
            <a:srgbClr val="FFFFFF"/>
          </a:solidFill>
          <a:ln w="9525">
            <a:solidFill>
              <a:srgbClr val="E0DC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1831086" y="1691640"/>
            <a:ext cx="1060704" cy="237744"/>
          </a:xfrm>
          <a:prstGeom prst="rect">
            <a:avLst/>
          </a:prstGeom>
          <a:solidFill>
            <a:srgbClr val="EAEFEA"/>
          </a:solidFill>
          <a:ln w="7620">
            <a:solidFill>
              <a:srgbClr val="2C514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spc="120">
                <a:solidFill>
                  <a:srgbClr val="2C5142"/>
                </a:solidFill>
                <a:latin typeface="Segoe UI"/>
              </a:rPr>
              <a:t>MODEL</a:t>
            </a:r>
          </a:p>
        </p:txBody>
      </p:sp>
      <p:sp>
        <p:nvSpPr>
          <p:cNvPr id="10" name="TextBox 9"/>
          <p:cNvSpPr txBox="1"/>
          <p:nvPr/>
        </p:nvSpPr>
        <p:spPr>
          <a:xfrm>
            <a:off x="821131" y="2194560"/>
            <a:ext cx="3080613" cy="256032"/>
          </a:xfrm>
          <a:prstGeom prst="rect">
            <a:avLst/>
          </a:prstGeom>
          <a:noFill/>
        </p:spPr>
        <p:txBody>
          <a:bodyPr wrap="square" lIns="0" rIns="0" tIns="0" bIns="0" anchor="t">
            <a:spAutoFit/>
          </a:bodyPr>
          <a:lstStyle/>
          <a:p>
            <a:pPr algn="l"/>
            <a:r>
              <a:rPr sz="1200" b="1" u="none" spc="40">
                <a:solidFill>
                  <a:srgbClr val="2C5142"/>
                </a:solidFill>
                <a:latin typeface="Segoe UI"/>
              </a:rPr>
              <a:t>SENTENCE ENCODER</a:t>
            </a:r>
          </a:p>
        </p:txBody>
      </p:sp>
      <p:sp>
        <p:nvSpPr>
          <p:cNvPr id="11" name="TextBox 10"/>
          <p:cNvSpPr txBox="1"/>
          <p:nvPr/>
        </p:nvSpPr>
        <p:spPr>
          <a:xfrm>
            <a:off x="821131" y="2560320"/>
            <a:ext cx="3080613" cy="822960"/>
          </a:xfrm>
          <a:prstGeom prst="rect">
            <a:avLst/>
          </a:prstGeom>
          <a:noFill/>
        </p:spPr>
        <p:txBody>
          <a:bodyPr wrap="square" lIns="0" rIns="0" tIns="0" bIns="0">
            <a:spAutoFit/>
          </a:bodyPr>
          <a:lstStyle/>
          <a:p>
            <a:pPr>
              <a:lnSpc>
                <a:spcPct val="124000"/>
              </a:lnSpc>
            </a:pPr>
            <a:r>
              <a:rPr sz="850" b="1">
                <a:solidFill>
                  <a:srgbClr val="2C5142"/>
                </a:solidFill>
                <a:latin typeface="Segoe UI"/>
              </a:rPr>
              <a:t>▪  </a:t>
            </a:r>
            <a:r>
              <a:rPr sz="1050">
                <a:solidFill>
                  <a:srgbClr val="4A4640"/>
                </a:solidFill>
                <a:latin typeface="Segoe UI"/>
              </a:rPr>
              <a:t>Xenova/all-MiniLM-L6-v2</a:t>
            </a:r>
          </a:p>
        </p:txBody>
      </p:sp>
      <p:sp>
        <p:nvSpPr>
          <p:cNvPr id="12" name="TextBox 11"/>
          <p:cNvSpPr txBox="1"/>
          <p:nvPr/>
        </p:nvSpPr>
        <p:spPr>
          <a:xfrm>
            <a:off x="821131" y="2789249"/>
            <a:ext cx="3080613" cy="822960"/>
          </a:xfrm>
          <a:prstGeom prst="rect">
            <a:avLst/>
          </a:prstGeom>
          <a:noFill/>
        </p:spPr>
        <p:txBody>
          <a:bodyPr wrap="square" lIns="0" rIns="0" tIns="0" bIns="0">
            <a:spAutoFit/>
          </a:bodyPr>
          <a:lstStyle/>
          <a:p>
            <a:pPr>
              <a:lnSpc>
                <a:spcPct val="124000"/>
              </a:lnSpc>
            </a:pPr>
            <a:r>
              <a:rPr sz="850" b="1">
                <a:solidFill>
                  <a:srgbClr val="2C5142"/>
                </a:solidFill>
                <a:latin typeface="Segoe UI"/>
              </a:rPr>
              <a:t>▪  </a:t>
            </a:r>
            <a:r>
              <a:rPr sz="1050">
                <a:solidFill>
                  <a:srgbClr val="4A4640"/>
                </a:solidFill>
                <a:latin typeface="Segoe UI"/>
              </a:rPr>
              <a:t>6-layer MiniLM, int8 quantised</a:t>
            </a:r>
          </a:p>
        </p:txBody>
      </p:sp>
      <p:sp>
        <p:nvSpPr>
          <p:cNvPr id="13" name="TextBox 12"/>
          <p:cNvSpPr txBox="1"/>
          <p:nvPr/>
        </p:nvSpPr>
        <p:spPr>
          <a:xfrm>
            <a:off x="821131" y="3018178"/>
            <a:ext cx="3080613" cy="822960"/>
          </a:xfrm>
          <a:prstGeom prst="rect">
            <a:avLst/>
          </a:prstGeom>
          <a:noFill/>
        </p:spPr>
        <p:txBody>
          <a:bodyPr wrap="square" lIns="0" rIns="0" tIns="0" bIns="0">
            <a:spAutoFit/>
          </a:bodyPr>
          <a:lstStyle/>
          <a:p>
            <a:pPr>
              <a:lnSpc>
                <a:spcPct val="124000"/>
              </a:lnSpc>
            </a:pPr>
            <a:r>
              <a:rPr sz="850" b="1">
                <a:solidFill>
                  <a:srgbClr val="2C5142"/>
                </a:solidFill>
                <a:latin typeface="Segoe UI"/>
              </a:rPr>
              <a:t>▪  </a:t>
            </a:r>
            <a:r>
              <a:rPr sz="1050">
                <a:solidFill>
                  <a:srgbClr val="4A4640"/>
                </a:solidFill>
                <a:latin typeface="Segoe UI"/>
              </a:rPr>
              <a:t>About 23 MB, cached after first load</a:t>
            </a:r>
          </a:p>
        </p:txBody>
      </p:sp>
      <p:sp>
        <p:nvSpPr>
          <p:cNvPr id="14" name="TextBox 13"/>
          <p:cNvSpPr txBox="1"/>
          <p:nvPr/>
        </p:nvSpPr>
        <p:spPr>
          <a:xfrm>
            <a:off x="821131" y="3247107"/>
            <a:ext cx="3080613" cy="822960"/>
          </a:xfrm>
          <a:prstGeom prst="rect">
            <a:avLst/>
          </a:prstGeom>
          <a:noFill/>
        </p:spPr>
        <p:txBody>
          <a:bodyPr wrap="square" lIns="0" rIns="0" tIns="0" bIns="0">
            <a:spAutoFit/>
          </a:bodyPr>
          <a:lstStyle/>
          <a:p>
            <a:pPr>
              <a:lnSpc>
                <a:spcPct val="124000"/>
              </a:lnSpc>
            </a:pPr>
            <a:r>
              <a:rPr sz="850" b="1">
                <a:solidFill>
                  <a:srgbClr val="2C5142"/>
                </a:solidFill>
                <a:latin typeface="Segoe UI"/>
              </a:rPr>
              <a:t>▪  </a:t>
            </a:r>
            <a:r>
              <a:rPr sz="1050">
                <a:solidFill>
                  <a:srgbClr val="4A4640"/>
                </a:solidFill>
                <a:latin typeface="Segoe UI"/>
              </a:rPr>
              <a:t>384-dim, mean-pooled, L2 normalised</a:t>
            </a:r>
          </a:p>
        </p:txBody>
      </p:sp>
      <p:sp>
        <p:nvSpPr>
          <p:cNvPr id="15" name="TextBox 14"/>
          <p:cNvSpPr txBox="1"/>
          <p:nvPr/>
        </p:nvSpPr>
        <p:spPr>
          <a:xfrm>
            <a:off x="821131" y="3476036"/>
            <a:ext cx="3080613" cy="822960"/>
          </a:xfrm>
          <a:prstGeom prst="rect">
            <a:avLst/>
          </a:prstGeom>
          <a:noFill/>
        </p:spPr>
        <p:txBody>
          <a:bodyPr wrap="square" lIns="0" rIns="0" tIns="0" bIns="0">
            <a:spAutoFit/>
          </a:bodyPr>
          <a:lstStyle/>
          <a:p>
            <a:pPr>
              <a:lnSpc>
                <a:spcPct val="124000"/>
              </a:lnSpc>
            </a:pPr>
            <a:r>
              <a:rPr sz="850" b="1">
                <a:solidFill>
                  <a:srgbClr val="2C5142"/>
                </a:solidFill>
                <a:latin typeface="Segoe UI"/>
              </a:rPr>
              <a:t>▪  </a:t>
            </a:r>
            <a:r>
              <a:rPr sz="1050">
                <a:solidFill>
                  <a:srgbClr val="4A4640"/>
                </a:solidFill>
                <a:latin typeface="Segoe UI"/>
              </a:rPr>
              <a:t>Dot product is the cosine</a:t>
            </a:r>
          </a:p>
        </p:txBody>
      </p:sp>
      <p:sp>
        <p:nvSpPr>
          <p:cNvPr id="16" name="Rounded Rectangle 15"/>
          <p:cNvSpPr/>
          <p:nvPr/>
        </p:nvSpPr>
        <p:spPr>
          <a:xfrm>
            <a:off x="4310938" y="1810512"/>
            <a:ext cx="3556101" cy="2066543"/>
          </a:xfrm>
          <a:prstGeom prst="roundRect">
            <a:avLst>
              <a:gd name="adj" fmla="val 800"/>
            </a:avLst>
          </a:prstGeom>
          <a:solidFill>
            <a:srgbClr val="FFFFFF"/>
          </a:solidFill>
          <a:ln w="9525">
            <a:solidFill>
              <a:srgbClr val="E0DC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558637" y="1691640"/>
            <a:ext cx="1060704" cy="237744"/>
          </a:xfrm>
          <a:prstGeom prst="rect">
            <a:avLst/>
          </a:prstGeom>
          <a:solidFill>
            <a:srgbClr val="EAEFEA"/>
          </a:solidFill>
          <a:ln w="7620">
            <a:solidFill>
              <a:srgbClr val="2C514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spc="120">
                <a:solidFill>
                  <a:srgbClr val="2C5142"/>
                </a:solidFill>
                <a:latin typeface="Segoe UI"/>
              </a:rPr>
              <a:t>RUNTIME</a:t>
            </a:r>
          </a:p>
        </p:txBody>
      </p:sp>
      <p:sp>
        <p:nvSpPr>
          <p:cNvPr id="18" name="TextBox 17"/>
          <p:cNvSpPr txBox="1"/>
          <p:nvPr/>
        </p:nvSpPr>
        <p:spPr>
          <a:xfrm>
            <a:off x="4548682" y="2194560"/>
            <a:ext cx="3080613" cy="256032"/>
          </a:xfrm>
          <a:prstGeom prst="rect">
            <a:avLst/>
          </a:prstGeom>
          <a:noFill/>
        </p:spPr>
        <p:txBody>
          <a:bodyPr wrap="square" lIns="0" rIns="0" tIns="0" bIns="0" anchor="t">
            <a:spAutoFit/>
          </a:bodyPr>
          <a:lstStyle/>
          <a:p>
            <a:pPr algn="l"/>
            <a:r>
              <a:rPr sz="1200" b="1" u="none" spc="40">
                <a:solidFill>
                  <a:srgbClr val="2C5142"/>
                </a:solidFill>
                <a:latin typeface="Segoe UI"/>
              </a:rPr>
              <a:t>BROWSER INFERENCE</a:t>
            </a:r>
          </a:p>
        </p:txBody>
      </p:sp>
      <p:sp>
        <p:nvSpPr>
          <p:cNvPr id="19" name="TextBox 18"/>
          <p:cNvSpPr txBox="1"/>
          <p:nvPr/>
        </p:nvSpPr>
        <p:spPr>
          <a:xfrm>
            <a:off x="4548682" y="2560320"/>
            <a:ext cx="3080613" cy="822960"/>
          </a:xfrm>
          <a:prstGeom prst="rect">
            <a:avLst/>
          </a:prstGeom>
          <a:noFill/>
        </p:spPr>
        <p:txBody>
          <a:bodyPr wrap="square" lIns="0" rIns="0" tIns="0" bIns="0">
            <a:spAutoFit/>
          </a:bodyPr>
          <a:lstStyle/>
          <a:p>
            <a:pPr>
              <a:lnSpc>
                <a:spcPct val="124000"/>
              </a:lnSpc>
            </a:pPr>
            <a:r>
              <a:rPr sz="850" b="1">
                <a:solidFill>
                  <a:srgbClr val="2C5142"/>
                </a:solidFill>
                <a:latin typeface="Segoe UI"/>
              </a:rPr>
              <a:t>▪  </a:t>
            </a:r>
            <a:r>
              <a:rPr sz="1050">
                <a:solidFill>
                  <a:srgbClr val="4A4640"/>
                </a:solidFill>
                <a:latin typeface="Segoe UI"/>
              </a:rPr>
              <a:t>transformers.js v3</a:t>
            </a:r>
          </a:p>
        </p:txBody>
      </p:sp>
      <p:sp>
        <p:nvSpPr>
          <p:cNvPr id="20" name="TextBox 19"/>
          <p:cNvSpPr txBox="1"/>
          <p:nvPr/>
        </p:nvSpPr>
        <p:spPr>
          <a:xfrm>
            <a:off x="4548682" y="2789249"/>
            <a:ext cx="3080613" cy="822960"/>
          </a:xfrm>
          <a:prstGeom prst="rect">
            <a:avLst/>
          </a:prstGeom>
          <a:noFill/>
        </p:spPr>
        <p:txBody>
          <a:bodyPr wrap="square" lIns="0" rIns="0" tIns="0" bIns="0">
            <a:spAutoFit/>
          </a:bodyPr>
          <a:lstStyle/>
          <a:p>
            <a:pPr>
              <a:lnSpc>
                <a:spcPct val="124000"/>
              </a:lnSpc>
            </a:pPr>
            <a:r>
              <a:rPr sz="850" b="1">
                <a:solidFill>
                  <a:srgbClr val="2C5142"/>
                </a:solidFill>
                <a:latin typeface="Segoe UI"/>
              </a:rPr>
              <a:t>▪  </a:t>
            </a:r>
            <a:r>
              <a:rPr sz="1050">
                <a:solidFill>
                  <a:srgbClr val="4A4640"/>
                </a:solidFill>
                <a:latin typeface="Segoe UI"/>
              </a:rPr>
              <a:t>ONNX Runtime Web, WASM backend</a:t>
            </a:r>
          </a:p>
        </p:txBody>
      </p:sp>
      <p:sp>
        <p:nvSpPr>
          <p:cNvPr id="21" name="TextBox 20"/>
          <p:cNvSpPr txBox="1"/>
          <p:nvPr/>
        </p:nvSpPr>
        <p:spPr>
          <a:xfrm>
            <a:off x="4548682" y="3018178"/>
            <a:ext cx="3080613" cy="822960"/>
          </a:xfrm>
          <a:prstGeom prst="rect">
            <a:avLst/>
          </a:prstGeom>
          <a:noFill/>
        </p:spPr>
        <p:txBody>
          <a:bodyPr wrap="square" lIns="0" rIns="0" tIns="0" bIns="0">
            <a:spAutoFit/>
          </a:bodyPr>
          <a:lstStyle/>
          <a:p>
            <a:pPr>
              <a:lnSpc>
                <a:spcPct val="124000"/>
              </a:lnSpc>
            </a:pPr>
            <a:r>
              <a:rPr sz="850" b="1">
                <a:solidFill>
                  <a:srgbClr val="2C5142"/>
                </a:solidFill>
                <a:latin typeface="Segoe UI"/>
              </a:rPr>
              <a:t>▪  </a:t>
            </a:r>
            <a:r>
              <a:rPr sz="1050">
                <a:solidFill>
                  <a:srgbClr val="4A4640"/>
                </a:solidFill>
                <a:latin typeface="Segoe UI"/>
              </a:rPr>
              <a:t>Batched 16 at a time, yields to paint</a:t>
            </a:r>
          </a:p>
        </p:txBody>
      </p:sp>
      <p:sp>
        <p:nvSpPr>
          <p:cNvPr id="22" name="TextBox 21"/>
          <p:cNvSpPr txBox="1"/>
          <p:nvPr/>
        </p:nvSpPr>
        <p:spPr>
          <a:xfrm>
            <a:off x="4548682" y="3247107"/>
            <a:ext cx="3080613" cy="822960"/>
          </a:xfrm>
          <a:prstGeom prst="rect">
            <a:avLst/>
          </a:prstGeom>
          <a:noFill/>
        </p:spPr>
        <p:txBody>
          <a:bodyPr wrap="square" lIns="0" rIns="0" tIns="0" bIns="0">
            <a:spAutoFit/>
          </a:bodyPr>
          <a:lstStyle/>
          <a:p>
            <a:pPr>
              <a:lnSpc>
                <a:spcPct val="124000"/>
              </a:lnSpc>
            </a:pPr>
            <a:r>
              <a:rPr sz="850" b="1">
                <a:solidFill>
                  <a:srgbClr val="2C5142"/>
                </a:solidFill>
                <a:latin typeface="Segoe UI"/>
              </a:rPr>
              <a:t>▪  </a:t>
            </a:r>
            <a:r>
              <a:rPr sz="1050">
                <a:solidFill>
                  <a:srgbClr val="4A4640"/>
                </a:solidFill>
                <a:latin typeface="Segoe UI"/>
              </a:rPr>
              <a:t>No API route, no key, no database</a:t>
            </a:r>
          </a:p>
        </p:txBody>
      </p:sp>
      <p:sp>
        <p:nvSpPr>
          <p:cNvPr id="23" name="TextBox 22"/>
          <p:cNvSpPr txBox="1"/>
          <p:nvPr/>
        </p:nvSpPr>
        <p:spPr>
          <a:xfrm>
            <a:off x="4548682" y="3476036"/>
            <a:ext cx="3080613" cy="822960"/>
          </a:xfrm>
          <a:prstGeom prst="rect">
            <a:avLst/>
          </a:prstGeom>
          <a:noFill/>
        </p:spPr>
        <p:txBody>
          <a:bodyPr wrap="square" lIns="0" rIns="0" tIns="0" bIns="0">
            <a:spAutoFit/>
          </a:bodyPr>
          <a:lstStyle/>
          <a:p>
            <a:pPr>
              <a:lnSpc>
                <a:spcPct val="124000"/>
              </a:lnSpc>
            </a:pPr>
            <a:r>
              <a:rPr sz="850" b="1">
                <a:solidFill>
                  <a:srgbClr val="2C5142"/>
                </a:solidFill>
                <a:latin typeface="Segoe UI"/>
              </a:rPr>
              <a:t>▪  </a:t>
            </a:r>
            <a:r>
              <a:rPr sz="1050">
                <a:solidFill>
                  <a:srgbClr val="4A4640"/>
                </a:solidFill>
                <a:latin typeface="Segoe UI"/>
              </a:rPr>
              <a:t>100 complaints in about 7 seconds</a:t>
            </a:r>
          </a:p>
        </p:txBody>
      </p:sp>
      <p:sp>
        <p:nvSpPr>
          <p:cNvPr id="24" name="Rounded Rectangle 23"/>
          <p:cNvSpPr/>
          <p:nvPr/>
        </p:nvSpPr>
        <p:spPr>
          <a:xfrm>
            <a:off x="8038490" y="1810512"/>
            <a:ext cx="3556101" cy="2066543"/>
          </a:xfrm>
          <a:prstGeom prst="roundRect">
            <a:avLst>
              <a:gd name="adj" fmla="val 800"/>
            </a:avLst>
          </a:prstGeom>
          <a:solidFill>
            <a:srgbClr val="FFFFFF"/>
          </a:solidFill>
          <a:ln w="9525">
            <a:solidFill>
              <a:srgbClr val="E0DC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9286189" y="1691640"/>
            <a:ext cx="1060704" cy="237744"/>
          </a:xfrm>
          <a:prstGeom prst="rect">
            <a:avLst/>
          </a:prstGeom>
          <a:solidFill>
            <a:srgbClr val="EAEFEA"/>
          </a:solidFill>
          <a:ln w="7620">
            <a:solidFill>
              <a:srgbClr val="2C514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spc="120">
                <a:solidFill>
                  <a:srgbClr val="2C5142"/>
                </a:solidFill>
                <a:latin typeface="Segoe UI"/>
              </a:rPr>
              <a:t>GROUPING</a:t>
            </a:r>
          </a:p>
        </p:txBody>
      </p:sp>
      <p:sp>
        <p:nvSpPr>
          <p:cNvPr id="26" name="TextBox 25"/>
          <p:cNvSpPr txBox="1"/>
          <p:nvPr/>
        </p:nvSpPr>
        <p:spPr>
          <a:xfrm>
            <a:off x="8276234" y="2194560"/>
            <a:ext cx="3080613" cy="256032"/>
          </a:xfrm>
          <a:prstGeom prst="rect">
            <a:avLst/>
          </a:prstGeom>
          <a:noFill/>
        </p:spPr>
        <p:txBody>
          <a:bodyPr wrap="square" lIns="0" rIns="0" tIns="0" bIns="0" anchor="t">
            <a:spAutoFit/>
          </a:bodyPr>
          <a:lstStyle/>
          <a:p>
            <a:pPr algn="l"/>
            <a:r>
              <a:rPr sz="1200" b="1" u="none" spc="40">
                <a:solidFill>
                  <a:srgbClr val="2C5142"/>
                </a:solidFill>
                <a:latin typeface="Segoe UI"/>
              </a:rPr>
              <a:t>CLUSTERING</a:t>
            </a:r>
          </a:p>
        </p:txBody>
      </p:sp>
      <p:sp>
        <p:nvSpPr>
          <p:cNvPr id="27" name="TextBox 26"/>
          <p:cNvSpPr txBox="1"/>
          <p:nvPr/>
        </p:nvSpPr>
        <p:spPr>
          <a:xfrm>
            <a:off x="8276234" y="2560320"/>
            <a:ext cx="3080613" cy="822960"/>
          </a:xfrm>
          <a:prstGeom prst="rect">
            <a:avLst/>
          </a:prstGeom>
          <a:noFill/>
        </p:spPr>
        <p:txBody>
          <a:bodyPr wrap="square" lIns="0" rIns="0" tIns="0" bIns="0">
            <a:spAutoFit/>
          </a:bodyPr>
          <a:lstStyle/>
          <a:p>
            <a:pPr>
              <a:lnSpc>
                <a:spcPct val="124000"/>
              </a:lnSpc>
            </a:pPr>
            <a:r>
              <a:rPr sz="850" b="1">
                <a:solidFill>
                  <a:srgbClr val="2C5142"/>
                </a:solidFill>
                <a:latin typeface="Segoe UI"/>
              </a:rPr>
              <a:t>▪  </a:t>
            </a:r>
            <a:r>
              <a:rPr sz="1050">
                <a:solidFill>
                  <a:srgbClr val="4A4640"/>
                </a:solidFill>
                <a:latin typeface="Segoe UI"/>
              </a:rPr>
              <a:t>Complete-linkage agglomerative</a:t>
            </a:r>
          </a:p>
        </p:txBody>
      </p:sp>
      <p:sp>
        <p:nvSpPr>
          <p:cNvPr id="28" name="TextBox 27"/>
          <p:cNvSpPr txBox="1"/>
          <p:nvPr/>
        </p:nvSpPr>
        <p:spPr>
          <a:xfrm>
            <a:off x="8276234" y="2789249"/>
            <a:ext cx="3080613" cy="822960"/>
          </a:xfrm>
          <a:prstGeom prst="rect">
            <a:avLst/>
          </a:prstGeom>
          <a:noFill/>
        </p:spPr>
        <p:txBody>
          <a:bodyPr wrap="square" lIns="0" rIns="0" tIns="0" bIns="0">
            <a:spAutoFit/>
          </a:bodyPr>
          <a:lstStyle/>
          <a:p>
            <a:pPr>
              <a:lnSpc>
                <a:spcPct val="124000"/>
              </a:lnSpc>
            </a:pPr>
            <a:r>
              <a:rPr sz="850" b="1">
                <a:solidFill>
                  <a:srgbClr val="2C5142"/>
                </a:solidFill>
                <a:latin typeface="Segoe UI"/>
              </a:rPr>
              <a:t>▪  </a:t>
            </a:r>
            <a:r>
              <a:rPr sz="1050">
                <a:solidFill>
                  <a:srgbClr val="4A4640"/>
                </a:solidFill>
                <a:latin typeface="Segoe UI"/>
              </a:rPr>
              <a:t>Pairs sorted by similarity, merged greedily</a:t>
            </a:r>
          </a:p>
        </p:txBody>
      </p:sp>
      <p:sp>
        <p:nvSpPr>
          <p:cNvPr id="29" name="TextBox 28"/>
          <p:cNvSpPr txBox="1"/>
          <p:nvPr/>
        </p:nvSpPr>
        <p:spPr>
          <a:xfrm>
            <a:off x="8276234" y="3196815"/>
            <a:ext cx="3080613" cy="822960"/>
          </a:xfrm>
          <a:prstGeom prst="rect">
            <a:avLst/>
          </a:prstGeom>
          <a:noFill/>
        </p:spPr>
        <p:txBody>
          <a:bodyPr wrap="square" lIns="0" rIns="0" tIns="0" bIns="0">
            <a:spAutoFit/>
          </a:bodyPr>
          <a:lstStyle/>
          <a:p>
            <a:pPr>
              <a:lnSpc>
                <a:spcPct val="124000"/>
              </a:lnSpc>
            </a:pPr>
            <a:r>
              <a:rPr sz="850" b="1">
                <a:solidFill>
                  <a:srgbClr val="2C5142"/>
                </a:solidFill>
                <a:latin typeface="Segoe UI"/>
              </a:rPr>
              <a:t>▪  </a:t>
            </a:r>
            <a:r>
              <a:rPr sz="1050">
                <a:solidFill>
                  <a:srgbClr val="4A4640"/>
                </a:solidFill>
                <a:latin typeface="Segoe UI"/>
              </a:rPr>
              <a:t>Merge refused unless every pair clears</a:t>
            </a:r>
          </a:p>
        </p:txBody>
      </p:sp>
      <p:sp>
        <p:nvSpPr>
          <p:cNvPr id="30" name="TextBox 29"/>
          <p:cNvSpPr txBox="1"/>
          <p:nvPr/>
        </p:nvSpPr>
        <p:spPr>
          <a:xfrm>
            <a:off x="8276234" y="3425744"/>
            <a:ext cx="3080613" cy="822960"/>
          </a:xfrm>
          <a:prstGeom prst="rect">
            <a:avLst/>
          </a:prstGeom>
          <a:noFill/>
        </p:spPr>
        <p:txBody>
          <a:bodyPr wrap="square" lIns="0" rIns="0" tIns="0" bIns="0">
            <a:spAutoFit/>
          </a:bodyPr>
          <a:lstStyle/>
          <a:p>
            <a:pPr>
              <a:lnSpc>
                <a:spcPct val="124000"/>
              </a:lnSpc>
            </a:pPr>
            <a:r>
              <a:rPr sz="850" b="1">
                <a:solidFill>
                  <a:srgbClr val="2C5142"/>
                </a:solidFill>
                <a:latin typeface="Segoe UI"/>
              </a:rPr>
              <a:t>▪  </a:t>
            </a:r>
            <a:r>
              <a:rPr sz="1050">
                <a:solidFill>
                  <a:srgbClr val="4A4640"/>
                </a:solidFill>
                <a:latin typeface="Segoe UI"/>
              </a:rPr>
              <a:t>Threshold 0.54, swept not guessed</a:t>
            </a:r>
          </a:p>
        </p:txBody>
      </p:sp>
      <p:sp>
        <p:nvSpPr>
          <p:cNvPr id="31" name="TextBox 30"/>
          <p:cNvSpPr txBox="1"/>
          <p:nvPr/>
        </p:nvSpPr>
        <p:spPr>
          <a:xfrm>
            <a:off x="8276234" y="3654673"/>
            <a:ext cx="3080613" cy="822960"/>
          </a:xfrm>
          <a:prstGeom prst="rect">
            <a:avLst/>
          </a:prstGeom>
          <a:noFill/>
        </p:spPr>
        <p:txBody>
          <a:bodyPr wrap="square" lIns="0" rIns="0" tIns="0" bIns="0">
            <a:spAutoFit/>
          </a:bodyPr>
          <a:lstStyle/>
          <a:p>
            <a:pPr>
              <a:lnSpc>
                <a:spcPct val="124000"/>
              </a:lnSpc>
            </a:pPr>
            <a:r>
              <a:rPr sz="850" b="1">
                <a:solidFill>
                  <a:srgbClr val="2C5142"/>
                </a:solidFill>
                <a:latin typeface="Segoe UI"/>
              </a:rPr>
              <a:t>▪  </a:t>
            </a:r>
            <a:r>
              <a:rPr sz="1050">
                <a:solidFill>
                  <a:srgbClr val="4A4640"/>
                </a:solidFill>
                <a:latin typeface="Segoe UI"/>
              </a:rPr>
              <a:t>Cohesion shown per incident</a:t>
            </a:r>
          </a:p>
        </p:txBody>
      </p:sp>
      <p:sp>
        <p:nvSpPr>
          <p:cNvPr id="32" name="Rounded Rectangle 31"/>
          <p:cNvSpPr/>
          <p:nvPr/>
        </p:nvSpPr>
        <p:spPr>
          <a:xfrm>
            <a:off x="583387" y="4279392"/>
            <a:ext cx="3556101" cy="2066543"/>
          </a:xfrm>
          <a:prstGeom prst="roundRect">
            <a:avLst>
              <a:gd name="adj" fmla="val 800"/>
            </a:avLst>
          </a:prstGeom>
          <a:solidFill>
            <a:srgbClr val="FFFFFF"/>
          </a:solidFill>
          <a:ln w="9525">
            <a:solidFill>
              <a:srgbClr val="E0DC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1831086" y="4160520"/>
            <a:ext cx="1060704" cy="237744"/>
          </a:xfrm>
          <a:prstGeom prst="rect">
            <a:avLst/>
          </a:prstGeom>
          <a:solidFill>
            <a:srgbClr val="EAEFEA"/>
          </a:solidFill>
          <a:ln w="7620">
            <a:solidFill>
              <a:srgbClr val="2C514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spc="120">
                <a:solidFill>
                  <a:srgbClr val="2C5142"/>
                </a:solidFill>
                <a:latin typeface="Segoe UI"/>
              </a:rPr>
              <a:t>ROUTING</a:t>
            </a:r>
          </a:p>
        </p:txBody>
      </p:sp>
      <p:sp>
        <p:nvSpPr>
          <p:cNvPr id="34" name="TextBox 33"/>
          <p:cNvSpPr txBox="1"/>
          <p:nvPr/>
        </p:nvSpPr>
        <p:spPr>
          <a:xfrm>
            <a:off x="821131" y="4663440"/>
            <a:ext cx="3080613" cy="256032"/>
          </a:xfrm>
          <a:prstGeom prst="rect">
            <a:avLst/>
          </a:prstGeom>
          <a:noFill/>
        </p:spPr>
        <p:txBody>
          <a:bodyPr wrap="square" lIns="0" rIns="0" tIns="0" bIns="0" anchor="t">
            <a:spAutoFit/>
          </a:bodyPr>
          <a:lstStyle/>
          <a:p>
            <a:pPr algn="l"/>
            <a:r>
              <a:rPr sz="1200" b="1" u="none" spc="40">
                <a:solidFill>
                  <a:srgbClr val="2C5142"/>
                </a:solidFill>
                <a:latin typeface="Segoe UI"/>
              </a:rPr>
              <a:t>PROTOTYPE CLASSIFIER</a:t>
            </a:r>
          </a:p>
        </p:txBody>
      </p:sp>
      <p:sp>
        <p:nvSpPr>
          <p:cNvPr id="35" name="TextBox 34"/>
          <p:cNvSpPr txBox="1"/>
          <p:nvPr/>
        </p:nvSpPr>
        <p:spPr>
          <a:xfrm>
            <a:off x="821131" y="5029200"/>
            <a:ext cx="3080613" cy="822960"/>
          </a:xfrm>
          <a:prstGeom prst="rect">
            <a:avLst/>
          </a:prstGeom>
          <a:noFill/>
        </p:spPr>
        <p:txBody>
          <a:bodyPr wrap="square" lIns="0" rIns="0" tIns="0" bIns="0">
            <a:spAutoFit/>
          </a:bodyPr>
          <a:lstStyle/>
          <a:p>
            <a:pPr>
              <a:lnSpc>
                <a:spcPct val="124000"/>
              </a:lnSpc>
            </a:pPr>
            <a:r>
              <a:rPr sz="850" b="1">
                <a:solidFill>
                  <a:srgbClr val="2C5142"/>
                </a:solidFill>
                <a:latin typeface="Segoe UI"/>
              </a:rPr>
              <a:t>▪  </a:t>
            </a:r>
            <a:r>
              <a:rPr sz="1050">
                <a:solidFill>
                  <a:srgbClr val="4A4640"/>
                </a:solidFill>
                <a:latin typeface="Segoe UI"/>
              </a:rPr>
              <a:t>8 desks by 5 exemplar phrases</a:t>
            </a:r>
          </a:p>
        </p:txBody>
      </p:sp>
      <p:sp>
        <p:nvSpPr>
          <p:cNvPr id="36" name="TextBox 35"/>
          <p:cNvSpPr txBox="1"/>
          <p:nvPr/>
        </p:nvSpPr>
        <p:spPr>
          <a:xfrm>
            <a:off x="821131" y="5258129"/>
            <a:ext cx="3080613" cy="822960"/>
          </a:xfrm>
          <a:prstGeom prst="rect">
            <a:avLst/>
          </a:prstGeom>
          <a:noFill/>
        </p:spPr>
        <p:txBody>
          <a:bodyPr wrap="square" lIns="0" rIns="0" tIns="0" bIns="0">
            <a:spAutoFit/>
          </a:bodyPr>
          <a:lstStyle/>
          <a:p>
            <a:pPr>
              <a:lnSpc>
                <a:spcPct val="124000"/>
              </a:lnSpc>
            </a:pPr>
            <a:r>
              <a:rPr sz="850" b="1">
                <a:solidFill>
                  <a:srgbClr val="2C5142"/>
                </a:solidFill>
                <a:latin typeface="Segoe UI"/>
              </a:rPr>
              <a:t>▪  </a:t>
            </a:r>
            <a:r>
              <a:rPr sz="1050">
                <a:solidFill>
                  <a:srgbClr val="4A4640"/>
                </a:solidFill>
                <a:latin typeface="Segoe UI"/>
              </a:rPr>
              <a:t>Prototype is the normalised mean</a:t>
            </a:r>
          </a:p>
        </p:txBody>
      </p:sp>
      <p:sp>
        <p:nvSpPr>
          <p:cNvPr id="37" name="TextBox 36"/>
          <p:cNvSpPr txBox="1"/>
          <p:nvPr/>
        </p:nvSpPr>
        <p:spPr>
          <a:xfrm>
            <a:off x="821131" y="5487058"/>
            <a:ext cx="3080613" cy="822960"/>
          </a:xfrm>
          <a:prstGeom prst="rect">
            <a:avLst/>
          </a:prstGeom>
          <a:noFill/>
        </p:spPr>
        <p:txBody>
          <a:bodyPr wrap="square" lIns="0" rIns="0" tIns="0" bIns="0">
            <a:spAutoFit/>
          </a:bodyPr>
          <a:lstStyle/>
          <a:p>
            <a:pPr>
              <a:lnSpc>
                <a:spcPct val="124000"/>
              </a:lnSpc>
            </a:pPr>
            <a:r>
              <a:rPr sz="850" b="1">
                <a:solidFill>
                  <a:srgbClr val="2C5142"/>
                </a:solidFill>
                <a:latin typeface="Segoe UI"/>
              </a:rPr>
              <a:t>▪  </a:t>
            </a:r>
            <a:r>
              <a:rPr sz="1050">
                <a:solidFill>
                  <a:srgbClr val="4A4640"/>
                </a:solidFill>
                <a:latin typeface="Segoe UI"/>
              </a:rPr>
              <a:t>Two-part gate: floor 0.35, margin 0.04</a:t>
            </a:r>
          </a:p>
        </p:txBody>
      </p:sp>
      <p:sp>
        <p:nvSpPr>
          <p:cNvPr id="38" name="TextBox 37"/>
          <p:cNvSpPr txBox="1"/>
          <p:nvPr/>
        </p:nvSpPr>
        <p:spPr>
          <a:xfrm>
            <a:off x="821131" y="5715987"/>
            <a:ext cx="3080613" cy="822960"/>
          </a:xfrm>
          <a:prstGeom prst="rect">
            <a:avLst/>
          </a:prstGeom>
          <a:noFill/>
        </p:spPr>
        <p:txBody>
          <a:bodyPr wrap="square" lIns="0" rIns="0" tIns="0" bIns="0">
            <a:spAutoFit/>
          </a:bodyPr>
          <a:lstStyle/>
          <a:p>
            <a:pPr>
              <a:lnSpc>
                <a:spcPct val="124000"/>
              </a:lnSpc>
            </a:pPr>
            <a:r>
              <a:rPr sz="850" b="1">
                <a:solidFill>
                  <a:srgbClr val="2C5142"/>
                </a:solidFill>
                <a:latin typeface="Segoe UI"/>
              </a:rPr>
              <a:t>▪  </a:t>
            </a:r>
            <a:r>
              <a:rPr sz="1050">
                <a:solidFill>
                  <a:srgbClr val="4A4640"/>
                </a:solidFill>
                <a:latin typeface="Segoe UI"/>
              </a:rPr>
              <a:t>Zero-shot, no labelled training run</a:t>
            </a:r>
          </a:p>
        </p:txBody>
      </p:sp>
      <p:sp>
        <p:nvSpPr>
          <p:cNvPr id="39" name="TextBox 38"/>
          <p:cNvSpPr txBox="1"/>
          <p:nvPr/>
        </p:nvSpPr>
        <p:spPr>
          <a:xfrm>
            <a:off x="821131" y="5944916"/>
            <a:ext cx="3080613" cy="822960"/>
          </a:xfrm>
          <a:prstGeom prst="rect">
            <a:avLst/>
          </a:prstGeom>
          <a:noFill/>
        </p:spPr>
        <p:txBody>
          <a:bodyPr wrap="square" lIns="0" rIns="0" tIns="0" bIns="0">
            <a:spAutoFit/>
          </a:bodyPr>
          <a:lstStyle/>
          <a:p>
            <a:pPr>
              <a:lnSpc>
                <a:spcPct val="124000"/>
              </a:lnSpc>
            </a:pPr>
            <a:r>
              <a:rPr sz="850" b="1">
                <a:solidFill>
                  <a:srgbClr val="2C5142"/>
                </a:solidFill>
                <a:latin typeface="Segoe UI"/>
              </a:rPr>
              <a:t>▪  </a:t>
            </a:r>
            <a:r>
              <a:rPr sz="1050">
                <a:solidFill>
                  <a:srgbClr val="4A4640"/>
                </a:solidFill>
                <a:latin typeface="Segoe UI"/>
              </a:rPr>
              <a:t>Adding a desk is adding five sentences</a:t>
            </a:r>
          </a:p>
        </p:txBody>
      </p:sp>
      <p:sp>
        <p:nvSpPr>
          <p:cNvPr id="40" name="Rounded Rectangle 39"/>
          <p:cNvSpPr/>
          <p:nvPr/>
        </p:nvSpPr>
        <p:spPr>
          <a:xfrm>
            <a:off x="4310938" y="4279392"/>
            <a:ext cx="3556101" cy="2066543"/>
          </a:xfrm>
          <a:prstGeom prst="roundRect">
            <a:avLst>
              <a:gd name="adj" fmla="val 800"/>
            </a:avLst>
          </a:prstGeom>
          <a:solidFill>
            <a:srgbClr val="FFFFFF"/>
          </a:solidFill>
          <a:ln w="9525">
            <a:solidFill>
              <a:srgbClr val="E0DC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5558637" y="4160520"/>
            <a:ext cx="1060704" cy="237744"/>
          </a:xfrm>
          <a:prstGeom prst="rect">
            <a:avLst/>
          </a:prstGeom>
          <a:solidFill>
            <a:srgbClr val="EAEFEA"/>
          </a:solidFill>
          <a:ln w="7620">
            <a:solidFill>
              <a:srgbClr val="2C514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spc="120">
                <a:solidFill>
                  <a:srgbClr val="2C5142"/>
                </a:solidFill>
                <a:latin typeface="Segoe UI"/>
              </a:rPr>
              <a:t>SEVERITY</a:t>
            </a:r>
          </a:p>
        </p:txBody>
      </p:sp>
      <p:sp>
        <p:nvSpPr>
          <p:cNvPr id="42" name="TextBox 41"/>
          <p:cNvSpPr txBox="1"/>
          <p:nvPr/>
        </p:nvSpPr>
        <p:spPr>
          <a:xfrm>
            <a:off x="4548682" y="4663440"/>
            <a:ext cx="3080613" cy="256032"/>
          </a:xfrm>
          <a:prstGeom prst="rect">
            <a:avLst/>
          </a:prstGeom>
          <a:noFill/>
        </p:spPr>
        <p:txBody>
          <a:bodyPr wrap="square" lIns="0" rIns="0" tIns="0" bIns="0" anchor="t">
            <a:spAutoFit/>
          </a:bodyPr>
          <a:lstStyle/>
          <a:p>
            <a:pPr algn="l"/>
            <a:r>
              <a:rPr sz="1200" b="1" u="none" spc="40">
                <a:solidFill>
                  <a:srgbClr val="2C5142"/>
                </a:solidFill>
                <a:latin typeface="Segoe UI"/>
              </a:rPr>
              <a:t>HYBRID SCORING</a:t>
            </a:r>
          </a:p>
        </p:txBody>
      </p:sp>
      <p:sp>
        <p:nvSpPr>
          <p:cNvPr id="43" name="TextBox 42"/>
          <p:cNvSpPr txBox="1"/>
          <p:nvPr/>
        </p:nvSpPr>
        <p:spPr>
          <a:xfrm>
            <a:off x="4548682" y="5029200"/>
            <a:ext cx="3080613" cy="822960"/>
          </a:xfrm>
          <a:prstGeom prst="rect">
            <a:avLst/>
          </a:prstGeom>
          <a:noFill/>
        </p:spPr>
        <p:txBody>
          <a:bodyPr wrap="square" lIns="0" rIns="0" tIns="0" bIns="0">
            <a:spAutoFit/>
          </a:bodyPr>
          <a:lstStyle/>
          <a:p>
            <a:pPr>
              <a:lnSpc>
                <a:spcPct val="124000"/>
              </a:lnSpc>
            </a:pPr>
            <a:r>
              <a:rPr sz="850" b="1">
                <a:solidFill>
                  <a:srgbClr val="2C5142"/>
                </a:solidFill>
                <a:latin typeface="Segoe UI"/>
              </a:rPr>
              <a:t>▪  </a:t>
            </a:r>
            <a:r>
              <a:rPr sz="1050">
                <a:solidFill>
                  <a:srgbClr val="4A4640"/>
                </a:solidFill>
                <a:latin typeface="Segoe UI"/>
              </a:rPr>
              <a:t>3 severity prototypes, P1 / P2 / P3</a:t>
            </a:r>
          </a:p>
        </p:txBody>
      </p:sp>
      <p:sp>
        <p:nvSpPr>
          <p:cNvPr id="44" name="TextBox 43"/>
          <p:cNvSpPr txBox="1"/>
          <p:nvPr/>
        </p:nvSpPr>
        <p:spPr>
          <a:xfrm>
            <a:off x="4548682" y="5258129"/>
            <a:ext cx="3080613" cy="822960"/>
          </a:xfrm>
          <a:prstGeom prst="rect">
            <a:avLst/>
          </a:prstGeom>
          <a:noFill/>
        </p:spPr>
        <p:txBody>
          <a:bodyPr wrap="square" lIns="0" rIns="0" tIns="0" bIns="0">
            <a:spAutoFit/>
          </a:bodyPr>
          <a:lstStyle/>
          <a:p>
            <a:pPr>
              <a:lnSpc>
                <a:spcPct val="124000"/>
              </a:lnSpc>
            </a:pPr>
            <a:r>
              <a:rPr sz="850" b="1">
                <a:solidFill>
                  <a:srgbClr val="2C5142"/>
                </a:solidFill>
                <a:latin typeface="Segoe UI"/>
              </a:rPr>
              <a:t>▪  </a:t>
            </a:r>
            <a:r>
              <a:rPr sz="1050">
                <a:solidFill>
                  <a:srgbClr val="4A4640"/>
                </a:solidFill>
                <a:latin typeface="Segoe UI"/>
              </a:rPr>
              <a:t>9-rule signed hazard lexicon, weight x2</a:t>
            </a:r>
          </a:p>
        </p:txBody>
      </p:sp>
      <p:sp>
        <p:nvSpPr>
          <p:cNvPr id="45" name="TextBox 44"/>
          <p:cNvSpPr txBox="1"/>
          <p:nvPr/>
        </p:nvSpPr>
        <p:spPr>
          <a:xfrm>
            <a:off x="4548682" y="5487058"/>
            <a:ext cx="3080613" cy="822960"/>
          </a:xfrm>
          <a:prstGeom prst="rect">
            <a:avLst/>
          </a:prstGeom>
          <a:noFill/>
        </p:spPr>
        <p:txBody>
          <a:bodyPr wrap="square" lIns="0" rIns="0" tIns="0" bIns="0">
            <a:spAutoFit/>
          </a:bodyPr>
          <a:lstStyle/>
          <a:p>
            <a:pPr>
              <a:lnSpc>
                <a:spcPct val="124000"/>
              </a:lnSpc>
            </a:pPr>
            <a:r>
              <a:rPr sz="850" b="1">
                <a:solidFill>
                  <a:srgbClr val="2C5142"/>
                </a:solidFill>
                <a:latin typeface="Segoe UI"/>
              </a:rPr>
              <a:t>▪  </a:t>
            </a:r>
            <a:r>
              <a:rPr sz="1050">
                <a:solidFill>
                  <a:srgbClr val="4A4640"/>
                </a:solidFill>
                <a:latin typeface="Segoe UI"/>
              </a:rPr>
              <a:t>Grid-searched on the labelled set</a:t>
            </a:r>
          </a:p>
        </p:txBody>
      </p:sp>
      <p:sp>
        <p:nvSpPr>
          <p:cNvPr id="46" name="TextBox 45"/>
          <p:cNvSpPr txBox="1"/>
          <p:nvPr/>
        </p:nvSpPr>
        <p:spPr>
          <a:xfrm>
            <a:off x="4548682" y="5715987"/>
            <a:ext cx="3080613" cy="822960"/>
          </a:xfrm>
          <a:prstGeom prst="rect">
            <a:avLst/>
          </a:prstGeom>
          <a:noFill/>
        </p:spPr>
        <p:txBody>
          <a:bodyPr wrap="square" lIns="0" rIns="0" tIns="0" bIns="0">
            <a:spAutoFit/>
          </a:bodyPr>
          <a:lstStyle/>
          <a:p>
            <a:pPr>
              <a:lnSpc>
                <a:spcPct val="124000"/>
              </a:lnSpc>
            </a:pPr>
            <a:r>
              <a:rPr sz="850" b="1">
                <a:solidFill>
                  <a:srgbClr val="2C5142"/>
                </a:solidFill>
                <a:latin typeface="Segoe UI"/>
              </a:rPr>
              <a:t>▪  </a:t>
            </a:r>
            <a:r>
              <a:rPr sz="1050">
                <a:solidFill>
                  <a:srgbClr val="4A4640"/>
                </a:solidFill>
                <a:latin typeface="Segoe UI"/>
              </a:rPr>
              <a:t>84.6% P1 recall</a:t>
            </a:r>
          </a:p>
        </p:txBody>
      </p:sp>
      <p:sp>
        <p:nvSpPr>
          <p:cNvPr id="47" name="TextBox 46"/>
          <p:cNvSpPr txBox="1"/>
          <p:nvPr/>
        </p:nvSpPr>
        <p:spPr>
          <a:xfrm>
            <a:off x="4548682" y="5944916"/>
            <a:ext cx="3080613" cy="822960"/>
          </a:xfrm>
          <a:prstGeom prst="rect">
            <a:avLst/>
          </a:prstGeom>
          <a:noFill/>
        </p:spPr>
        <p:txBody>
          <a:bodyPr wrap="square" lIns="0" rIns="0" tIns="0" bIns="0">
            <a:spAutoFit/>
          </a:bodyPr>
          <a:lstStyle/>
          <a:p>
            <a:pPr>
              <a:lnSpc>
                <a:spcPct val="124000"/>
              </a:lnSpc>
            </a:pPr>
            <a:r>
              <a:rPr sz="850" b="1">
                <a:solidFill>
                  <a:srgbClr val="2C5142"/>
                </a:solidFill>
                <a:latin typeface="Segoe UI"/>
              </a:rPr>
              <a:t>▪  </a:t>
            </a:r>
            <a:r>
              <a:rPr sz="1050">
                <a:solidFill>
                  <a:srgbClr val="4A4640"/>
                </a:solidFill>
                <a:latin typeface="Segoe UI"/>
              </a:rPr>
              <a:t>Zero true P1 demoted to routine</a:t>
            </a:r>
          </a:p>
        </p:txBody>
      </p:sp>
      <p:sp>
        <p:nvSpPr>
          <p:cNvPr id="48" name="Rounded Rectangle 47"/>
          <p:cNvSpPr/>
          <p:nvPr/>
        </p:nvSpPr>
        <p:spPr>
          <a:xfrm>
            <a:off x="8038490" y="4279392"/>
            <a:ext cx="3556101" cy="2066543"/>
          </a:xfrm>
          <a:prstGeom prst="roundRect">
            <a:avLst>
              <a:gd name="adj" fmla="val 800"/>
            </a:avLst>
          </a:prstGeom>
          <a:solidFill>
            <a:srgbClr val="FFFFFF"/>
          </a:solidFill>
          <a:ln w="9525">
            <a:solidFill>
              <a:srgbClr val="E0DC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9286189" y="4160520"/>
            <a:ext cx="1060704" cy="237744"/>
          </a:xfrm>
          <a:prstGeom prst="rect">
            <a:avLst/>
          </a:prstGeom>
          <a:solidFill>
            <a:srgbClr val="EAEFEA"/>
          </a:solidFill>
          <a:ln w="7620">
            <a:solidFill>
              <a:srgbClr val="2C514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spc="120">
                <a:solidFill>
                  <a:srgbClr val="2C5142"/>
                </a:solidFill>
                <a:latin typeface="Segoe UI"/>
              </a:rPr>
              <a:t>DELIVERY</a:t>
            </a:r>
          </a:p>
        </p:txBody>
      </p:sp>
      <p:sp>
        <p:nvSpPr>
          <p:cNvPr id="50" name="TextBox 49"/>
          <p:cNvSpPr txBox="1"/>
          <p:nvPr/>
        </p:nvSpPr>
        <p:spPr>
          <a:xfrm>
            <a:off x="8276234" y="4663440"/>
            <a:ext cx="3080613" cy="256032"/>
          </a:xfrm>
          <a:prstGeom prst="rect">
            <a:avLst/>
          </a:prstGeom>
          <a:noFill/>
        </p:spPr>
        <p:txBody>
          <a:bodyPr wrap="square" lIns="0" rIns="0" tIns="0" bIns="0" anchor="t">
            <a:spAutoFit/>
          </a:bodyPr>
          <a:lstStyle/>
          <a:p>
            <a:pPr algn="l"/>
            <a:r>
              <a:rPr sz="1200" b="1" u="none" spc="40">
                <a:solidFill>
                  <a:srgbClr val="2C5142"/>
                </a:solidFill>
                <a:latin typeface="Segoe UI"/>
              </a:rPr>
              <a:t>SERVING AND UI</a:t>
            </a:r>
          </a:p>
        </p:txBody>
      </p:sp>
      <p:sp>
        <p:nvSpPr>
          <p:cNvPr id="51" name="TextBox 50"/>
          <p:cNvSpPr txBox="1"/>
          <p:nvPr/>
        </p:nvSpPr>
        <p:spPr>
          <a:xfrm>
            <a:off x="8276234" y="5029200"/>
            <a:ext cx="3080613" cy="822960"/>
          </a:xfrm>
          <a:prstGeom prst="rect">
            <a:avLst/>
          </a:prstGeom>
          <a:noFill/>
        </p:spPr>
        <p:txBody>
          <a:bodyPr wrap="square" lIns="0" rIns="0" tIns="0" bIns="0">
            <a:spAutoFit/>
          </a:bodyPr>
          <a:lstStyle/>
          <a:p>
            <a:pPr>
              <a:lnSpc>
                <a:spcPct val="124000"/>
              </a:lnSpc>
            </a:pPr>
            <a:r>
              <a:rPr sz="850" b="1">
                <a:solidFill>
                  <a:srgbClr val="2C5142"/>
                </a:solidFill>
                <a:latin typeface="Segoe UI"/>
              </a:rPr>
              <a:t>▪  </a:t>
            </a:r>
            <a:r>
              <a:rPr sz="1050">
                <a:solidFill>
                  <a:srgbClr val="4A4640"/>
                </a:solidFill>
                <a:latin typeface="Segoe UI"/>
              </a:rPr>
              <a:t>Next.js 16 App Router, React 19</a:t>
            </a:r>
          </a:p>
        </p:txBody>
      </p:sp>
      <p:sp>
        <p:nvSpPr>
          <p:cNvPr id="52" name="TextBox 51"/>
          <p:cNvSpPr txBox="1"/>
          <p:nvPr/>
        </p:nvSpPr>
        <p:spPr>
          <a:xfrm>
            <a:off x="8276234" y="5258129"/>
            <a:ext cx="3080613" cy="822960"/>
          </a:xfrm>
          <a:prstGeom prst="rect">
            <a:avLst/>
          </a:prstGeom>
          <a:noFill/>
        </p:spPr>
        <p:txBody>
          <a:bodyPr wrap="square" lIns="0" rIns="0" tIns="0" bIns="0">
            <a:spAutoFit/>
          </a:bodyPr>
          <a:lstStyle/>
          <a:p>
            <a:pPr>
              <a:lnSpc>
                <a:spcPct val="124000"/>
              </a:lnSpc>
            </a:pPr>
            <a:r>
              <a:rPr sz="850" b="1">
                <a:solidFill>
                  <a:srgbClr val="2C5142"/>
                </a:solidFill>
                <a:latin typeface="Segoe UI"/>
              </a:rPr>
              <a:t>▪  </a:t>
            </a:r>
            <a:r>
              <a:rPr sz="1050">
                <a:solidFill>
                  <a:srgbClr val="4A4640"/>
                </a:solidFill>
                <a:latin typeface="Segoe UI"/>
              </a:rPr>
              <a:t>TypeScript throughout, strict</a:t>
            </a:r>
          </a:p>
        </p:txBody>
      </p:sp>
      <p:sp>
        <p:nvSpPr>
          <p:cNvPr id="53" name="TextBox 52"/>
          <p:cNvSpPr txBox="1"/>
          <p:nvPr/>
        </p:nvSpPr>
        <p:spPr>
          <a:xfrm>
            <a:off x="8276234" y="5487058"/>
            <a:ext cx="3080613" cy="822960"/>
          </a:xfrm>
          <a:prstGeom prst="rect">
            <a:avLst/>
          </a:prstGeom>
          <a:noFill/>
        </p:spPr>
        <p:txBody>
          <a:bodyPr wrap="square" lIns="0" rIns="0" tIns="0" bIns="0">
            <a:spAutoFit/>
          </a:bodyPr>
          <a:lstStyle/>
          <a:p>
            <a:pPr>
              <a:lnSpc>
                <a:spcPct val="124000"/>
              </a:lnSpc>
            </a:pPr>
            <a:r>
              <a:rPr sz="850" b="1">
                <a:solidFill>
                  <a:srgbClr val="2C5142"/>
                </a:solidFill>
                <a:latin typeface="Segoe UI"/>
              </a:rPr>
              <a:t>▪  </a:t>
            </a:r>
            <a:r>
              <a:rPr sz="1050">
                <a:solidFill>
                  <a:srgbClr val="4A4640"/>
                </a:solidFill>
                <a:latin typeface="Segoe UI"/>
              </a:rPr>
              <a:t>Tailwind v4, single light theme</a:t>
            </a:r>
          </a:p>
        </p:txBody>
      </p:sp>
      <p:sp>
        <p:nvSpPr>
          <p:cNvPr id="54" name="TextBox 53"/>
          <p:cNvSpPr txBox="1"/>
          <p:nvPr/>
        </p:nvSpPr>
        <p:spPr>
          <a:xfrm>
            <a:off x="8276234" y="5715987"/>
            <a:ext cx="3080613" cy="822960"/>
          </a:xfrm>
          <a:prstGeom prst="rect">
            <a:avLst/>
          </a:prstGeom>
          <a:noFill/>
        </p:spPr>
        <p:txBody>
          <a:bodyPr wrap="square" lIns="0" rIns="0" tIns="0" bIns="0">
            <a:spAutoFit/>
          </a:bodyPr>
          <a:lstStyle/>
          <a:p>
            <a:pPr>
              <a:lnSpc>
                <a:spcPct val="124000"/>
              </a:lnSpc>
            </a:pPr>
            <a:r>
              <a:rPr sz="850" b="1">
                <a:solidFill>
                  <a:srgbClr val="2C5142"/>
                </a:solidFill>
                <a:latin typeface="Segoe UI"/>
              </a:rPr>
              <a:t>▪  </a:t>
            </a:r>
            <a:r>
              <a:rPr sz="1050">
                <a:solidFill>
                  <a:srgbClr val="4A4640"/>
                </a:solidFill>
                <a:latin typeface="Segoe UI"/>
              </a:rPr>
              <a:t>Static pages on Vercel</a:t>
            </a:r>
          </a:p>
        </p:txBody>
      </p:sp>
      <p:sp>
        <p:nvSpPr>
          <p:cNvPr id="55" name="TextBox 54"/>
          <p:cNvSpPr txBox="1"/>
          <p:nvPr/>
        </p:nvSpPr>
        <p:spPr>
          <a:xfrm>
            <a:off x="8276234" y="5944916"/>
            <a:ext cx="3080613" cy="822960"/>
          </a:xfrm>
          <a:prstGeom prst="rect">
            <a:avLst/>
          </a:prstGeom>
          <a:noFill/>
        </p:spPr>
        <p:txBody>
          <a:bodyPr wrap="square" lIns="0" rIns="0" tIns="0" bIns="0">
            <a:spAutoFit/>
          </a:bodyPr>
          <a:lstStyle/>
          <a:p>
            <a:pPr>
              <a:lnSpc>
                <a:spcPct val="124000"/>
              </a:lnSpc>
            </a:pPr>
            <a:r>
              <a:rPr sz="850" b="1">
                <a:solidFill>
                  <a:srgbClr val="2C5142"/>
                </a:solidFill>
                <a:latin typeface="Segoe UI"/>
              </a:rPr>
              <a:t>▪  </a:t>
            </a:r>
            <a:r>
              <a:rPr sz="1050">
                <a:solidFill>
                  <a:srgbClr val="4A4640"/>
                </a:solidFill>
                <a:latin typeface="Segoe UI"/>
              </a:rPr>
              <a:t>No server-side inference to pay for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3387" y="402336"/>
            <a:ext cx="9144000" cy="603504"/>
          </a:xfrm>
          <a:prstGeom prst="rect">
            <a:avLst/>
          </a:prstGeom>
          <a:noFill/>
        </p:spPr>
        <p:txBody>
          <a:bodyPr wrap="square" lIns="0" rIns="0" tIns="0" bIns="0" anchor="t">
            <a:spAutoFit/>
          </a:bodyPr>
          <a:lstStyle/>
          <a:p>
            <a:pPr algn="l"/>
            <a:r>
              <a:rPr sz="3100" b="0" u="none">
                <a:solidFill>
                  <a:srgbClr val="1C1A17"/>
                </a:solidFill>
                <a:latin typeface="Georgia"/>
              </a:rPr>
              <a:t>System Architecture and Workflow</a:t>
            </a:r>
          </a:p>
        </p:txBody>
      </p:sp>
      <p:sp>
        <p:nvSpPr>
          <p:cNvPr id="4" name="Rectangle 3"/>
          <p:cNvSpPr/>
          <p:nvPr/>
        </p:nvSpPr>
        <p:spPr>
          <a:xfrm>
            <a:off x="583387" y="1060704"/>
            <a:ext cx="960120" cy="25603"/>
          </a:xfrm>
          <a:prstGeom prst="rect">
            <a:avLst/>
          </a:prstGeom>
          <a:solidFill>
            <a:srgbClr val="2C5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83387" y="1207008"/>
            <a:ext cx="9692640" cy="310896"/>
          </a:xfrm>
          <a:prstGeom prst="rect">
            <a:avLst/>
          </a:prstGeom>
          <a:noFill/>
        </p:spPr>
        <p:txBody>
          <a:bodyPr wrap="square" lIns="0" rIns="0" tIns="0" bIns="0" anchor="t">
            <a:spAutoFit/>
          </a:bodyPr>
          <a:lstStyle/>
          <a:p>
            <a:pPr algn="l"/>
            <a:r>
              <a:rPr sz="1250" b="0" u="none">
                <a:solidFill>
                  <a:srgbClr val="4A4640"/>
                </a:solidFill>
                <a:latin typeface="Segoe UI"/>
              </a:rPr>
              <a:t>One inbox, from raw messages to a ranked incident queue, entirely in the tab.</a:t>
            </a:r>
          </a:p>
        </p:txBody>
      </p:sp>
      <p:sp>
        <p:nvSpPr>
          <p:cNvPr id="6" name="TextBox 5"/>
          <p:cNvSpPr txBox="1"/>
          <p:nvPr/>
        </p:nvSpPr>
        <p:spPr>
          <a:xfrm>
            <a:off x="9326880" y="457200"/>
            <a:ext cx="2286000" cy="310896"/>
          </a:xfrm>
          <a:prstGeom prst="rect">
            <a:avLst/>
          </a:prstGeom>
          <a:noFill/>
        </p:spPr>
        <p:txBody>
          <a:bodyPr wrap="square" lIns="0" rIns="0" tIns="0" bIns="0" anchor="t">
            <a:spAutoFit/>
          </a:bodyPr>
          <a:lstStyle/>
          <a:p>
            <a:pPr algn="r"/>
            <a:r>
              <a:rPr sz="1500" b="1" u="none">
                <a:solidFill>
                  <a:srgbClr val="1C1A17"/>
                </a:solidFill>
                <a:latin typeface="Georgia"/>
              </a:rPr>
              <a:t>ONDRU</a:t>
            </a:r>
          </a:p>
        </p:txBody>
      </p:sp>
      <p:sp>
        <p:nvSpPr>
          <p:cNvPr id="7" name="TextBox 6"/>
          <p:cNvSpPr txBox="1"/>
          <p:nvPr/>
        </p:nvSpPr>
        <p:spPr>
          <a:xfrm>
            <a:off x="9326880" y="749808"/>
            <a:ext cx="2286000" cy="237744"/>
          </a:xfrm>
          <a:prstGeom prst="rect">
            <a:avLst/>
          </a:prstGeom>
          <a:noFill/>
        </p:spPr>
        <p:txBody>
          <a:bodyPr wrap="square" lIns="0" rIns="0" tIns="0" bIns="0" anchor="t">
            <a:spAutoFit/>
          </a:bodyPr>
          <a:lstStyle/>
          <a:p>
            <a:pPr algn="r"/>
            <a:r>
              <a:rPr sz="900" b="0" u="none" spc="40">
                <a:solidFill>
                  <a:srgbClr val="8A8478"/>
                </a:solidFill>
                <a:latin typeface="Segoe UI"/>
              </a:rPr>
              <a:t>many voices, one issue</a:t>
            </a:r>
          </a:p>
        </p:txBody>
      </p:sp>
      <p:sp>
        <p:nvSpPr>
          <p:cNvPr id="8" name="Rounded Rectangle 7"/>
          <p:cNvSpPr/>
          <p:nvPr/>
        </p:nvSpPr>
        <p:spPr>
          <a:xfrm>
            <a:off x="583387" y="1847088"/>
            <a:ext cx="8732520" cy="3931920"/>
          </a:xfrm>
          <a:prstGeom prst="roundRect">
            <a:avLst>
              <a:gd name="adj" fmla="val 800"/>
            </a:avLst>
          </a:prstGeom>
          <a:solidFill>
            <a:srgbClr val="FFFFFF"/>
          </a:solidFill>
          <a:ln w="9525">
            <a:solidFill>
              <a:srgbClr val="E0DC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arch.png"/>
          <p:cNvPicPr>
            <a:picLocks noChangeAspect="1"/>
          </p:cNvPicPr>
          <p:nvPr/>
        </p:nvPicPr>
        <p:blipFill>
          <a:blip r:embed="rId2"/>
          <a:stretch>
            <a:fillRect/>
          </a:stretch>
        </p:blipFill>
        <p:spPr>
          <a:xfrm>
            <a:off x="674827" y="1956816"/>
            <a:ext cx="8549640" cy="3020873"/>
          </a:xfrm>
          <a:prstGeom prst="rect">
            <a:avLst/>
          </a:prstGeom>
        </p:spPr>
      </p:pic>
      <p:sp>
        <p:nvSpPr>
          <p:cNvPr id="10" name="Rounded Rectangle 9"/>
          <p:cNvSpPr/>
          <p:nvPr/>
        </p:nvSpPr>
        <p:spPr>
          <a:xfrm>
            <a:off x="9535363" y="1956816"/>
            <a:ext cx="2072944" cy="1810512"/>
          </a:xfrm>
          <a:prstGeom prst="roundRect">
            <a:avLst>
              <a:gd name="adj" fmla="val 800"/>
            </a:avLst>
          </a:prstGeom>
          <a:solidFill>
            <a:srgbClr val="F4F1E9"/>
          </a:solidFill>
          <a:ln w="9525">
            <a:solidFill>
              <a:srgbClr val="E0DC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588855" y="1837943"/>
            <a:ext cx="1965960" cy="237744"/>
          </a:xfrm>
          <a:prstGeom prst="rect">
            <a:avLst/>
          </a:prstGeom>
          <a:solidFill>
            <a:srgbClr val="EAEFEA"/>
          </a:solidFill>
          <a:ln w="7620">
            <a:solidFill>
              <a:srgbClr val="2C514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spc="120">
                <a:solidFill>
                  <a:srgbClr val="2C5142"/>
                </a:solidFill>
                <a:latin typeface="Segoe UI"/>
              </a:rPr>
              <a:t>WHY COMPLETE LINKAGE</a:t>
            </a:r>
          </a:p>
        </p:txBody>
      </p:sp>
      <p:sp>
        <p:nvSpPr>
          <p:cNvPr id="12" name="TextBox 11"/>
          <p:cNvSpPr txBox="1"/>
          <p:nvPr/>
        </p:nvSpPr>
        <p:spPr>
          <a:xfrm>
            <a:off x="9754819" y="2286000"/>
            <a:ext cx="1634032" cy="822960"/>
          </a:xfrm>
          <a:prstGeom prst="rect">
            <a:avLst/>
          </a:prstGeom>
          <a:noFill/>
        </p:spPr>
        <p:txBody>
          <a:bodyPr wrap="square" lIns="0" rIns="0" tIns="0" bIns="0">
            <a:spAutoFit/>
          </a:bodyPr>
          <a:lstStyle/>
          <a:p>
            <a:pPr>
              <a:lnSpc>
                <a:spcPct val="124000"/>
              </a:lnSpc>
            </a:pPr>
            <a:r>
              <a:rPr sz="800" b="1">
                <a:solidFill>
                  <a:srgbClr val="2C5142"/>
                </a:solidFill>
                <a:latin typeface="Segoe UI"/>
              </a:rPr>
              <a:t>▪  </a:t>
            </a:r>
            <a:r>
              <a:rPr sz="1000">
                <a:solidFill>
                  <a:srgbClr val="4A4640"/>
                </a:solidFill>
                <a:latin typeface="Segoe UI"/>
              </a:rPr>
              <a:t>Single linkage chains A to C through any middling B.</a:t>
            </a:r>
          </a:p>
        </p:txBody>
      </p:sp>
      <p:sp>
        <p:nvSpPr>
          <p:cNvPr id="13" name="TextBox 12"/>
          <p:cNvSpPr txBox="1"/>
          <p:nvPr/>
        </p:nvSpPr>
        <p:spPr>
          <a:xfrm>
            <a:off x="9754819" y="2855305"/>
            <a:ext cx="1634032" cy="822960"/>
          </a:xfrm>
          <a:prstGeom prst="rect">
            <a:avLst/>
          </a:prstGeom>
          <a:noFill/>
        </p:spPr>
        <p:txBody>
          <a:bodyPr wrap="square" lIns="0" rIns="0" tIns="0" bIns="0">
            <a:spAutoFit/>
          </a:bodyPr>
          <a:lstStyle/>
          <a:p>
            <a:pPr>
              <a:lnSpc>
                <a:spcPct val="124000"/>
              </a:lnSpc>
            </a:pPr>
            <a:r>
              <a:rPr sz="800" b="1">
                <a:solidFill>
                  <a:srgbClr val="2C5142"/>
                </a:solidFill>
                <a:latin typeface="Segoe UI"/>
              </a:rPr>
              <a:t>▪  </a:t>
            </a:r>
            <a:r>
              <a:rPr sz="1000">
                <a:solidFill>
                  <a:srgbClr val="4A4640"/>
                </a:solidFill>
                <a:latin typeface="Segoe UI"/>
              </a:rPr>
              <a:t>Here the Ukkadam and Sungam drain reports would merge.</a:t>
            </a:r>
          </a:p>
        </p:txBody>
      </p:sp>
      <p:sp>
        <p:nvSpPr>
          <p:cNvPr id="14" name="TextBox 13"/>
          <p:cNvSpPr txBox="1"/>
          <p:nvPr/>
        </p:nvSpPr>
        <p:spPr>
          <a:xfrm>
            <a:off x="9754819" y="3424610"/>
            <a:ext cx="1634032" cy="822960"/>
          </a:xfrm>
          <a:prstGeom prst="rect">
            <a:avLst/>
          </a:prstGeom>
          <a:noFill/>
        </p:spPr>
        <p:txBody>
          <a:bodyPr wrap="square" lIns="0" rIns="0" tIns="0" bIns="0">
            <a:spAutoFit/>
          </a:bodyPr>
          <a:lstStyle/>
          <a:p>
            <a:pPr>
              <a:lnSpc>
                <a:spcPct val="124000"/>
              </a:lnSpc>
            </a:pPr>
            <a:r>
              <a:rPr sz="800" b="1">
                <a:solidFill>
                  <a:srgbClr val="2C5142"/>
                </a:solidFill>
                <a:latin typeface="Segoe UI"/>
              </a:rPr>
              <a:t>▪  </a:t>
            </a:r>
            <a:r>
              <a:rPr sz="1000">
                <a:solidFill>
                  <a:srgbClr val="4A4640"/>
                </a:solidFill>
                <a:latin typeface="Segoe UI"/>
              </a:rPr>
              <a:t>One then hides behind the other and closes with it.</a:t>
            </a:r>
          </a:p>
        </p:txBody>
      </p:sp>
      <p:sp>
        <p:nvSpPr>
          <p:cNvPr id="15" name="Rounded Rectangle 14"/>
          <p:cNvSpPr/>
          <p:nvPr/>
        </p:nvSpPr>
        <p:spPr>
          <a:xfrm>
            <a:off x="9535363" y="3986783"/>
            <a:ext cx="2072944" cy="1792224"/>
          </a:xfrm>
          <a:prstGeom prst="roundRect">
            <a:avLst>
              <a:gd name="adj" fmla="val 800"/>
            </a:avLst>
          </a:prstGeom>
          <a:solidFill>
            <a:srgbClr val="FBF3E6"/>
          </a:solidFill>
          <a:ln w="9525">
            <a:solidFill>
              <a:srgbClr val="8A64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9680295" y="3867912"/>
            <a:ext cx="1783080" cy="237744"/>
          </a:xfrm>
          <a:prstGeom prst="rect">
            <a:avLst/>
          </a:prstGeom>
          <a:solidFill>
            <a:srgbClr val="FBF3E6"/>
          </a:solidFill>
          <a:ln w="7620">
            <a:solidFill>
              <a:srgbClr val="8A6414"/>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spc="120">
                <a:solidFill>
                  <a:srgbClr val="8A6414"/>
                </a:solidFill>
                <a:latin typeface="Segoe UI"/>
              </a:rPr>
              <a:t>ASYMMETRIC ERRORS</a:t>
            </a:r>
          </a:p>
        </p:txBody>
      </p:sp>
      <p:sp>
        <p:nvSpPr>
          <p:cNvPr id="17" name="TextBox 16"/>
          <p:cNvSpPr txBox="1"/>
          <p:nvPr/>
        </p:nvSpPr>
        <p:spPr>
          <a:xfrm>
            <a:off x="9754819" y="4315968"/>
            <a:ext cx="1634032" cy="822960"/>
          </a:xfrm>
          <a:prstGeom prst="rect">
            <a:avLst/>
          </a:prstGeom>
          <a:noFill/>
        </p:spPr>
        <p:txBody>
          <a:bodyPr wrap="square" lIns="0" rIns="0" tIns="0" bIns="0">
            <a:spAutoFit/>
          </a:bodyPr>
          <a:lstStyle/>
          <a:p>
            <a:pPr>
              <a:lnSpc>
                <a:spcPct val="124000"/>
              </a:lnSpc>
            </a:pPr>
            <a:r>
              <a:rPr sz="800" b="1">
                <a:solidFill>
                  <a:srgbClr val="2C5142"/>
                </a:solidFill>
                <a:latin typeface="Segoe UI"/>
              </a:rPr>
              <a:t>▪  </a:t>
            </a:r>
            <a:r>
              <a:rPr sz="1000">
                <a:solidFill>
                  <a:srgbClr val="4A4640"/>
                </a:solidFill>
                <a:latin typeface="Segoe UI"/>
              </a:rPr>
              <a:t>Splitting one incident into two cards wastes thirty seconds.</a:t>
            </a:r>
          </a:p>
        </p:txBody>
      </p:sp>
      <p:sp>
        <p:nvSpPr>
          <p:cNvPr id="18" name="TextBox 17"/>
          <p:cNvSpPr txBox="1"/>
          <p:nvPr/>
        </p:nvSpPr>
        <p:spPr>
          <a:xfrm>
            <a:off x="9754819" y="4885273"/>
            <a:ext cx="1634032" cy="822960"/>
          </a:xfrm>
          <a:prstGeom prst="rect">
            <a:avLst/>
          </a:prstGeom>
          <a:noFill/>
        </p:spPr>
        <p:txBody>
          <a:bodyPr wrap="square" lIns="0" rIns="0" tIns="0" bIns="0">
            <a:spAutoFit/>
          </a:bodyPr>
          <a:lstStyle/>
          <a:p>
            <a:pPr>
              <a:lnSpc>
                <a:spcPct val="124000"/>
              </a:lnSpc>
            </a:pPr>
            <a:r>
              <a:rPr sz="800" b="1">
                <a:solidFill>
                  <a:srgbClr val="2C5142"/>
                </a:solidFill>
                <a:latin typeface="Segoe UI"/>
              </a:rPr>
              <a:t>▪  </a:t>
            </a:r>
            <a:r>
              <a:rPr sz="1000">
                <a:solidFill>
                  <a:srgbClr val="4A4640"/>
                </a:solidFill>
                <a:latin typeface="Segoe UI"/>
              </a:rPr>
              <a:t>Merging two incidents into one loses a complaint.</a:t>
            </a:r>
          </a:p>
        </p:txBody>
      </p:sp>
      <p:sp>
        <p:nvSpPr>
          <p:cNvPr id="19" name="TextBox 18"/>
          <p:cNvSpPr txBox="1"/>
          <p:nvPr/>
        </p:nvSpPr>
        <p:spPr>
          <a:xfrm>
            <a:off x="9754819" y="5454578"/>
            <a:ext cx="1634032" cy="822960"/>
          </a:xfrm>
          <a:prstGeom prst="rect">
            <a:avLst/>
          </a:prstGeom>
          <a:noFill/>
        </p:spPr>
        <p:txBody>
          <a:bodyPr wrap="square" lIns="0" rIns="0" tIns="0" bIns="0">
            <a:spAutoFit/>
          </a:bodyPr>
          <a:lstStyle/>
          <a:p>
            <a:pPr>
              <a:lnSpc>
                <a:spcPct val="124000"/>
              </a:lnSpc>
            </a:pPr>
            <a:r>
              <a:rPr sz="800" b="1">
                <a:solidFill>
                  <a:srgbClr val="2C5142"/>
                </a:solidFill>
                <a:latin typeface="Segoe UI"/>
              </a:rPr>
              <a:t>▪  </a:t>
            </a:r>
            <a:r>
              <a:rPr sz="1000">
                <a:solidFill>
                  <a:srgbClr val="4A4640"/>
                </a:solidFill>
                <a:latin typeface="Segoe UI"/>
              </a:rPr>
              <a:t>So the threshold sits tight of the F1 peak.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3387" y="402336"/>
            <a:ext cx="9144000" cy="603504"/>
          </a:xfrm>
          <a:prstGeom prst="rect">
            <a:avLst/>
          </a:prstGeom>
          <a:noFill/>
        </p:spPr>
        <p:txBody>
          <a:bodyPr wrap="square" lIns="0" rIns="0" tIns="0" bIns="0" anchor="t">
            <a:spAutoFit/>
          </a:bodyPr>
          <a:lstStyle/>
          <a:p>
            <a:pPr algn="l"/>
            <a:r>
              <a:rPr sz="3100" b="0" u="none">
                <a:solidFill>
                  <a:srgbClr val="1C1A17"/>
                </a:solidFill>
                <a:latin typeface="Georgia"/>
              </a:rPr>
              <a:t>Innovation and Existing Solutions</a:t>
            </a:r>
          </a:p>
        </p:txBody>
      </p:sp>
      <p:sp>
        <p:nvSpPr>
          <p:cNvPr id="4" name="Rectangle 3"/>
          <p:cNvSpPr/>
          <p:nvPr/>
        </p:nvSpPr>
        <p:spPr>
          <a:xfrm>
            <a:off x="583387" y="1060704"/>
            <a:ext cx="960120" cy="25603"/>
          </a:xfrm>
          <a:prstGeom prst="rect">
            <a:avLst/>
          </a:prstGeom>
          <a:solidFill>
            <a:srgbClr val="2C5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83387" y="1207008"/>
            <a:ext cx="9692640" cy="310896"/>
          </a:xfrm>
          <a:prstGeom prst="rect">
            <a:avLst/>
          </a:prstGeom>
          <a:noFill/>
        </p:spPr>
        <p:txBody>
          <a:bodyPr wrap="square" lIns="0" rIns="0" tIns="0" bIns="0" anchor="t">
            <a:spAutoFit/>
          </a:bodyPr>
          <a:lstStyle/>
          <a:p>
            <a:pPr algn="l"/>
            <a:r>
              <a:rPr sz="1250" b="0" u="none">
                <a:solidFill>
                  <a:srgbClr val="4A4640"/>
                </a:solidFill>
                <a:latin typeface="Segoe UI"/>
              </a:rPr>
              <a:t>What a ward desk can use today, and where ONDRU sits.</a:t>
            </a:r>
          </a:p>
        </p:txBody>
      </p:sp>
      <p:sp>
        <p:nvSpPr>
          <p:cNvPr id="6" name="TextBox 5"/>
          <p:cNvSpPr txBox="1"/>
          <p:nvPr/>
        </p:nvSpPr>
        <p:spPr>
          <a:xfrm>
            <a:off x="9326880" y="457200"/>
            <a:ext cx="2286000" cy="310896"/>
          </a:xfrm>
          <a:prstGeom prst="rect">
            <a:avLst/>
          </a:prstGeom>
          <a:noFill/>
        </p:spPr>
        <p:txBody>
          <a:bodyPr wrap="square" lIns="0" rIns="0" tIns="0" bIns="0" anchor="t">
            <a:spAutoFit/>
          </a:bodyPr>
          <a:lstStyle/>
          <a:p>
            <a:pPr algn="r"/>
            <a:r>
              <a:rPr sz="1500" b="1" u="none">
                <a:solidFill>
                  <a:srgbClr val="1C1A17"/>
                </a:solidFill>
                <a:latin typeface="Georgia"/>
              </a:rPr>
              <a:t>ONDRU</a:t>
            </a:r>
          </a:p>
        </p:txBody>
      </p:sp>
      <p:sp>
        <p:nvSpPr>
          <p:cNvPr id="7" name="TextBox 6"/>
          <p:cNvSpPr txBox="1"/>
          <p:nvPr/>
        </p:nvSpPr>
        <p:spPr>
          <a:xfrm>
            <a:off x="9326880" y="749808"/>
            <a:ext cx="2286000" cy="237744"/>
          </a:xfrm>
          <a:prstGeom prst="rect">
            <a:avLst/>
          </a:prstGeom>
          <a:noFill/>
        </p:spPr>
        <p:txBody>
          <a:bodyPr wrap="square" lIns="0" rIns="0" tIns="0" bIns="0" anchor="t">
            <a:spAutoFit/>
          </a:bodyPr>
          <a:lstStyle/>
          <a:p>
            <a:pPr algn="r"/>
            <a:r>
              <a:rPr sz="900" b="0" u="none" spc="40">
                <a:solidFill>
                  <a:srgbClr val="8A8478"/>
                </a:solidFill>
                <a:latin typeface="Segoe UI"/>
              </a:rPr>
              <a:t>many voices, one issue</a:t>
            </a:r>
          </a:p>
        </p:txBody>
      </p:sp>
      <p:sp>
        <p:nvSpPr>
          <p:cNvPr id="8" name="Rounded Rectangle 7"/>
          <p:cNvSpPr/>
          <p:nvPr/>
        </p:nvSpPr>
        <p:spPr>
          <a:xfrm>
            <a:off x="583387" y="1792224"/>
            <a:ext cx="11011204" cy="3310128"/>
          </a:xfrm>
          <a:prstGeom prst="roundRect">
            <a:avLst>
              <a:gd name="adj" fmla="val 800"/>
            </a:avLst>
          </a:prstGeom>
          <a:solidFill>
            <a:srgbClr val="FFFFFF"/>
          </a:solidFill>
          <a:ln w="9525">
            <a:solidFill>
              <a:srgbClr val="E0DC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4968849" y="1673352"/>
            <a:ext cx="2240280" cy="237744"/>
          </a:xfrm>
          <a:prstGeom prst="rect">
            <a:avLst/>
          </a:prstGeom>
          <a:solidFill>
            <a:srgbClr val="EAEFEA"/>
          </a:solidFill>
          <a:ln w="7620">
            <a:solidFill>
              <a:srgbClr val="2C514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spc="120">
                <a:solidFill>
                  <a:srgbClr val="2C5142"/>
                </a:solidFill>
                <a:latin typeface="Segoe UI"/>
              </a:rPr>
              <a:t>CAPABILITY COMPARISON</a:t>
            </a:r>
          </a:p>
        </p:txBody>
      </p:sp>
      <p:sp>
        <p:nvSpPr>
          <p:cNvPr id="10" name="TextBox 9"/>
          <p:cNvSpPr txBox="1"/>
          <p:nvPr/>
        </p:nvSpPr>
        <p:spPr>
          <a:xfrm>
            <a:off x="839419" y="2121408"/>
            <a:ext cx="2825496" cy="457200"/>
          </a:xfrm>
          <a:prstGeom prst="rect">
            <a:avLst/>
          </a:prstGeom>
          <a:noFill/>
        </p:spPr>
        <p:txBody>
          <a:bodyPr wrap="square" lIns="0" rIns="0" tIns="0" bIns="0" anchor="t">
            <a:spAutoFit/>
          </a:bodyPr>
          <a:lstStyle/>
          <a:p>
            <a:pPr algn="l"/>
            <a:r>
              <a:rPr sz="850" b="1" u="none" spc="60">
                <a:solidFill>
                  <a:srgbClr val="8A8478"/>
                </a:solidFill>
                <a:latin typeface="Segoe UI"/>
              </a:rPr>
              <a:t>CAPABILITY</a:t>
            </a:r>
          </a:p>
        </p:txBody>
      </p:sp>
      <p:sp>
        <p:nvSpPr>
          <p:cNvPr id="11" name="TextBox 10"/>
          <p:cNvSpPr txBox="1"/>
          <p:nvPr/>
        </p:nvSpPr>
        <p:spPr>
          <a:xfrm>
            <a:off x="3719779" y="2121408"/>
            <a:ext cx="1479864" cy="457200"/>
          </a:xfrm>
          <a:prstGeom prst="rect">
            <a:avLst/>
          </a:prstGeom>
          <a:noFill/>
        </p:spPr>
        <p:txBody>
          <a:bodyPr wrap="square" lIns="0" rIns="0" tIns="0" bIns="0" anchor="t">
            <a:spAutoFit/>
          </a:bodyPr>
          <a:lstStyle/>
          <a:p>
            <a:pPr algn="ctr"/>
            <a:r>
              <a:rPr sz="850" b="1" u="none" spc="60">
                <a:solidFill>
                  <a:srgbClr val="8A8478"/>
                </a:solidFill>
                <a:latin typeface="Segoe UI"/>
              </a:rPr>
              <a:t>MANUAL SORTING</a:t>
            </a:r>
          </a:p>
        </p:txBody>
      </p:sp>
      <p:sp>
        <p:nvSpPr>
          <p:cNvPr id="12" name="TextBox 11"/>
          <p:cNvSpPr txBox="1"/>
          <p:nvPr/>
        </p:nvSpPr>
        <p:spPr>
          <a:xfrm>
            <a:off x="5254508" y="2121408"/>
            <a:ext cx="1479864" cy="457200"/>
          </a:xfrm>
          <a:prstGeom prst="rect">
            <a:avLst/>
          </a:prstGeom>
          <a:noFill/>
        </p:spPr>
        <p:txBody>
          <a:bodyPr wrap="square" lIns="0" rIns="0" tIns="0" bIns="0" anchor="t">
            <a:spAutoFit/>
          </a:bodyPr>
          <a:lstStyle/>
          <a:p>
            <a:pPr algn="ctr"/>
            <a:r>
              <a:rPr sz="850" b="1" u="none" spc="60">
                <a:solidFill>
                  <a:srgbClr val="8A8478"/>
                </a:solidFill>
                <a:latin typeface="Segoe UI"/>
              </a:rPr>
              <a:t>KEYWORD RULES</a:t>
            </a:r>
          </a:p>
        </p:txBody>
      </p:sp>
      <p:sp>
        <p:nvSpPr>
          <p:cNvPr id="13" name="TextBox 12"/>
          <p:cNvSpPr txBox="1"/>
          <p:nvPr/>
        </p:nvSpPr>
        <p:spPr>
          <a:xfrm>
            <a:off x="6789237" y="2121408"/>
            <a:ext cx="1479864" cy="457200"/>
          </a:xfrm>
          <a:prstGeom prst="rect">
            <a:avLst/>
          </a:prstGeom>
          <a:noFill/>
        </p:spPr>
        <p:txBody>
          <a:bodyPr wrap="square" lIns="0" rIns="0" tIns="0" bIns="0" anchor="t">
            <a:spAutoFit/>
          </a:bodyPr>
          <a:lstStyle/>
          <a:p>
            <a:pPr algn="ctr"/>
            <a:r>
              <a:rPr sz="850" b="1" u="none" spc="60">
                <a:solidFill>
                  <a:srgbClr val="8A8478"/>
                </a:solidFill>
                <a:latin typeface="Segoe UI"/>
              </a:rPr>
              <a:t>CLOUD LLM API</a:t>
            </a:r>
          </a:p>
        </p:txBody>
      </p:sp>
      <p:sp>
        <p:nvSpPr>
          <p:cNvPr id="14" name="TextBox 13"/>
          <p:cNvSpPr txBox="1"/>
          <p:nvPr/>
        </p:nvSpPr>
        <p:spPr>
          <a:xfrm>
            <a:off x="8323966" y="2121408"/>
            <a:ext cx="1479864" cy="457200"/>
          </a:xfrm>
          <a:prstGeom prst="rect">
            <a:avLst/>
          </a:prstGeom>
          <a:noFill/>
        </p:spPr>
        <p:txBody>
          <a:bodyPr wrap="square" lIns="0" rIns="0" tIns="0" bIns="0" anchor="t">
            <a:spAutoFit/>
          </a:bodyPr>
          <a:lstStyle/>
          <a:p>
            <a:pPr algn="ctr"/>
            <a:r>
              <a:rPr sz="850" b="1" u="none" spc="60">
                <a:solidFill>
                  <a:srgbClr val="8A8478"/>
                </a:solidFill>
                <a:latin typeface="Segoe UI"/>
              </a:rPr>
              <a:t>GRIEVANCE PORTALS</a:t>
            </a:r>
          </a:p>
        </p:txBody>
      </p:sp>
      <p:sp>
        <p:nvSpPr>
          <p:cNvPr id="15" name="TextBox 14"/>
          <p:cNvSpPr txBox="1"/>
          <p:nvPr/>
        </p:nvSpPr>
        <p:spPr>
          <a:xfrm>
            <a:off x="9858695" y="2121408"/>
            <a:ext cx="1479864" cy="457200"/>
          </a:xfrm>
          <a:prstGeom prst="rect">
            <a:avLst/>
          </a:prstGeom>
          <a:noFill/>
        </p:spPr>
        <p:txBody>
          <a:bodyPr wrap="square" lIns="0" rIns="0" tIns="0" bIns="0" anchor="t">
            <a:spAutoFit/>
          </a:bodyPr>
          <a:lstStyle/>
          <a:p>
            <a:pPr algn="ctr"/>
            <a:r>
              <a:rPr sz="850" b="1" u="none" spc="60">
                <a:solidFill>
                  <a:srgbClr val="2C5142"/>
                </a:solidFill>
                <a:latin typeface="Segoe UI"/>
              </a:rPr>
              <a:t>ONDRU</a:t>
            </a:r>
          </a:p>
        </p:txBody>
      </p:sp>
      <p:sp>
        <p:nvSpPr>
          <p:cNvPr id="16" name="Rectangle 15"/>
          <p:cNvSpPr/>
          <p:nvPr/>
        </p:nvSpPr>
        <p:spPr>
          <a:xfrm>
            <a:off x="839419" y="2468880"/>
            <a:ext cx="10499140" cy="9144"/>
          </a:xfrm>
          <a:prstGeom prst="rect">
            <a:avLst/>
          </a:prstGeom>
          <a:solidFill>
            <a:srgbClr val="C9C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39419" y="2578608"/>
            <a:ext cx="2825496" cy="274320"/>
          </a:xfrm>
          <a:prstGeom prst="rect">
            <a:avLst/>
          </a:prstGeom>
          <a:noFill/>
        </p:spPr>
        <p:txBody>
          <a:bodyPr wrap="square" lIns="0" rIns="0" tIns="0" bIns="0" anchor="t">
            <a:spAutoFit/>
          </a:bodyPr>
          <a:lstStyle/>
          <a:p>
            <a:pPr algn="l"/>
            <a:r>
              <a:rPr sz="1050" b="1" u="none">
                <a:solidFill>
                  <a:srgbClr val="1C1A17"/>
                </a:solidFill>
                <a:latin typeface="Segoe UI"/>
              </a:rPr>
              <a:t>Groups duplicate reports</a:t>
            </a:r>
          </a:p>
        </p:txBody>
      </p:sp>
      <p:sp>
        <p:nvSpPr>
          <p:cNvPr id="18" name="TextBox 17"/>
          <p:cNvSpPr txBox="1"/>
          <p:nvPr/>
        </p:nvSpPr>
        <p:spPr>
          <a:xfrm>
            <a:off x="3719779" y="2578608"/>
            <a:ext cx="1479864" cy="274320"/>
          </a:xfrm>
          <a:prstGeom prst="rect">
            <a:avLst/>
          </a:prstGeom>
          <a:noFill/>
        </p:spPr>
        <p:txBody>
          <a:bodyPr wrap="square" lIns="0" rIns="0" tIns="0" bIns="0" anchor="t">
            <a:spAutoFit/>
          </a:bodyPr>
          <a:lstStyle/>
          <a:p>
            <a:pPr algn="ctr"/>
            <a:r>
              <a:rPr sz="1150" b="1" u="none">
                <a:solidFill>
                  <a:srgbClr val="9C3A28"/>
                </a:solidFill>
                <a:latin typeface="Segoe UI"/>
              </a:rPr>
              <a:t>✗</a:t>
            </a:r>
          </a:p>
        </p:txBody>
      </p:sp>
      <p:sp>
        <p:nvSpPr>
          <p:cNvPr id="19" name="TextBox 18"/>
          <p:cNvSpPr txBox="1"/>
          <p:nvPr/>
        </p:nvSpPr>
        <p:spPr>
          <a:xfrm>
            <a:off x="5254508" y="2578608"/>
            <a:ext cx="1479864" cy="274320"/>
          </a:xfrm>
          <a:prstGeom prst="rect">
            <a:avLst/>
          </a:prstGeom>
          <a:noFill/>
        </p:spPr>
        <p:txBody>
          <a:bodyPr wrap="square" lIns="0" rIns="0" tIns="0" bIns="0" anchor="t">
            <a:spAutoFit/>
          </a:bodyPr>
          <a:lstStyle/>
          <a:p>
            <a:pPr algn="ctr"/>
            <a:r>
              <a:rPr sz="1000" b="0" u="none">
                <a:solidFill>
                  <a:srgbClr val="8A8478"/>
                </a:solidFill>
                <a:latin typeface="Segoe UI"/>
              </a:rPr>
              <a:t>partial</a:t>
            </a:r>
          </a:p>
        </p:txBody>
      </p:sp>
      <p:sp>
        <p:nvSpPr>
          <p:cNvPr id="20" name="TextBox 19"/>
          <p:cNvSpPr txBox="1"/>
          <p:nvPr/>
        </p:nvSpPr>
        <p:spPr>
          <a:xfrm>
            <a:off x="6789237" y="2578608"/>
            <a:ext cx="1479864" cy="274320"/>
          </a:xfrm>
          <a:prstGeom prst="rect">
            <a:avLst/>
          </a:prstGeom>
          <a:noFill/>
        </p:spPr>
        <p:txBody>
          <a:bodyPr wrap="square" lIns="0" rIns="0" tIns="0" bIns="0" anchor="t">
            <a:spAutoFit/>
          </a:bodyPr>
          <a:lstStyle/>
          <a:p>
            <a:pPr algn="ctr"/>
            <a:r>
              <a:rPr sz="1150" b="1" u="none">
                <a:solidFill>
                  <a:srgbClr val="2C5142"/>
                </a:solidFill>
                <a:latin typeface="Segoe UI"/>
              </a:rPr>
              <a:t>✓</a:t>
            </a:r>
          </a:p>
        </p:txBody>
      </p:sp>
      <p:sp>
        <p:nvSpPr>
          <p:cNvPr id="21" name="TextBox 20"/>
          <p:cNvSpPr txBox="1"/>
          <p:nvPr/>
        </p:nvSpPr>
        <p:spPr>
          <a:xfrm>
            <a:off x="8323966" y="2578608"/>
            <a:ext cx="1479864" cy="274320"/>
          </a:xfrm>
          <a:prstGeom prst="rect">
            <a:avLst/>
          </a:prstGeom>
          <a:noFill/>
        </p:spPr>
        <p:txBody>
          <a:bodyPr wrap="square" lIns="0" rIns="0" tIns="0" bIns="0" anchor="t">
            <a:spAutoFit/>
          </a:bodyPr>
          <a:lstStyle/>
          <a:p>
            <a:pPr algn="ctr"/>
            <a:r>
              <a:rPr sz="1150" b="1" u="none">
                <a:solidFill>
                  <a:srgbClr val="9C3A28"/>
                </a:solidFill>
                <a:latin typeface="Segoe UI"/>
              </a:rPr>
              <a:t>✗</a:t>
            </a:r>
          </a:p>
        </p:txBody>
      </p:sp>
      <p:sp>
        <p:nvSpPr>
          <p:cNvPr id="22" name="TextBox 21"/>
          <p:cNvSpPr txBox="1"/>
          <p:nvPr/>
        </p:nvSpPr>
        <p:spPr>
          <a:xfrm>
            <a:off x="9858695" y="2578608"/>
            <a:ext cx="1479864" cy="274320"/>
          </a:xfrm>
          <a:prstGeom prst="rect">
            <a:avLst/>
          </a:prstGeom>
          <a:noFill/>
        </p:spPr>
        <p:txBody>
          <a:bodyPr wrap="square" lIns="0" rIns="0" tIns="0" bIns="0" anchor="t">
            <a:spAutoFit/>
          </a:bodyPr>
          <a:lstStyle/>
          <a:p>
            <a:pPr algn="ctr"/>
            <a:r>
              <a:rPr sz="1150" b="1" u="none">
                <a:solidFill>
                  <a:srgbClr val="2C5142"/>
                </a:solidFill>
                <a:latin typeface="Segoe UI"/>
              </a:rPr>
              <a:t>✓</a:t>
            </a:r>
          </a:p>
        </p:txBody>
      </p:sp>
      <p:sp>
        <p:nvSpPr>
          <p:cNvPr id="23" name="TextBox 22"/>
          <p:cNvSpPr txBox="1"/>
          <p:nvPr/>
        </p:nvSpPr>
        <p:spPr>
          <a:xfrm>
            <a:off x="839419" y="2871215"/>
            <a:ext cx="2825496" cy="274320"/>
          </a:xfrm>
          <a:prstGeom prst="rect">
            <a:avLst/>
          </a:prstGeom>
          <a:noFill/>
        </p:spPr>
        <p:txBody>
          <a:bodyPr wrap="square" lIns="0" rIns="0" tIns="0" bIns="0" anchor="t">
            <a:spAutoFit/>
          </a:bodyPr>
          <a:lstStyle/>
          <a:p>
            <a:pPr algn="l"/>
            <a:r>
              <a:rPr sz="1050" b="1" u="none">
                <a:solidFill>
                  <a:srgbClr val="1C1A17"/>
                </a:solidFill>
                <a:latin typeface="Segoe UI"/>
              </a:rPr>
              <a:t>Routes to a department</a:t>
            </a:r>
          </a:p>
        </p:txBody>
      </p:sp>
      <p:sp>
        <p:nvSpPr>
          <p:cNvPr id="24" name="TextBox 23"/>
          <p:cNvSpPr txBox="1"/>
          <p:nvPr/>
        </p:nvSpPr>
        <p:spPr>
          <a:xfrm>
            <a:off x="3719779" y="2871215"/>
            <a:ext cx="1479864" cy="274320"/>
          </a:xfrm>
          <a:prstGeom prst="rect">
            <a:avLst/>
          </a:prstGeom>
          <a:noFill/>
        </p:spPr>
        <p:txBody>
          <a:bodyPr wrap="square" lIns="0" rIns="0" tIns="0" bIns="0" anchor="t">
            <a:spAutoFit/>
          </a:bodyPr>
          <a:lstStyle/>
          <a:p>
            <a:pPr algn="ctr"/>
            <a:r>
              <a:rPr sz="1150" b="1" u="none">
                <a:solidFill>
                  <a:srgbClr val="9C3A28"/>
                </a:solidFill>
                <a:latin typeface="Segoe UI"/>
              </a:rPr>
              <a:t>✗</a:t>
            </a:r>
          </a:p>
        </p:txBody>
      </p:sp>
      <p:sp>
        <p:nvSpPr>
          <p:cNvPr id="25" name="TextBox 24"/>
          <p:cNvSpPr txBox="1"/>
          <p:nvPr/>
        </p:nvSpPr>
        <p:spPr>
          <a:xfrm>
            <a:off x="5254508" y="2871215"/>
            <a:ext cx="1479864" cy="274320"/>
          </a:xfrm>
          <a:prstGeom prst="rect">
            <a:avLst/>
          </a:prstGeom>
          <a:noFill/>
        </p:spPr>
        <p:txBody>
          <a:bodyPr wrap="square" lIns="0" rIns="0" tIns="0" bIns="0" anchor="t">
            <a:spAutoFit/>
          </a:bodyPr>
          <a:lstStyle/>
          <a:p>
            <a:pPr algn="ctr"/>
            <a:r>
              <a:rPr sz="1000" b="0" u="none">
                <a:solidFill>
                  <a:srgbClr val="8A8478"/>
                </a:solidFill>
                <a:latin typeface="Segoe UI"/>
              </a:rPr>
              <a:t>partial</a:t>
            </a:r>
          </a:p>
        </p:txBody>
      </p:sp>
      <p:sp>
        <p:nvSpPr>
          <p:cNvPr id="26" name="TextBox 25"/>
          <p:cNvSpPr txBox="1"/>
          <p:nvPr/>
        </p:nvSpPr>
        <p:spPr>
          <a:xfrm>
            <a:off x="6789237" y="2871215"/>
            <a:ext cx="1479864" cy="274320"/>
          </a:xfrm>
          <a:prstGeom prst="rect">
            <a:avLst/>
          </a:prstGeom>
          <a:noFill/>
        </p:spPr>
        <p:txBody>
          <a:bodyPr wrap="square" lIns="0" rIns="0" tIns="0" bIns="0" anchor="t">
            <a:spAutoFit/>
          </a:bodyPr>
          <a:lstStyle/>
          <a:p>
            <a:pPr algn="ctr"/>
            <a:r>
              <a:rPr sz="1150" b="1" u="none">
                <a:solidFill>
                  <a:srgbClr val="2C5142"/>
                </a:solidFill>
                <a:latin typeface="Segoe UI"/>
              </a:rPr>
              <a:t>✓</a:t>
            </a:r>
          </a:p>
        </p:txBody>
      </p:sp>
      <p:sp>
        <p:nvSpPr>
          <p:cNvPr id="27" name="TextBox 26"/>
          <p:cNvSpPr txBox="1"/>
          <p:nvPr/>
        </p:nvSpPr>
        <p:spPr>
          <a:xfrm>
            <a:off x="8323966" y="2871215"/>
            <a:ext cx="1479864" cy="274320"/>
          </a:xfrm>
          <a:prstGeom prst="rect">
            <a:avLst/>
          </a:prstGeom>
          <a:noFill/>
        </p:spPr>
        <p:txBody>
          <a:bodyPr wrap="square" lIns="0" rIns="0" tIns="0" bIns="0" anchor="t">
            <a:spAutoFit/>
          </a:bodyPr>
          <a:lstStyle/>
          <a:p>
            <a:pPr algn="ctr"/>
            <a:r>
              <a:rPr sz="1150" b="1" u="none">
                <a:solidFill>
                  <a:srgbClr val="2C5142"/>
                </a:solidFill>
                <a:latin typeface="Segoe UI"/>
              </a:rPr>
              <a:t>✓</a:t>
            </a:r>
          </a:p>
        </p:txBody>
      </p:sp>
      <p:sp>
        <p:nvSpPr>
          <p:cNvPr id="28" name="TextBox 27"/>
          <p:cNvSpPr txBox="1"/>
          <p:nvPr/>
        </p:nvSpPr>
        <p:spPr>
          <a:xfrm>
            <a:off x="9858695" y="2871215"/>
            <a:ext cx="1479864" cy="274320"/>
          </a:xfrm>
          <a:prstGeom prst="rect">
            <a:avLst/>
          </a:prstGeom>
          <a:noFill/>
        </p:spPr>
        <p:txBody>
          <a:bodyPr wrap="square" lIns="0" rIns="0" tIns="0" bIns="0" anchor="t">
            <a:spAutoFit/>
          </a:bodyPr>
          <a:lstStyle/>
          <a:p>
            <a:pPr algn="ctr"/>
            <a:r>
              <a:rPr sz="1150" b="1" u="none">
                <a:solidFill>
                  <a:srgbClr val="2C5142"/>
                </a:solidFill>
                <a:latin typeface="Segoe UI"/>
              </a:rPr>
              <a:t>✓</a:t>
            </a:r>
          </a:p>
        </p:txBody>
      </p:sp>
      <p:sp>
        <p:nvSpPr>
          <p:cNvPr id="29" name="TextBox 28"/>
          <p:cNvSpPr txBox="1"/>
          <p:nvPr/>
        </p:nvSpPr>
        <p:spPr>
          <a:xfrm>
            <a:off x="839419" y="3163824"/>
            <a:ext cx="2825496" cy="274320"/>
          </a:xfrm>
          <a:prstGeom prst="rect">
            <a:avLst/>
          </a:prstGeom>
          <a:noFill/>
        </p:spPr>
        <p:txBody>
          <a:bodyPr wrap="square" lIns="0" rIns="0" tIns="0" bIns="0" anchor="t">
            <a:spAutoFit/>
          </a:bodyPr>
          <a:lstStyle/>
          <a:p>
            <a:pPr algn="l"/>
            <a:r>
              <a:rPr sz="1050" b="1" u="none">
                <a:solidFill>
                  <a:srgbClr val="1C1A17"/>
                </a:solidFill>
                <a:latin typeface="Segoe UI"/>
              </a:rPr>
              <a:t>Ranks by severity, not arrival</a:t>
            </a:r>
          </a:p>
        </p:txBody>
      </p:sp>
      <p:sp>
        <p:nvSpPr>
          <p:cNvPr id="30" name="TextBox 29"/>
          <p:cNvSpPr txBox="1"/>
          <p:nvPr/>
        </p:nvSpPr>
        <p:spPr>
          <a:xfrm>
            <a:off x="3719779" y="3163824"/>
            <a:ext cx="1479864" cy="274320"/>
          </a:xfrm>
          <a:prstGeom prst="rect">
            <a:avLst/>
          </a:prstGeom>
          <a:noFill/>
        </p:spPr>
        <p:txBody>
          <a:bodyPr wrap="square" lIns="0" rIns="0" tIns="0" bIns="0" anchor="t">
            <a:spAutoFit/>
          </a:bodyPr>
          <a:lstStyle/>
          <a:p>
            <a:pPr algn="ctr"/>
            <a:r>
              <a:rPr sz="1150" b="1" u="none">
                <a:solidFill>
                  <a:srgbClr val="9C3A28"/>
                </a:solidFill>
                <a:latin typeface="Segoe UI"/>
              </a:rPr>
              <a:t>✗</a:t>
            </a:r>
          </a:p>
        </p:txBody>
      </p:sp>
      <p:sp>
        <p:nvSpPr>
          <p:cNvPr id="31" name="TextBox 30"/>
          <p:cNvSpPr txBox="1"/>
          <p:nvPr/>
        </p:nvSpPr>
        <p:spPr>
          <a:xfrm>
            <a:off x="5254508" y="3163824"/>
            <a:ext cx="1479864" cy="274320"/>
          </a:xfrm>
          <a:prstGeom prst="rect">
            <a:avLst/>
          </a:prstGeom>
          <a:noFill/>
        </p:spPr>
        <p:txBody>
          <a:bodyPr wrap="square" lIns="0" rIns="0" tIns="0" bIns="0" anchor="t">
            <a:spAutoFit/>
          </a:bodyPr>
          <a:lstStyle/>
          <a:p>
            <a:pPr algn="ctr"/>
            <a:r>
              <a:rPr sz="1150" b="1" u="none">
                <a:solidFill>
                  <a:srgbClr val="9C3A28"/>
                </a:solidFill>
                <a:latin typeface="Segoe UI"/>
              </a:rPr>
              <a:t>✗</a:t>
            </a:r>
          </a:p>
        </p:txBody>
      </p:sp>
      <p:sp>
        <p:nvSpPr>
          <p:cNvPr id="32" name="TextBox 31"/>
          <p:cNvSpPr txBox="1"/>
          <p:nvPr/>
        </p:nvSpPr>
        <p:spPr>
          <a:xfrm>
            <a:off x="6789237" y="3163824"/>
            <a:ext cx="1479864" cy="274320"/>
          </a:xfrm>
          <a:prstGeom prst="rect">
            <a:avLst/>
          </a:prstGeom>
          <a:noFill/>
        </p:spPr>
        <p:txBody>
          <a:bodyPr wrap="square" lIns="0" rIns="0" tIns="0" bIns="0" anchor="t">
            <a:spAutoFit/>
          </a:bodyPr>
          <a:lstStyle/>
          <a:p>
            <a:pPr algn="ctr"/>
            <a:r>
              <a:rPr sz="1150" b="1" u="none">
                <a:solidFill>
                  <a:srgbClr val="2C5142"/>
                </a:solidFill>
                <a:latin typeface="Segoe UI"/>
              </a:rPr>
              <a:t>✓</a:t>
            </a:r>
          </a:p>
        </p:txBody>
      </p:sp>
      <p:sp>
        <p:nvSpPr>
          <p:cNvPr id="33" name="TextBox 32"/>
          <p:cNvSpPr txBox="1"/>
          <p:nvPr/>
        </p:nvSpPr>
        <p:spPr>
          <a:xfrm>
            <a:off x="8323966" y="3163824"/>
            <a:ext cx="1479864" cy="274320"/>
          </a:xfrm>
          <a:prstGeom prst="rect">
            <a:avLst/>
          </a:prstGeom>
          <a:noFill/>
        </p:spPr>
        <p:txBody>
          <a:bodyPr wrap="square" lIns="0" rIns="0" tIns="0" bIns="0" anchor="t">
            <a:spAutoFit/>
          </a:bodyPr>
          <a:lstStyle/>
          <a:p>
            <a:pPr algn="ctr"/>
            <a:r>
              <a:rPr sz="1150" b="1" u="none">
                <a:solidFill>
                  <a:srgbClr val="9C3A28"/>
                </a:solidFill>
                <a:latin typeface="Segoe UI"/>
              </a:rPr>
              <a:t>✗</a:t>
            </a:r>
          </a:p>
        </p:txBody>
      </p:sp>
      <p:sp>
        <p:nvSpPr>
          <p:cNvPr id="34" name="TextBox 33"/>
          <p:cNvSpPr txBox="1"/>
          <p:nvPr/>
        </p:nvSpPr>
        <p:spPr>
          <a:xfrm>
            <a:off x="9858695" y="3163824"/>
            <a:ext cx="1479864" cy="274320"/>
          </a:xfrm>
          <a:prstGeom prst="rect">
            <a:avLst/>
          </a:prstGeom>
          <a:noFill/>
        </p:spPr>
        <p:txBody>
          <a:bodyPr wrap="square" lIns="0" rIns="0" tIns="0" bIns="0" anchor="t">
            <a:spAutoFit/>
          </a:bodyPr>
          <a:lstStyle/>
          <a:p>
            <a:pPr algn="ctr"/>
            <a:r>
              <a:rPr sz="1150" b="1" u="none">
                <a:solidFill>
                  <a:srgbClr val="2C5142"/>
                </a:solidFill>
                <a:latin typeface="Segoe UI"/>
              </a:rPr>
              <a:t>✓</a:t>
            </a:r>
          </a:p>
        </p:txBody>
      </p:sp>
      <p:sp>
        <p:nvSpPr>
          <p:cNvPr id="35" name="TextBox 34"/>
          <p:cNvSpPr txBox="1"/>
          <p:nvPr/>
        </p:nvSpPr>
        <p:spPr>
          <a:xfrm>
            <a:off x="839419" y="3456432"/>
            <a:ext cx="2825496" cy="274320"/>
          </a:xfrm>
          <a:prstGeom prst="rect">
            <a:avLst/>
          </a:prstGeom>
          <a:noFill/>
        </p:spPr>
        <p:txBody>
          <a:bodyPr wrap="square" lIns="0" rIns="0" tIns="0" bIns="0" anchor="t">
            <a:spAutoFit/>
          </a:bodyPr>
          <a:lstStyle/>
          <a:p>
            <a:pPr algn="l"/>
            <a:r>
              <a:rPr sz="1050" b="1" u="none">
                <a:solidFill>
                  <a:srgbClr val="1C1A17"/>
                </a:solidFill>
                <a:latin typeface="Segoe UI"/>
              </a:rPr>
              <a:t>Refuses to guess when unsure</a:t>
            </a:r>
          </a:p>
        </p:txBody>
      </p:sp>
      <p:sp>
        <p:nvSpPr>
          <p:cNvPr id="36" name="TextBox 35"/>
          <p:cNvSpPr txBox="1"/>
          <p:nvPr/>
        </p:nvSpPr>
        <p:spPr>
          <a:xfrm>
            <a:off x="3719779" y="3456432"/>
            <a:ext cx="1479864" cy="274320"/>
          </a:xfrm>
          <a:prstGeom prst="rect">
            <a:avLst/>
          </a:prstGeom>
          <a:noFill/>
        </p:spPr>
        <p:txBody>
          <a:bodyPr wrap="square" lIns="0" rIns="0" tIns="0" bIns="0" anchor="t">
            <a:spAutoFit/>
          </a:bodyPr>
          <a:lstStyle/>
          <a:p>
            <a:pPr algn="ctr"/>
            <a:r>
              <a:rPr sz="1000" b="0" u="none">
                <a:solidFill>
                  <a:srgbClr val="8A8478"/>
                </a:solidFill>
                <a:latin typeface="Segoe UI"/>
              </a:rPr>
              <a:t>n/a</a:t>
            </a:r>
          </a:p>
        </p:txBody>
      </p:sp>
      <p:sp>
        <p:nvSpPr>
          <p:cNvPr id="37" name="TextBox 36"/>
          <p:cNvSpPr txBox="1"/>
          <p:nvPr/>
        </p:nvSpPr>
        <p:spPr>
          <a:xfrm>
            <a:off x="5254508" y="3456432"/>
            <a:ext cx="1479864" cy="274320"/>
          </a:xfrm>
          <a:prstGeom prst="rect">
            <a:avLst/>
          </a:prstGeom>
          <a:noFill/>
        </p:spPr>
        <p:txBody>
          <a:bodyPr wrap="square" lIns="0" rIns="0" tIns="0" bIns="0" anchor="t">
            <a:spAutoFit/>
          </a:bodyPr>
          <a:lstStyle/>
          <a:p>
            <a:pPr algn="ctr"/>
            <a:r>
              <a:rPr sz="1150" b="1" u="none">
                <a:solidFill>
                  <a:srgbClr val="9C3A28"/>
                </a:solidFill>
                <a:latin typeface="Segoe UI"/>
              </a:rPr>
              <a:t>✗</a:t>
            </a:r>
          </a:p>
        </p:txBody>
      </p:sp>
      <p:sp>
        <p:nvSpPr>
          <p:cNvPr id="38" name="TextBox 37"/>
          <p:cNvSpPr txBox="1"/>
          <p:nvPr/>
        </p:nvSpPr>
        <p:spPr>
          <a:xfrm>
            <a:off x="6789237" y="3456432"/>
            <a:ext cx="1479864" cy="274320"/>
          </a:xfrm>
          <a:prstGeom prst="rect">
            <a:avLst/>
          </a:prstGeom>
          <a:noFill/>
        </p:spPr>
        <p:txBody>
          <a:bodyPr wrap="square" lIns="0" rIns="0" tIns="0" bIns="0" anchor="t">
            <a:spAutoFit/>
          </a:bodyPr>
          <a:lstStyle/>
          <a:p>
            <a:pPr algn="ctr"/>
            <a:r>
              <a:rPr sz="1150" b="1" u="none">
                <a:solidFill>
                  <a:srgbClr val="9C3A28"/>
                </a:solidFill>
                <a:latin typeface="Segoe UI"/>
              </a:rPr>
              <a:t>✗</a:t>
            </a:r>
          </a:p>
        </p:txBody>
      </p:sp>
      <p:sp>
        <p:nvSpPr>
          <p:cNvPr id="39" name="TextBox 38"/>
          <p:cNvSpPr txBox="1"/>
          <p:nvPr/>
        </p:nvSpPr>
        <p:spPr>
          <a:xfrm>
            <a:off x="8323966" y="3456432"/>
            <a:ext cx="1479864" cy="274320"/>
          </a:xfrm>
          <a:prstGeom prst="rect">
            <a:avLst/>
          </a:prstGeom>
          <a:noFill/>
        </p:spPr>
        <p:txBody>
          <a:bodyPr wrap="square" lIns="0" rIns="0" tIns="0" bIns="0" anchor="t">
            <a:spAutoFit/>
          </a:bodyPr>
          <a:lstStyle/>
          <a:p>
            <a:pPr algn="ctr"/>
            <a:r>
              <a:rPr sz="1150" b="1" u="none">
                <a:solidFill>
                  <a:srgbClr val="9C3A28"/>
                </a:solidFill>
                <a:latin typeface="Segoe UI"/>
              </a:rPr>
              <a:t>✗</a:t>
            </a:r>
          </a:p>
        </p:txBody>
      </p:sp>
      <p:sp>
        <p:nvSpPr>
          <p:cNvPr id="40" name="TextBox 39"/>
          <p:cNvSpPr txBox="1"/>
          <p:nvPr/>
        </p:nvSpPr>
        <p:spPr>
          <a:xfrm>
            <a:off x="9858695" y="3456432"/>
            <a:ext cx="1479864" cy="274320"/>
          </a:xfrm>
          <a:prstGeom prst="rect">
            <a:avLst/>
          </a:prstGeom>
          <a:noFill/>
        </p:spPr>
        <p:txBody>
          <a:bodyPr wrap="square" lIns="0" rIns="0" tIns="0" bIns="0" anchor="t">
            <a:spAutoFit/>
          </a:bodyPr>
          <a:lstStyle/>
          <a:p>
            <a:pPr algn="ctr"/>
            <a:r>
              <a:rPr sz="1150" b="1" u="none">
                <a:solidFill>
                  <a:srgbClr val="2C5142"/>
                </a:solidFill>
                <a:latin typeface="Segoe UI"/>
              </a:rPr>
              <a:t>✓</a:t>
            </a:r>
          </a:p>
        </p:txBody>
      </p:sp>
      <p:sp>
        <p:nvSpPr>
          <p:cNvPr id="41" name="TextBox 40"/>
          <p:cNvSpPr txBox="1"/>
          <p:nvPr/>
        </p:nvSpPr>
        <p:spPr>
          <a:xfrm>
            <a:off x="839419" y="3749039"/>
            <a:ext cx="2825496" cy="274320"/>
          </a:xfrm>
          <a:prstGeom prst="rect">
            <a:avLst/>
          </a:prstGeom>
          <a:noFill/>
        </p:spPr>
        <p:txBody>
          <a:bodyPr wrap="square" lIns="0" rIns="0" tIns="0" bIns="0" anchor="t">
            <a:spAutoFit/>
          </a:bodyPr>
          <a:lstStyle/>
          <a:p>
            <a:pPr algn="l"/>
            <a:r>
              <a:rPr sz="1050" b="1" u="none">
                <a:solidFill>
                  <a:srgbClr val="1C1A17"/>
                </a:solidFill>
                <a:latin typeface="Segoe UI"/>
              </a:rPr>
              <a:t>No text leaves the machine</a:t>
            </a:r>
          </a:p>
        </p:txBody>
      </p:sp>
      <p:sp>
        <p:nvSpPr>
          <p:cNvPr id="42" name="TextBox 41"/>
          <p:cNvSpPr txBox="1"/>
          <p:nvPr/>
        </p:nvSpPr>
        <p:spPr>
          <a:xfrm>
            <a:off x="3719779" y="3749039"/>
            <a:ext cx="1479864" cy="274320"/>
          </a:xfrm>
          <a:prstGeom prst="rect">
            <a:avLst/>
          </a:prstGeom>
          <a:noFill/>
        </p:spPr>
        <p:txBody>
          <a:bodyPr wrap="square" lIns="0" rIns="0" tIns="0" bIns="0" anchor="t">
            <a:spAutoFit/>
          </a:bodyPr>
          <a:lstStyle/>
          <a:p>
            <a:pPr algn="ctr"/>
            <a:r>
              <a:rPr sz="1150" b="1" u="none">
                <a:solidFill>
                  <a:srgbClr val="2C5142"/>
                </a:solidFill>
                <a:latin typeface="Segoe UI"/>
              </a:rPr>
              <a:t>✓</a:t>
            </a:r>
          </a:p>
        </p:txBody>
      </p:sp>
      <p:sp>
        <p:nvSpPr>
          <p:cNvPr id="43" name="TextBox 42"/>
          <p:cNvSpPr txBox="1"/>
          <p:nvPr/>
        </p:nvSpPr>
        <p:spPr>
          <a:xfrm>
            <a:off x="5254508" y="3749039"/>
            <a:ext cx="1479864" cy="274320"/>
          </a:xfrm>
          <a:prstGeom prst="rect">
            <a:avLst/>
          </a:prstGeom>
          <a:noFill/>
        </p:spPr>
        <p:txBody>
          <a:bodyPr wrap="square" lIns="0" rIns="0" tIns="0" bIns="0" anchor="t">
            <a:spAutoFit/>
          </a:bodyPr>
          <a:lstStyle/>
          <a:p>
            <a:pPr algn="ctr"/>
            <a:r>
              <a:rPr sz="1150" b="1" u="none">
                <a:solidFill>
                  <a:srgbClr val="2C5142"/>
                </a:solidFill>
                <a:latin typeface="Segoe UI"/>
              </a:rPr>
              <a:t>✓</a:t>
            </a:r>
          </a:p>
        </p:txBody>
      </p:sp>
      <p:sp>
        <p:nvSpPr>
          <p:cNvPr id="44" name="TextBox 43"/>
          <p:cNvSpPr txBox="1"/>
          <p:nvPr/>
        </p:nvSpPr>
        <p:spPr>
          <a:xfrm>
            <a:off x="6789237" y="3749039"/>
            <a:ext cx="1479864" cy="274320"/>
          </a:xfrm>
          <a:prstGeom prst="rect">
            <a:avLst/>
          </a:prstGeom>
          <a:noFill/>
        </p:spPr>
        <p:txBody>
          <a:bodyPr wrap="square" lIns="0" rIns="0" tIns="0" bIns="0" anchor="t">
            <a:spAutoFit/>
          </a:bodyPr>
          <a:lstStyle/>
          <a:p>
            <a:pPr algn="ctr"/>
            <a:r>
              <a:rPr sz="1150" b="1" u="none">
                <a:solidFill>
                  <a:srgbClr val="9C3A28"/>
                </a:solidFill>
                <a:latin typeface="Segoe UI"/>
              </a:rPr>
              <a:t>✗</a:t>
            </a:r>
          </a:p>
        </p:txBody>
      </p:sp>
      <p:sp>
        <p:nvSpPr>
          <p:cNvPr id="45" name="TextBox 44"/>
          <p:cNvSpPr txBox="1"/>
          <p:nvPr/>
        </p:nvSpPr>
        <p:spPr>
          <a:xfrm>
            <a:off x="8323966" y="3749039"/>
            <a:ext cx="1479864" cy="274320"/>
          </a:xfrm>
          <a:prstGeom prst="rect">
            <a:avLst/>
          </a:prstGeom>
          <a:noFill/>
        </p:spPr>
        <p:txBody>
          <a:bodyPr wrap="square" lIns="0" rIns="0" tIns="0" bIns="0" anchor="t">
            <a:spAutoFit/>
          </a:bodyPr>
          <a:lstStyle/>
          <a:p>
            <a:pPr algn="ctr"/>
            <a:r>
              <a:rPr sz="1150" b="1" u="none">
                <a:solidFill>
                  <a:srgbClr val="9C3A28"/>
                </a:solidFill>
                <a:latin typeface="Segoe UI"/>
              </a:rPr>
              <a:t>✗</a:t>
            </a:r>
          </a:p>
        </p:txBody>
      </p:sp>
      <p:sp>
        <p:nvSpPr>
          <p:cNvPr id="46" name="TextBox 45"/>
          <p:cNvSpPr txBox="1"/>
          <p:nvPr/>
        </p:nvSpPr>
        <p:spPr>
          <a:xfrm>
            <a:off x="9858695" y="3749039"/>
            <a:ext cx="1479864" cy="274320"/>
          </a:xfrm>
          <a:prstGeom prst="rect">
            <a:avLst/>
          </a:prstGeom>
          <a:noFill/>
        </p:spPr>
        <p:txBody>
          <a:bodyPr wrap="square" lIns="0" rIns="0" tIns="0" bIns="0" anchor="t">
            <a:spAutoFit/>
          </a:bodyPr>
          <a:lstStyle/>
          <a:p>
            <a:pPr algn="ctr"/>
            <a:r>
              <a:rPr sz="1150" b="1" u="none">
                <a:solidFill>
                  <a:srgbClr val="2C5142"/>
                </a:solidFill>
                <a:latin typeface="Segoe UI"/>
              </a:rPr>
              <a:t>✓</a:t>
            </a:r>
          </a:p>
        </p:txBody>
      </p:sp>
      <p:sp>
        <p:nvSpPr>
          <p:cNvPr id="47" name="TextBox 46"/>
          <p:cNvSpPr txBox="1"/>
          <p:nvPr/>
        </p:nvSpPr>
        <p:spPr>
          <a:xfrm>
            <a:off x="839419" y="4041648"/>
            <a:ext cx="2825496" cy="274320"/>
          </a:xfrm>
          <a:prstGeom prst="rect">
            <a:avLst/>
          </a:prstGeom>
          <a:noFill/>
        </p:spPr>
        <p:txBody>
          <a:bodyPr wrap="square" lIns="0" rIns="0" tIns="0" bIns="0" anchor="t">
            <a:spAutoFit/>
          </a:bodyPr>
          <a:lstStyle/>
          <a:p>
            <a:pPr algn="l"/>
            <a:r>
              <a:rPr sz="1050" b="1" u="none">
                <a:solidFill>
                  <a:srgbClr val="1C1A17"/>
                </a:solidFill>
                <a:latin typeface="Segoe UI"/>
              </a:rPr>
              <a:t>Works with no API key</a:t>
            </a:r>
          </a:p>
        </p:txBody>
      </p:sp>
      <p:sp>
        <p:nvSpPr>
          <p:cNvPr id="48" name="TextBox 47"/>
          <p:cNvSpPr txBox="1"/>
          <p:nvPr/>
        </p:nvSpPr>
        <p:spPr>
          <a:xfrm>
            <a:off x="3719779" y="4041648"/>
            <a:ext cx="1479864" cy="274320"/>
          </a:xfrm>
          <a:prstGeom prst="rect">
            <a:avLst/>
          </a:prstGeom>
          <a:noFill/>
        </p:spPr>
        <p:txBody>
          <a:bodyPr wrap="square" lIns="0" rIns="0" tIns="0" bIns="0" anchor="t">
            <a:spAutoFit/>
          </a:bodyPr>
          <a:lstStyle/>
          <a:p>
            <a:pPr algn="ctr"/>
            <a:r>
              <a:rPr sz="1150" b="1" u="none">
                <a:solidFill>
                  <a:srgbClr val="2C5142"/>
                </a:solidFill>
                <a:latin typeface="Segoe UI"/>
              </a:rPr>
              <a:t>✓</a:t>
            </a:r>
          </a:p>
        </p:txBody>
      </p:sp>
      <p:sp>
        <p:nvSpPr>
          <p:cNvPr id="49" name="TextBox 48"/>
          <p:cNvSpPr txBox="1"/>
          <p:nvPr/>
        </p:nvSpPr>
        <p:spPr>
          <a:xfrm>
            <a:off x="5254508" y="4041648"/>
            <a:ext cx="1479864" cy="274320"/>
          </a:xfrm>
          <a:prstGeom prst="rect">
            <a:avLst/>
          </a:prstGeom>
          <a:noFill/>
        </p:spPr>
        <p:txBody>
          <a:bodyPr wrap="square" lIns="0" rIns="0" tIns="0" bIns="0" anchor="t">
            <a:spAutoFit/>
          </a:bodyPr>
          <a:lstStyle/>
          <a:p>
            <a:pPr algn="ctr"/>
            <a:r>
              <a:rPr sz="1150" b="1" u="none">
                <a:solidFill>
                  <a:srgbClr val="2C5142"/>
                </a:solidFill>
                <a:latin typeface="Segoe UI"/>
              </a:rPr>
              <a:t>✓</a:t>
            </a:r>
          </a:p>
        </p:txBody>
      </p:sp>
      <p:sp>
        <p:nvSpPr>
          <p:cNvPr id="50" name="TextBox 49"/>
          <p:cNvSpPr txBox="1"/>
          <p:nvPr/>
        </p:nvSpPr>
        <p:spPr>
          <a:xfrm>
            <a:off x="6789237" y="4041648"/>
            <a:ext cx="1479864" cy="274320"/>
          </a:xfrm>
          <a:prstGeom prst="rect">
            <a:avLst/>
          </a:prstGeom>
          <a:noFill/>
        </p:spPr>
        <p:txBody>
          <a:bodyPr wrap="square" lIns="0" rIns="0" tIns="0" bIns="0" anchor="t">
            <a:spAutoFit/>
          </a:bodyPr>
          <a:lstStyle/>
          <a:p>
            <a:pPr algn="ctr"/>
            <a:r>
              <a:rPr sz="1150" b="1" u="none">
                <a:solidFill>
                  <a:srgbClr val="9C3A28"/>
                </a:solidFill>
                <a:latin typeface="Segoe UI"/>
              </a:rPr>
              <a:t>✗</a:t>
            </a:r>
          </a:p>
        </p:txBody>
      </p:sp>
      <p:sp>
        <p:nvSpPr>
          <p:cNvPr id="51" name="TextBox 50"/>
          <p:cNvSpPr txBox="1"/>
          <p:nvPr/>
        </p:nvSpPr>
        <p:spPr>
          <a:xfrm>
            <a:off x="8323966" y="4041648"/>
            <a:ext cx="1479864" cy="274320"/>
          </a:xfrm>
          <a:prstGeom prst="rect">
            <a:avLst/>
          </a:prstGeom>
          <a:noFill/>
        </p:spPr>
        <p:txBody>
          <a:bodyPr wrap="square" lIns="0" rIns="0" tIns="0" bIns="0" anchor="t">
            <a:spAutoFit/>
          </a:bodyPr>
          <a:lstStyle/>
          <a:p>
            <a:pPr algn="ctr"/>
            <a:r>
              <a:rPr sz="1150" b="1" u="none">
                <a:solidFill>
                  <a:srgbClr val="9C3A28"/>
                </a:solidFill>
                <a:latin typeface="Segoe UI"/>
              </a:rPr>
              <a:t>✗</a:t>
            </a:r>
          </a:p>
        </p:txBody>
      </p:sp>
      <p:sp>
        <p:nvSpPr>
          <p:cNvPr id="52" name="TextBox 51"/>
          <p:cNvSpPr txBox="1"/>
          <p:nvPr/>
        </p:nvSpPr>
        <p:spPr>
          <a:xfrm>
            <a:off x="9858695" y="4041648"/>
            <a:ext cx="1479864" cy="274320"/>
          </a:xfrm>
          <a:prstGeom prst="rect">
            <a:avLst/>
          </a:prstGeom>
          <a:noFill/>
        </p:spPr>
        <p:txBody>
          <a:bodyPr wrap="square" lIns="0" rIns="0" tIns="0" bIns="0" anchor="t">
            <a:spAutoFit/>
          </a:bodyPr>
          <a:lstStyle/>
          <a:p>
            <a:pPr algn="ctr"/>
            <a:r>
              <a:rPr sz="1150" b="1" u="none">
                <a:solidFill>
                  <a:srgbClr val="2C5142"/>
                </a:solidFill>
                <a:latin typeface="Segoe UI"/>
              </a:rPr>
              <a:t>✓</a:t>
            </a:r>
          </a:p>
        </p:txBody>
      </p:sp>
      <p:sp>
        <p:nvSpPr>
          <p:cNvPr id="53" name="TextBox 52"/>
          <p:cNvSpPr txBox="1"/>
          <p:nvPr/>
        </p:nvSpPr>
        <p:spPr>
          <a:xfrm>
            <a:off x="839419" y="4334256"/>
            <a:ext cx="2825496" cy="274320"/>
          </a:xfrm>
          <a:prstGeom prst="rect">
            <a:avLst/>
          </a:prstGeom>
          <a:noFill/>
        </p:spPr>
        <p:txBody>
          <a:bodyPr wrap="square" lIns="0" rIns="0" tIns="0" bIns="0" anchor="t">
            <a:spAutoFit/>
          </a:bodyPr>
          <a:lstStyle/>
          <a:p>
            <a:pPr algn="l"/>
            <a:r>
              <a:rPr sz="1050" b="1" u="none">
                <a:solidFill>
                  <a:srgbClr val="1C1A17"/>
                </a:solidFill>
                <a:latin typeface="Segoe UI"/>
              </a:rPr>
              <a:t>Published accuracy numbers</a:t>
            </a:r>
          </a:p>
        </p:txBody>
      </p:sp>
      <p:sp>
        <p:nvSpPr>
          <p:cNvPr id="54" name="TextBox 53"/>
          <p:cNvSpPr txBox="1"/>
          <p:nvPr/>
        </p:nvSpPr>
        <p:spPr>
          <a:xfrm>
            <a:off x="3719779" y="4334256"/>
            <a:ext cx="1479864" cy="274320"/>
          </a:xfrm>
          <a:prstGeom prst="rect">
            <a:avLst/>
          </a:prstGeom>
          <a:noFill/>
        </p:spPr>
        <p:txBody>
          <a:bodyPr wrap="square" lIns="0" rIns="0" tIns="0" bIns="0" anchor="t">
            <a:spAutoFit/>
          </a:bodyPr>
          <a:lstStyle/>
          <a:p>
            <a:pPr algn="ctr"/>
            <a:r>
              <a:rPr sz="1150" b="1" u="none">
                <a:solidFill>
                  <a:srgbClr val="9C3A28"/>
                </a:solidFill>
                <a:latin typeface="Segoe UI"/>
              </a:rPr>
              <a:t>✗</a:t>
            </a:r>
          </a:p>
        </p:txBody>
      </p:sp>
      <p:sp>
        <p:nvSpPr>
          <p:cNvPr id="55" name="TextBox 54"/>
          <p:cNvSpPr txBox="1"/>
          <p:nvPr/>
        </p:nvSpPr>
        <p:spPr>
          <a:xfrm>
            <a:off x="5254508" y="4334256"/>
            <a:ext cx="1479864" cy="274320"/>
          </a:xfrm>
          <a:prstGeom prst="rect">
            <a:avLst/>
          </a:prstGeom>
          <a:noFill/>
        </p:spPr>
        <p:txBody>
          <a:bodyPr wrap="square" lIns="0" rIns="0" tIns="0" bIns="0" anchor="t">
            <a:spAutoFit/>
          </a:bodyPr>
          <a:lstStyle/>
          <a:p>
            <a:pPr algn="ctr"/>
            <a:r>
              <a:rPr sz="1150" b="1" u="none">
                <a:solidFill>
                  <a:srgbClr val="9C3A28"/>
                </a:solidFill>
                <a:latin typeface="Segoe UI"/>
              </a:rPr>
              <a:t>✗</a:t>
            </a:r>
          </a:p>
        </p:txBody>
      </p:sp>
      <p:sp>
        <p:nvSpPr>
          <p:cNvPr id="56" name="TextBox 55"/>
          <p:cNvSpPr txBox="1"/>
          <p:nvPr/>
        </p:nvSpPr>
        <p:spPr>
          <a:xfrm>
            <a:off x="6789237" y="4334256"/>
            <a:ext cx="1479864" cy="274320"/>
          </a:xfrm>
          <a:prstGeom prst="rect">
            <a:avLst/>
          </a:prstGeom>
          <a:noFill/>
        </p:spPr>
        <p:txBody>
          <a:bodyPr wrap="square" lIns="0" rIns="0" tIns="0" bIns="0" anchor="t">
            <a:spAutoFit/>
          </a:bodyPr>
          <a:lstStyle/>
          <a:p>
            <a:pPr algn="ctr"/>
            <a:r>
              <a:rPr sz="1150" b="1" u="none">
                <a:solidFill>
                  <a:srgbClr val="9C3A28"/>
                </a:solidFill>
                <a:latin typeface="Segoe UI"/>
              </a:rPr>
              <a:t>✗</a:t>
            </a:r>
          </a:p>
        </p:txBody>
      </p:sp>
      <p:sp>
        <p:nvSpPr>
          <p:cNvPr id="57" name="TextBox 56"/>
          <p:cNvSpPr txBox="1"/>
          <p:nvPr/>
        </p:nvSpPr>
        <p:spPr>
          <a:xfrm>
            <a:off x="8323966" y="4334256"/>
            <a:ext cx="1479864" cy="274320"/>
          </a:xfrm>
          <a:prstGeom prst="rect">
            <a:avLst/>
          </a:prstGeom>
          <a:noFill/>
        </p:spPr>
        <p:txBody>
          <a:bodyPr wrap="square" lIns="0" rIns="0" tIns="0" bIns="0" anchor="t">
            <a:spAutoFit/>
          </a:bodyPr>
          <a:lstStyle/>
          <a:p>
            <a:pPr algn="ctr"/>
            <a:r>
              <a:rPr sz="1150" b="1" u="none">
                <a:solidFill>
                  <a:srgbClr val="9C3A28"/>
                </a:solidFill>
                <a:latin typeface="Segoe UI"/>
              </a:rPr>
              <a:t>✗</a:t>
            </a:r>
          </a:p>
        </p:txBody>
      </p:sp>
      <p:sp>
        <p:nvSpPr>
          <p:cNvPr id="58" name="TextBox 57"/>
          <p:cNvSpPr txBox="1"/>
          <p:nvPr/>
        </p:nvSpPr>
        <p:spPr>
          <a:xfrm>
            <a:off x="9858695" y="4334256"/>
            <a:ext cx="1479864" cy="274320"/>
          </a:xfrm>
          <a:prstGeom prst="rect">
            <a:avLst/>
          </a:prstGeom>
          <a:noFill/>
        </p:spPr>
        <p:txBody>
          <a:bodyPr wrap="square" lIns="0" rIns="0" tIns="0" bIns="0" anchor="t">
            <a:spAutoFit/>
          </a:bodyPr>
          <a:lstStyle/>
          <a:p>
            <a:pPr algn="ctr"/>
            <a:r>
              <a:rPr sz="1150" b="1" u="none">
                <a:solidFill>
                  <a:srgbClr val="2C5142"/>
                </a:solidFill>
                <a:latin typeface="Segoe UI"/>
              </a:rPr>
              <a:t>✓</a:t>
            </a:r>
          </a:p>
        </p:txBody>
      </p:sp>
      <p:sp>
        <p:nvSpPr>
          <p:cNvPr id="59" name="Rectangle 58"/>
          <p:cNvSpPr/>
          <p:nvPr/>
        </p:nvSpPr>
        <p:spPr>
          <a:xfrm>
            <a:off x="839419" y="4581144"/>
            <a:ext cx="10499140" cy="7315"/>
          </a:xfrm>
          <a:prstGeom prst="rect">
            <a:avLst/>
          </a:prstGeom>
          <a:solidFill>
            <a:srgbClr val="E0D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839419" y="4626864"/>
            <a:ext cx="2825496" cy="274320"/>
          </a:xfrm>
          <a:prstGeom prst="rect">
            <a:avLst/>
          </a:prstGeom>
          <a:noFill/>
        </p:spPr>
        <p:txBody>
          <a:bodyPr wrap="square" lIns="0" rIns="0" tIns="0" bIns="0" anchor="t">
            <a:spAutoFit/>
          </a:bodyPr>
          <a:lstStyle/>
          <a:p>
            <a:pPr algn="l"/>
            <a:r>
              <a:rPr sz="1050" b="1" u="none">
                <a:solidFill>
                  <a:srgbClr val="1C1A17"/>
                </a:solidFill>
                <a:latin typeface="Segoe UI"/>
              </a:rPr>
              <a:t>Marginal cost per 1,000</a:t>
            </a:r>
          </a:p>
        </p:txBody>
      </p:sp>
      <p:sp>
        <p:nvSpPr>
          <p:cNvPr id="61" name="TextBox 60"/>
          <p:cNvSpPr txBox="1"/>
          <p:nvPr/>
        </p:nvSpPr>
        <p:spPr>
          <a:xfrm>
            <a:off x="3719779" y="4626864"/>
            <a:ext cx="1479864" cy="274320"/>
          </a:xfrm>
          <a:prstGeom prst="rect">
            <a:avLst/>
          </a:prstGeom>
          <a:noFill/>
        </p:spPr>
        <p:txBody>
          <a:bodyPr wrap="square" lIns="0" rIns="0" tIns="0" bIns="0" anchor="t">
            <a:spAutoFit/>
          </a:bodyPr>
          <a:lstStyle/>
          <a:p>
            <a:pPr algn="ctr"/>
            <a:r>
              <a:rPr sz="1000" b="0" u="none">
                <a:solidFill>
                  <a:srgbClr val="8A8478"/>
                </a:solidFill>
                <a:latin typeface="Segoe UI"/>
              </a:rPr>
              <a:t>8 hrs</a:t>
            </a:r>
          </a:p>
        </p:txBody>
      </p:sp>
      <p:sp>
        <p:nvSpPr>
          <p:cNvPr id="62" name="TextBox 61"/>
          <p:cNvSpPr txBox="1"/>
          <p:nvPr/>
        </p:nvSpPr>
        <p:spPr>
          <a:xfrm>
            <a:off x="5254508" y="4626864"/>
            <a:ext cx="1479864" cy="274320"/>
          </a:xfrm>
          <a:prstGeom prst="rect">
            <a:avLst/>
          </a:prstGeom>
          <a:noFill/>
        </p:spPr>
        <p:txBody>
          <a:bodyPr wrap="square" lIns="0" rIns="0" tIns="0" bIns="0" anchor="t">
            <a:spAutoFit/>
          </a:bodyPr>
          <a:lstStyle/>
          <a:p>
            <a:pPr algn="ctr"/>
            <a:r>
              <a:rPr sz="1000" b="0" u="none">
                <a:solidFill>
                  <a:srgbClr val="8A8478"/>
                </a:solidFill>
                <a:latin typeface="Segoe UI"/>
              </a:rPr>
              <a:t>free</a:t>
            </a:r>
          </a:p>
        </p:txBody>
      </p:sp>
      <p:sp>
        <p:nvSpPr>
          <p:cNvPr id="63" name="TextBox 62"/>
          <p:cNvSpPr txBox="1"/>
          <p:nvPr/>
        </p:nvSpPr>
        <p:spPr>
          <a:xfrm>
            <a:off x="6789237" y="4626864"/>
            <a:ext cx="1479864" cy="274320"/>
          </a:xfrm>
          <a:prstGeom prst="rect">
            <a:avLst/>
          </a:prstGeom>
          <a:noFill/>
        </p:spPr>
        <p:txBody>
          <a:bodyPr wrap="square" lIns="0" rIns="0" tIns="0" bIns="0" anchor="t">
            <a:spAutoFit/>
          </a:bodyPr>
          <a:lstStyle/>
          <a:p>
            <a:pPr algn="ctr"/>
            <a:r>
              <a:rPr sz="1000" b="0" u="none">
                <a:solidFill>
                  <a:srgbClr val="8A8478"/>
                </a:solidFill>
                <a:latin typeface="Segoe UI"/>
              </a:rPr>
              <a:t>~₹120</a:t>
            </a:r>
          </a:p>
        </p:txBody>
      </p:sp>
      <p:sp>
        <p:nvSpPr>
          <p:cNvPr id="64" name="TextBox 63"/>
          <p:cNvSpPr txBox="1"/>
          <p:nvPr/>
        </p:nvSpPr>
        <p:spPr>
          <a:xfrm>
            <a:off x="8323966" y="4626864"/>
            <a:ext cx="1479864" cy="274320"/>
          </a:xfrm>
          <a:prstGeom prst="rect">
            <a:avLst/>
          </a:prstGeom>
          <a:noFill/>
        </p:spPr>
        <p:txBody>
          <a:bodyPr wrap="square" lIns="0" rIns="0" tIns="0" bIns="0" anchor="t">
            <a:spAutoFit/>
          </a:bodyPr>
          <a:lstStyle/>
          <a:p>
            <a:pPr algn="ctr"/>
            <a:r>
              <a:rPr sz="1000" b="0" u="none">
                <a:solidFill>
                  <a:srgbClr val="8A8478"/>
                </a:solidFill>
                <a:latin typeface="Segoe UI"/>
              </a:rPr>
              <a:t>free</a:t>
            </a:r>
          </a:p>
        </p:txBody>
      </p:sp>
      <p:sp>
        <p:nvSpPr>
          <p:cNvPr id="65" name="TextBox 64"/>
          <p:cNvSpPr txBox="1"/>
          <p:nvPr/>
        </p:nvSpPr>
        <p:spPr>
          <a:xfrm>
            <a:off x="9858695" y="4626864"/>
            <a:ext cx="1479864" cy="274320"/>
          </a:xfrm>
          <a:prstGeom prst="rect">
            <a:avLst/>
          </a:prstGeom>
          <a:noFill/>
        </p:spPr>
        <p:txBody>
          <a:bodyPr wrap="square" lIns="0" rIns="0" tIns="0" bIns="0" anchor="t">
            <a:spAutoFit/>
          </a:bodyPr>
          <a:lstStyle/>
          <a:p>
            <a:pPr algn="ctr"/>
            <a:r>
              <a:rPr sz="1000" b="1" u="none">
                <a:solidFill>
                  <a:srgbClr val="2C5142"/>
                </a:solidFill>
                <a:latin typeface="Segoe UI"/>
              </a:rPr>
              <a:t>₹0</a:t>
            </a:r>
          </a:p>
        </p:txBody>
      </p:sp>
      <p:sp>
        <p:nvSpPr>
          <p:cNvPr id="66" name="Rounded Rectangle 65"/>
          <p:cNvSpPr/>
          <p:nvPr/>
        </p:nvSpPr>
        <p:spPr>
          <a:xfrm>
            <a:off x="583387" y="5376672"/>
            <a:ext cx="5395874" cy="1060704"/>
          </a:xfrm>
          <a:prstGeom prst="roundRect">
            <a:avLst>
              <a:gd name="adj" fmla="val 800"/>
            </a:avLst>
          </a:prstGeom>
          <a:solidFill>
            <a:srgbClr val="F4F1E9"/>
          </a:solidFill>
          <a:ln w="9525">
            <a:solidFill>
              <a:srgbClr val="E0DC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Rectangle 66"/>
          <p:cNvSpPr/>
          <p:nvPr/>
        </p:nvSpPr>
        <p:spPr>
          <a:xfrm>
            <a:off x="2595524" y="5257800"/>
            <a:ext cx="1371600" cy="237744"/>
          </a:xfrm>
          <a:prstGeom prst="rect">
            <a:avLst/>
          </a:prstGeom>
          <a:solidFill>
            <a:srgbClr val="EAEFEA"/>
          </a:solidFill>
          <a:ln w="7620">
            <a:solidFill>
              <a:srgbClr val="2C514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spc="120">
                <a:solidFill>
                  <a:srgbClr val="2C5142"/>
                </a:solidFill>
                <a:latin typeface="Segoe UI"/>
              </a:rPr>
              <a:t>POSITIONING</a:t>
            </a:r>
          </a:p>
        </p:txBody>
      </p:sp>
      <p:sp>
        <p:nvSpPr>
          <p:cNvPr id="68" name="TextBox 67"/>
          <p:cNvSpPr txBox="1"/>
          <p:nvPr/>
        </p:nvSpPr>
        <p:spPr>
          <a:xfrm>
            <a:off x="839419" y="5687568"/>
            <a:ext cx="4883810" cy="731520"/>
          </a:xfrm>
          <a:prstGeom prst="rect">
            <a:avLst/>
          </a:prstGeom>
          <a:noFill/>
        </p:spPr>
        <p:txBody>
          <a:bodyPr wrap="square" lIns="0" rIns="0" tIns="0" bIns="0" anchor="t">
            <a:spAutoFit/>
          </a:bodyPr>
          <a:lstStyle/>
          <a:p>
            <a:pPr algn="l">
              <a:lnSpc>
                <a:spcPct val="132000"/>
              </a:lnSpc>
            </a:pPr>
            <a:r>
              <a:rPr sz="1050" b="0" u="none">
                <a:solidFill>
                  <a:srgbClr val="4A4640"/>
                </a:solidFill>
                <a:latin typeface="Segoe UI"/>
              </a:rPr>
              <a:t>Cloud LLM triage is the obvious build and it is the one a government desk cannot adopt, because it means posting citizen complaints to a third party, per call, forever. ONDRU takes the same job offline.</a:t>
            </a:r>
          </a:p>
        </p:txBody>
      </p:sp>
      <p:sp>
        <p:nvSpPr>
          <p:cNvPr id="69" name="Rounded Rectangle 68"/>
          <p:cNvSpPr/>
          <p:nvPr/>
        </p:nvSpPr>
        <p:spPr>
          <a:xfrm>
            <a:off x="6198717" y="5376672"/>
            <a:ext cx="5395874" cy="1060704"/>
          </a:xfrm>
          <a:prstGeom prst="roundRect">
            <a:avLst>
              <a:gd name="adj" fmla="val 800"/>
            </a:avLst>
          </a:prstGeom>
          <a:solidFill>
            <a:srgbClr val="F4F1E9"/>
          </a:solidFill>
          <a:ln w="9525">
            <a:solidFill>
              <a:srgbClr val="E0DC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Rectangle 69"/>
          <p:cNvSpPr/>
          <p:nvPr/>
        </p:nvSpPr>
        <p:spPr>
          <a:xfrm>
            <a:off x="8165134" y="5257800"/>
            <a:ext cx="1463040" cy="237744"/>
          </a:xfrm>
          <a:prstGeom prst="rect">
            <a:avLst/>
          </a:prstGeom>
          <a:solidFill>
            <a:srgbClr val="EAEFEA"/>
          </a:solidFill>
          <a:ln w="7620">
            <a:solidFill>
              <a:srgbClr val="2C514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spc="120">
                <a:solidFill>
                  <a:srgbClr val="2C5142"/>
                </a:solidFill>
                <a:latin typeface="Segoe UI"/>
              </a:rPr>
              <a:t>WHAT IS NEW</a:t>
            </a:r>
          </a:p>
        </p:txBody>
      </p:sp>
      <p:sp>
        <p:nvSpPr>
          <p:cNvPr id="71" name="TextBox 70"/>
          <p:cNvSpPr txBox="1"/>
          <p:nvPr/>
        </p:nvSpPr>
        <p:spPr>
          <a:xfrm>
            <a:off x="6418173" y="5669280"/>
            <a:ext cx="4956962" cy="822960"/>
          </a:xfrm>
          <a:prstGeom prst="rect">
            <a:avLst/>
          </a:prstGeom>
          <a:noFill/>
        </p:spPr>
        <p:txBody>
          <a:bodyPr wrap="square" lIns="0" rIns="0" tIns="0" bIns="0">
            <a:spAutoFit/>
          </a:bodyPr>
          <a:lstStyle/>
          <a:p>
            <a:pPr>
              <a:lnSpc>
                <a:spcPct val="124000"/>
              </a:lnSpc>
            </a:pPr>
            <a:r>
              <a:rPr sz="850" b="1">
                <a:solidFill>
                  <a:srgbClr val="2C5142"/>
                </a:solidFill>
                <a:latin typeface="Segoe UI"/>
              </a:rPr>
              <a:t>▪  </a:t>
            </a:r>
            <a:r>
              <a:rPr sz="1050">
                <a:solidFill>
                  <a:srgbClr val="4A4640"/>
                </a:solidFill>
                <a:latin typeface="Segoe UI"/>
              </a:rPr>
              <a:t>A grievance triage tool with a measured, visible abstention rate.</a:t>
            </a:r>
          </a:p>
        </p:txBody>
      </p:sp>
      <p:sp>
        <p:nvSpPr>
          <p:cNvPr id="72" name="TextBox 71"/>
          <p:cNvSpPr txBox="1"/>
          <p:nvPr/>
        </p:nvSpPr>
        <p:spPr>
          <a:xfrm>
            <a:off x="6418173" y="5908669"/>
            <a:ext cx="4956962" cy="822960"/>
          </a:xfrm>
          <a:prstGeom prst="rect">
            <a:avLst/>
          </a:prstGeom>
          <a:noFill/>
        </p:spPr>
        <p:txBody>
          <a:bodyPr wrap="square" lIns="0" rIns="0" tIns="0" bIns="0">
            <a:spAutoFit/>
          </a:bodyPr>
          <a:lstStyle/>
          <a:p>
            <a:pPr>
              <a:lnSpc>
                <a:spcPct val="124000"/>
              </a:lnSpc>
            </a:pPr>
            <a:r>
              <a:rPr sz="850" b="1">
                <a:solidFill>
                  <a:srgbClr val="2C5142"/>
                </a:solidFill>
                <a:latin typeface="Segoe UI"/>
              </a:rPr>
              <a:t>▪  </a:t>
            </a:r>
            <a:r>
              <a:rPr sz="1050">
                <a:solidFill>
                  <a:srgbClr val="4A4640"/>
                </a:solidFill>
                <a:latin typeface="Segoe UI"/>
              </a:rPr>
              <a:t>Zero marginal cost per complaint, and nothing to procure.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3387" y="402336"/>
            <a:ext cx="9144000" cy="603504"/>
          </a:xfrm>
          <a:prstGeom prst="rect">
            <a:avLst/>
          </a:prstGeom>
          <a:noFill/>
        </p:spPr>
        <p:txBody>
          <a:bodyPr wrap="square" lIns="0" rIns="0" tIns="0" bIns="0" anchor="t">
            <a:spAutoFit/>
          </a:bodyPr>
          <a:lstStyle/>
          <a:p>
            <a:pPr algn="l"/>
            <a:r>
              <a:rPr sz="3100" b="0" u="none">
                <a:solidFill>
                  <a:srgbClr val="1C1A17"/>
                </a:solidFill>
                <a:latin typeface="Georgia"/>
              </a:rPr>
              <a:t>Impact and Future Scope</a:t>
            </a:r>
          </a:p>
        </p:txBody>
      </p:sp>
      <p:sp>
        <p:nvSpPr>
          <p:cNvPr id="4" name="Rectangle 3"/>
          <p:cNvSpPr/>
          <p:nvPr/>
        </p:nvSpPr>
        <p:spPr>
          <a:xfrm>
            <a:off x="583387" y="1060704"/>
            <a:ext cx="960120" cy="25603"/>
          </a:xfrm>
          <a:prstGeom prst="rect">
            <a:avLst/>
          </a:prstGeom>
          <a:solidFill>
            <a:srgbClr val="2C5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83387" y="1207008"/>
            <a:ext cx="9692640" cy="310896"/>
          </a:xfrm>
          <a:prstGeom prst="rect">
            <a:avLst/>
          </a:prstGeom>
          <a:noFill/>
        </p:spPr>
        <p:txBody>
          <a:bodyPr wrap="square" lIns="0" rIns="0" tIns="0" bIns="0" anchor="t">
            <a:spAutoFit/>
          </a:bodyPr>
          <a:lstStyle/>
          <a:p>
            <a:pPr algn="l"/>
            <a:r>
              <a:rPr sz="1250" b="0" u="none">
                <a:solidFill>
                  <a:srgbClr val="4A4640"/>
                </a:solidFill>
                <a:latin typeface="Segoe UI"/>
              </a:rPr>
              <a:t>What it does today, measured, and the honest next step.</a:t>
            </a:r>
          </a:p>
        </p:txBody>
      </p:sp>
      <p:sp>
        <p:nvSpPr>
          <p:cNvPr id="6" name="TextBox 5"/>
          <p:cNvSpPr txBox="1"/>
          <p:nvPr/>
        </p:nvSpPr>
        <p:spPr>
          <a:xfrm>
            <a:off x="9326880" y="457200"/>
            <a:ext cx="2286000" cy="310896"/>
          </a:xfrm>
          <a:prstGeom prst="rect">
            <a:avLst/>
          </a:prstGeom>
          <a:noFill/>
        </p:spPr>
        <p:txBody>
          <a:bodyPr wrap="square" lIns="0" rIns="0" tIns="0" bIns="0" anchor="t">
            <a:spAutoFit/>
          </a:bodyPr>
          <a:lstStyle/>
          <a:p>
            <a:pPr algn="r"/>
            <a:r>
              <a:rPr sz="1500" b="1" u="none">
                <a:solidFill>
                  <a:srgbClr val="1C1A17"/>
                </a:solidFill>
                <a:latin typeface="Georgia"/>
              </a:rPr>
              <a:t>ONDRU</a:t>
            </a:r>
          </a:p>
        </p:txBody>
      </p:sp>
      <p:sp>
        <p:nvSpPr>
          <p:cNvPr id="7" name="TextBox 6"/>
          <p:cNvSpPr txBox="1"/>
          <p:nvPr/>
        </p:nvSpPr>
        <p:spPr>
          <a:xfrm>
            <a:off x="9326880" y="749808"/>
            <a:ext cx="2286000" cy="237744"/>
          </a:xfrm>
          <a:prstGeom prst="rect">
            <a:avLst/>
          </a:prstGeom>
          <a:noFill/>
        </p:spPr>
        <p:txBody>
          <a:bodyPr wrap="square" lIns="0" rIns="0" tIns="0" bIns="0" anchor="t">
            <a:spAutoFit/>
          </a:bodyPr>
          <a:lstStyle/>
          <a:p>
            <a:pPr algn="r"/>
            <a:r>
              <a:rPr sz="900" b="0" u="none" spc="40">
                <a:solidFill>
                  <a:srgbClr val="8A8478"/>
                </a:solidFill>
                <a:latin typeface="Segoe UI"/>
              </a:rPr>
              <a:t>many voices, one issue</a:t>
            </a:r>
          </a:p>
        </p:txBody>
      </p:sp>
      <p:sp>
        <p:nvSpPr>
          <p:cNvPr id="8" name="Rounded Rectangle 7"/>
          <p:cNvSpPr/>
          <p:nvPr/>
        </p:nvSpPr>
        <p:spPr>
          <a:xfrm>
            <a:off x="583387" y="1956816"/>
            <a:ext cx="2615641" cy="1280160"/>
          </a:xfrm>
          <a:prstGeom prst="roundRect">
            <a:avLst>
              <a:gd name="adj" fmla="val 800"/>
            </a:avLst>
          </a:prstGeom>
          <a:solidFill>
            <a:srgbClr val="F4F1E9"/>
          </a:solidFill>
          <a:ln w="9525">
            <a:solidFill>
              <a:srgbClr val="E0DC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1443151" y="1837944"/>
            <a:ext cx="896112" cy="237744"/>
          </a:xfrm>
          <a:prstGeom prst="rect">
            <a:avLst/>
          </a:prstGeom>
          <a:solidFill>
            <a:srgbClr val="EAEFEA"/>
          </a:solidFill>
          <a:ln w="7620">
            <a:solidFill>
              <a:srgbClr val="2C514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spc="120">
                <a:solidFill>
                  <a:srgbClr val="2C5142"/>
                </a:solidFill>
                <a:latin typeface="Segoe UI"/>
              </a:rPr>
              <a:t>DEDUPE</a:t>
            </a:r>
          </a:p>
        </p:txBody>
      </p:sp>
      <p:sp>
        <p:nvSpPr>
          <p:cNvPr id="10" name="TextBox 9"/>
          <p:cNvSpPr txBox="1"/>
          <p:nvPr/>
        </p:nvSpPr>
        <p:spPr>
          <a:xfrm>
            <a:off x="583387" y="2286000"/>
            <a:ext cx="2615641" cy="512064"/>
          </a:xfrm>
          <a:prstGeom prst="rect">
            <a:avLst/>
          </a:prstGeom>
          <a:noFill/>
        </p:spPr>
        <p:txBody>
          <a:bodyPr wrap="square" lIns="0" rIns="0" tIns="0" bIns="0" anchor="t">
            <a:spAutoFit/>
          </a:bodyPr>
          <a:lstStyle/>
          <a:p>
            <a:pPr algn="ctr"/>
            <a:r>
              <a:rPr sz="3200" b="1" u="none">
                <a:solidFill>
                  <a:srgbClr val="2C5142"/>
                </a:solidFill>
                <a:latin typeface="Georgia"/>
              </a:rPr>
              <a:t>76.3%</a:t>
            </a:r>
          </a:p>
        </p:txBody>
      </p:sp>
      <p:sp>
        <p:nvSpPr>
          <p:cNvPr id="11" name="TextBox 10"/>
          <p:cNvSpPr txBox="1"/>
          <p:nvPr/>
        </p:nvSpPr>
        <p:spPr>
          <a:xfrm>
            <a:off x="711403" y="2798064"/>
            <a:ext cx="2359609" cy="256032"/>
          </a:xfrm>
          <a:prstGeom prst="rect">
            <a:avLst/>
          </a:prstGeom>
          <a:noFill/>
        </p:spPr>
        <p:txBody>
          <a:bodyPr wrap="square" lIns="0" rIns="0" tIns="0" bIns="0" anchor="t">
            <a:spAutoFit/>
          </a:bodyPr>
          <a:lstStyle/>
          <a:p>
            <a:pPr algn="ctr"/>
            <a:r>
              <a:rPr sz="1050" b="1" u="none">
                <a:solidFill>
                  <a:srgbClr val="1C1A17"/>
                </a:solidFill>
                <a:latin typeface="Segoe UI"/>
              </a:rPr>
              <a:t>Duplicate grouping F1</a:t>
            </a:r>
          </a:p>
        </p:txBody>
      </p:sp>
      <p:sp>
        <p:nvSpPr>
          <p:cNvPr id="12" name="TextBox 11"/>
          <p:cNvSpPr txBox="1"/>
          <p:nvPr/>
        </p:nvSpPr>
        <p:spPr>
          <a:xfrm>
            <a:off x="711403" y="2999232"/>
            <a:ext cx="2359609" cy="256032"/>
          </a:xfrm>
          <a:prstGeom prst="rect">
            <a:avLst/>
          </a:prstGeom>
          <a:noFill/>
        </p:spPr>
        <p:txBody>
          <a:bodyPr wrap="square" lIns="0" rIns="0" tIns="0" bIns="0" anchor="t">
            <a:spAutoFit/>
          </a:bodyPr>
          <a:lstStyle/>
          <a:p>
            <a:pPr algn="ctr"/>
            <a:r>
              <a:rPr sz="900" b="0" u="none">
                <a:solidFill>
                  <a:srgbClr val="8A8478"/>
                </a:solidFill>
                <a:latin typeface="Segoe UI"/>
              </a:rPr>
              <a:t>pairwise over 4,950 complaint pairs</a:t>
            </a:r>
          </a:p>
        </p:txBody>
      </p:sp>
      <p:sp>
        <p:nvSpPr>
          <p:cNvPr id="13" name="Rounded Rectangle 12"/>
          <p:cNvSpPr/>
          <p:nvPr/>
        </p:nvSpPr>
        <p:spPr>
          <a:xfrm>
            <a:off x="3381908" y="1956816"/>
            <a:ext cx="2615641" cy="1280160"/>
          </a:xfrm>
          <a:prstGeom prst="roundRect">
            <a:avLst>
              <a:gd name="adj" fmla="val 800"/>
            </a:avLst>
          </a:prstGeom>
          <a:solidFill>
            <a:srgbClr val="F4F1E9"/>
          </a:solidFill>
          <a:ln w="9525">
            <a:solidFill>
              <a:srgbClr val="E0DC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4241673" y="1837944"/>
            <a:ext cx="896112" cy="237744"/>
          </a:xfrm>
          <a:prstGeom prst="rect">
            <a:avLst/>
          </a:prstGeom>
          <a:solidFill>
            <a:srgbClr val="EAEFEA"/>
          </a:solidFill>
          <a:ln w="7620">
            <a:solidFill>
              <a:srgbClr val="2C514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spc="120">
                <a:solidFill>
                  <a:srgbClr val="2C5142"/>
                </a:solidFill>
                <a:latin typeface="Segoe UI"/>
              </a:rPr>
              <a:t>ROUTING</a:t>
            </a:r>
          </a:p>
        </p:txBody>
      </p:sp>
      <p:sp>
        <p:nvSpPr>
          <p:cNvPr id="15" name="TextBox 14"/>
          <p:cNvSpPr txBox="1"/>
          <p:nvPr/>
        </p:nvSpPr>
        <p:spPr>
          <a:xfrm>
            <a:off x="3381908" y="2286000"/>
            <a:ext cx="2615641" cy="512064"/>
          </a:xfrm>
          <a:prstGeom prst="rect">
            <a:avLst/>
          </a:prstGeom>
          <a:noFill/>
        </p:spPr>
        <p:txBody>
          <a:bodyPr wrap="square" lIns="0" rIns="0" tIns="0" bIns="0" anchor="t">
            <a:spAutoFit/>
          </a:bodyPr>
          <a:lstStyle/>
          <a:p>
            <a:pPr algn="ctr"/>
            <a:r>
              <a:rPr sz="3200" b="1" u="none">
                <a:solidFill>
                  <a:srgbClr val="2C5142"/>
                </a:solidFill>
                <a:latin typeface="Georgia"/>
              </a:rPr>
              <a:t>96.2%</a:t>
            </a:r>
          </a:p>
        </p:txBody>
      </p:sp>
      <p:sp>
        <p:nvSpPr>
          <p:cNvPr id="16" name="TextBox 15"/>
          <p:cNvSpPr txBox="1"/>
          <p:nvPr/>
        </p:nvSpPr>
        <p:spPr>
          <a:xfrm>
            <a:off x="3509924" y="2798064"/>
            <a:ext cx="2359609" cy="256032"/>
          </a:xfrm>
          <a:prstGeom prst="rect">
            <a:avLst/>
          </a:prstGeom>
          <a:noFill/>
        </p:spPr>
        <p:txBody>
          <a:bodyPr wrap="square" lIns="0" rIns="0" tIns="0" bIns="0" anchor="t">
            <a:spAutoFit/>
          </a:bodyPr>
          <a:lstStyle/>
          <a:p>
            <a:pPr algn="ctr"/>
            <a:r>
              <a:rPr sz="1050" b="1" u="none">
                <a:solidFill>
                  <a:srgbClr val="1C1A17"/>
                </a:solidFill>
                <a:latin typeface="Segoe UI"/>
              </a:rPr>
              <a:t>Routing accuracy</a:t>
            </a:r>
          </a:p>
        </p:txBody>
      </p:sp>
      <p:sp>
        <p:nvSpPr>
          <p:cNvPr id="17" name="TextBox 16"/>
          <p:cNvSpPr txBox="1"/>
          <p:nvPr/>
        </p:nvSpPr>
        <p:spPr>
          <a:xfrm>
            <a:off x="3509924" y="2999232"/>
            <a:ext cx="2359609" cy="256032"/>
          </a:xfrm>
          <a:prstGeom prst="rect">
            <a:avLst/>
          </a:prstGeom>
          <a:noFill/>
        </p:spPr>
        <p:txBody>
          <a:bodyPr wrap="square" lIns="0" rIns="0" tIns="0" bIns="0" anchor="t">
            <a:spAutoFit/>
          </a:bodyPr>
          <a:lstStyle/>
          <a:p>
            <a:pPr algn="ctr"/>
            <a:r>
              <a:rPr sz="900" b="0" u="none">
                <a:solidFill>
                  <a:srgbClr val="8A8478"/>
                </a:solidFill>
                <a:latin typeface="Segoe UI"/>
              </a:rPr>
              <a:t>on the 84% of complaints it answered</a:t>
            </a:r>
          </a:p>
        </p:txBody>
      </p:sp>
      <p:sp>
        <p:nvSpPr>
          <p:cNvPr id="18" name="Rounded Rectangle 17"/>
          <p:cNvSpPr/>
          <p:nvPr/>
        </p:nvSpPr>
        <p:spPr>
          <a:xfrm>
            <a:off x="6180429" y="1956816"/>
            <a:ext cx="2615641" cy="1280160"/>
          </a:xfrm>
          <a:prstGeom prst="roundRect">
            <a:avLst>
              <a:gd name="adj" fmla="val 800"/>
            </a:avLst>
          </a:prstGeom>
          <a:solidFill>
            <a:srgbClr val="F4F1E9"/>
          </a:solidFill>
          <a:ln w="9525">
            <a:solidFill>
              <a:srgbClr val="E0DC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040194" y="1837944"/>
            <a:ext cx="896112" cy="237744"/>
          </a:xfrm>
          <a:prstGeom prst="rect">
            <a:avLst/>
          </a:prstGeom>
          <a:solidFill>
            <a:srgbClr val="EAEFEA"/>
          </a:solidFill>
          <a:ln w="7620">
            <a:solidFill>
              <a:srgbClr val="2C514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spc="120">
                <a:solidFill>
                  <a:srgbClr val="2C5142"/>
                </a:solidFill>
                <a:latin typeface="Segoe UI"/>
              </a:rPr>
              <a:t>REFUSAL</a:t>
            </a:r>
          </a:p>
        </p:txBody>
      </p:sp>
      <p:sp>
        <p:nvSpPr>
          <p:cNvPr id="20" name="TextBox 19"/>
          <p:cNvSpPr txBox="1"/>
          <p:nvPr/>
        </p:nvSpPr>
        <p:spPr>
          <a:xfrm>
            <a:off x="6180429" y="2286000"/>
            <a:ext cx="2615641" cy="512064"/>
          </a:xfrm>
          <a:prstGeom prst="rect">
            <a:avLst/>
          </a:prstGeom>
          <a:noFill/>
        </p:spPr>
        <p:txBody>
          <a:bodyPr wrap="square" lIns="0" rIns="0" tIns="0" bIns="0" anchor="t">
            <a:spAutoFit/>
          </a:bodyPr>
          <a:lstStyle/>
          <a:p>
            <a:pPr algn="ctr"/>
            <a:r>
              <a:rPr sz="3200" b="1" u="none">
                <a:solidFill>
                  <a:srgbClr val="2C5142"/>
                </a:solidFill>
                <a:latin typeface="Georgia"/>
              </a:rPr>
              <a:t>7 / 7</a:t>
            </a:r>
          </a:p>
        </p:txBody>
      </p:sp>
      <p:sp>
        <p:nvSpPr>
          <p:cNvPr id="21" name="TextBox 20"/>
          <p:cNvSpPr txBox="1"/>
          <p:nvPr/>
        </p:nvSpPr>
        <p:spPr>
          <a:xfrm>
            <a:off x="6308445" y="2798064"/>
            <a:ext cx="2359609" cy="256032"/>
          </a:xfrm>
          <a:prstGeom prst="rect">
            <a:avLst/>
          </a:prstGeom>
          <a:noFill/>
        </p:spPr>
        <p:txBody>
          <a:bodyPr wrap="square" lIns="0" rIns="0" tIns="0" bIns="0" anchor="t">
            <a:spAutoFit/>
          </a:bodyPr>
          <a:lstStyle/>
          <a:p>
            <a:pPr algn="ctr"/>
            <a:r>
              <a:rPr sz="1050" b="1" u="none">
                <a:solidFill>
                  <a:srgbClr val="1C1A17"/>
                </a:solidFill>
                <a:latin typeface="Segoe UI"/>
              </a:rPr>
              <a:t>Correctly abstained</a:t>
            </a:r>
          </a:p>
        </p:txBody>
      </p:sp>
      <p:sp>
        <p:nvSpPr>
          <p:cNvPr id="22" name="TextBox 21"/>
          <p:cNvSpPr txBox="1"/>
          <p:nvPr/>
        </p:nvSpPr>
        <p:spPr>
          <a:xfrm>
            <a:off x="6308445" y="2999232"/>
            <a:ext cx="2359609" cy="256032"/>
          </a:xfrm>
          <a:prstGeom prst="rect">
            <a:avLst/>
          </a:prstGeom>
          <a:noFill/>
        </p:spPr>
        <p:txBody>
          <a:bodyPr wrap="square" lIns="0" rIns="0" tIns="0" bIns="0" anchor="t">
            <a:spAutoFit/>
          </a:bodyPr>
          <a:lstStyle/>
          <a:p>
            <a:pPr algn="ctr"/>
            <a:r>
              <a:rPr sz="900" b="0" u="none">
                <a:solidFill>
                  <a:srgbClr val="8A8478"/>
                </a:solidFill>
                <a:latin typeface="Segoe UI"/>
              </a:rPr>
              <a:t>on the deliberately unroutable ones</a:t>
            </a:r>
          </a:p>
        </p:txBody>
      </p:sp>
      <p:sp>
        <p:nvSpPr>
          <p:cNvPr id="23" name="Rounded Rectangle 22"/>
          <p:cNvSpPr/>
          <p:nvPr/>
        </p:nvSpPr>
        <p:spPr>
          <a:xfrm>
            <a:off x="8978950" y="1956816"/>
            <a:ext cx="2615641" cy="1280160"/>
          </a:xfrm>
          <a:prstGeom prst="roundRect">
            <a:avLst>
              <a:gd name="adj" fmla="val 800"/>
            </a:avLst>
          </a:prstGeom>
          <a:solidFill>
            <a:srgbClr val="F4F1E9"/>
          </a:solidFill>
          <a:ln w="9525">
            <a:solidFill>
              <a:srgbClr val="E0DC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9838715" y="1837944"/>
            <a:ext cx="896112" cy="237744"/>
          </a:xfrm>
          <a:prstGeom prst="rect">
            <a:avLst/>
          </a:prstGeom>
          <a:solidFill>
            <a:srgbClr val="EAEFEA"/>
          </a:solidFill>
          <a:ln w="7620">
            <a:solidFill>
              <a:srgbClr val="2C514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spc="120">
                <a:solidFill>
                  <a:srgbClr val="2C5142"/>
                </a:solidFill>
                <a:latin typeface="Segoe UI"/>
              </a:rPr>
              <a:t>SAFETY</a:t>
            </a:r>
          </a:p>
        </p:txBody>
      </p:sp>
      <p:sp>
        <p:nvSpPr>
          <p:cNvPr id="25" name="TextBox 24"/>
          <p:cNvSpPr txBox="1"/>
          <p:nvPr/>
        </p:nvSpPr>
        <p:spPr>
          <a:xfrm>
            <a:off x="8978950" y="2286000"/>
            <a:ext cx="2615641" cy="512064"/>
          </a:xfrm>
          <a:prstGeom prst="rect">
            <a:avLst/>
          </a:prstGeom>
          <a:noFill/>
        </p:spPr>
        <p:txBody>
          <a:bodyPr wrap="square" lIns="0" rIns="0" tIns="0" bIns="0" anchor="t">
            <a:spAutoFit/>
          </a:bodyPr>
          <a:lstStyle/>
          <a:p>
            <a:pPr algn="ctr"/>
            <a:r>
              <a:rPr sz="3200" b="1" u="none">
                <a:solidFill>
                  <a:srgbClr val="2C5142"/>
                </a:solidFill>
                <a:latin typeface="Georgia"/>
              </a:rPr>
              <a:t>0</a:t>
            </a:r>
          </a:p>
        </p:txBody>
      </p:sp>
      <p:sp>
        <p:nvSpPr>
          <p:cNvPr id="26" name="TextBox 25"/>
          <p:cNvSpPr txBox="1"/>
          <p:nvPr/>
        </p:nvSpPr>
        <p:spPr>
          <a:xfrm>
            <a:off x="9106966" y="2798064"/>
            <a:ext cx="2359609" cy="256032"/>
          </a:xfrm>
          <a:prstGeom prst="rect">
            <a:avLst/>
          </a:prstGeom>
          <a:noFill/>
        </p:spPr>
        <p:txBody>
          <a:bodyPr wrap="square" lIns="0" rIns="0" tIns="0" bIns="0" anchor="t">
            <a:spAutoFit/>
          </a:bodyPr>
          <a:lstStyle/>
          <a:p>
            <a:pPr algn="ctr"/>
            <a:r>
              <a:rPr sz="1050" b="1" u="none">
                <a:solidFill>
                  <a:srgbClr val="1C1A17"/>
                </a:solidFill>
                <a:latin typeface="Segoe UI"/>
              </a:rPr>
              <a:t>True P1 sent to routine</a:t>
            </a:r>
          </a:p>
        </p:txBody>
      </p:sp>
      <p:sp>
        <p:nvSpPr>
          <p:cNvPr id="27" name="TextBox 26"/>
          <p:cNvSpPr txBox="1"/>
          <p:nvPr/>
        </p:nvSpPr>
        <p:spPr>
          <a:xfrm>
            <a:off x="9106966" y="2999232"/>
            <a:ext cx="2359609" cy="256032"/>
          </a:xfrm>
          <a:prstGeom prst="rect">
            <a:avLst/>
          </a:prstGeom>
          <a:noFill/>
        </p:spPr>
        <p:txBody>
          <a:bodyPr wrap="square" lIns="0" rIns="0" tIns="0" bIns="0" anchor="t">
            <a:spAutoFit/>
          </a:bodyPr>
          <a:lstStyle/>
          <a:p>
            <a:pPr algn="ctr"/>
            <a:r>
              <a:rPr sz="900" b="0" u="none">
                <a:solidFill>
                  <a:srgbClr val="8A8478"/>
                </a:solidFill>
                <a:latin typeface="Segoe UI"/>
              </a:rPr>
              <a:t>P1 recall 84.6%, never demoted to P3</a:t>
            </a:r>
          </a:p>
        </p:txBody>
      </p:sp>
      <p:sp>
        <p:nvSpPr>
          <p:cNvPr id="28" name="Rounded Rectangle 27"/>
          <p:cNvSpPr/>
          <p:nvPr/>
        </p:nvSpPr>
        <p:spPr>
          <a:xfrm>
            <a:off x="583387" y="3639312"/>
            <a:ext cx="11011204" cy="1700784"/>
          </a:xfrm>
          <a:prstGeom prst="roundRect">
            <a:avLst>
              <a:gd name="adj" fmla="val 800"/>
            </a:avLst>
          </a:prstGeom>
          <a:solidFill>
            <a:srgbClr val="FFFFFF"/>
          </a:solidFill>
          <a:ln w="9525">
            <a:solidFill>
              <a:srgbClr val="E0DC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5494629" y="3520440"/>
            <a:ext cx="1188720" cy="237744"/>
          </a:xfrm>
          <a:prstGeom prst="rect">
            <a:avLst/>
          </a:prstGeom>
          <a:solidFill>
            <a:srgbClr val="EAEFEA"/>
          </a:solidFill>
          <a:ln w="7620">
            <a:solidFill>
              <a:srgbClr val="2C514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spc="120">
                <a:solidFill>
                  <a:srgbClr val="2C5142"/>
                </a:solidFill>
                <a:latin typeface="Segoe UI"/>
              </a:rPr>
              <a:t>ROADMAP</a:t>
            </a:r>
          </a:p>
        </p:txBody>
      </p:sp>
      <p:sp>
        <p:nvSpPr>
          <p:cNvPr id="30" name="TextBox 29"/>
          <p:cNvSpPr txBox="1"/>
          <p:nvPr/>
        </p:nvSpPr>
        <p:spPr>
          <a:xfrm>
            <a:off x="857707" y="4041648"/>
            <a:ext cx="3377793" cy="237744"/>
          </a:xfrm>
          <a:prstGeom prst="rect">
            <a:avLst/>
          </a:prstGeom>
          <a:noFill/>
        </p:spPr>
        <p:txBody>
          <a:bodyPr wrap="square" lIns="0" rIns="0" tIns="0" bIns="0" anchor="t">
            <a:spAutoFit/>
          </a:bodyPr>
          <a:lstStyle/>
          <a:p>
            <a:pPr algn="l"/>
            <a:r>
              <a:rPr sz="950" b="1" u="none" spc="60">
                <a:solidFill>
                  <a:srgbClr val="2C5142"/>
                </a:solidFill>
                <a:latin typeface="Segoe UI"/>
              </a:rPr>
              <a:t>P1   ·   NOW   ·   PROTOTYPE</a:t>
            </a:r>
          </a:p>
        </p:txBody>
      </p:sp>
      <p:sp>
        <p:nvSpPr>
          <p:cNvPr id="31" name="TextBox 30"/>
          <p:cNvSpPr txBox="1"/>
          <p:nvPr/>
        </p:nvSpPr>
        <p:spPr>
          <a:xfrm>
            <a:off x="857707" y="4251960"/>
            <a:ext cx="3377793" cy="457200"/>
          </a:xfrm>
          <a:prstGeom prst="rect">
            <a:avLst/>
          </a:prstGeom>
          <a:noFill/>
        </p:spPr>
        <p:txBody>
          <a:bodyPr wrap="square" lIns="0" rIns="0" tIns="0" bIns="0" anchor="t">
            <a:spAutoFit/>
          </a:bodyPr>
          <a:lstStyle/>
          <a:p>
            <a:pPr algn="l">
              <a:lnSpc>
                <a:spcPct val="126000"/>
              </a:lnSpc>
            </a:pPr>
            <a:r>
              <a:rPr sz="1000" b="0" u="none">
                <a:solidFill>
                  <a:srgbClr val="4A4640"/>
                </a:solidFill>
                <a:latin typeface="Segoe UI"/>
              </a:rPr>
              <a:t>100 labelled complaints, live metrics page, deployed and public.</a:t>
            </a:r>
          </a:p>
        </p:txBody>
      </p:sp>
      <p:sp>
        <p:nvSpPr>
          <p:cNvPr id="32" name="TextBox 31"/>
          <p:cNvSpPr txBox="1"/>
          <p:nvPr/>
        </p:nvSpPr>
        <p:spPr>
          <a:xfrm>
            <a:off x="4509820" y="4041648"/>
            <a:ext cx="3377793" cy="237744"/>
          </a:xfrm>
          <a:prstGeom prst="rect">
            <a:avLst/>
          </a:prstGeom>
          <a:noFill/>
        </p:spPr>
        <p:txBody>
          <a:bodyPr wrap="square" lIns="0" rIns="0" tIns="0" bIns="0" anchor="t">
            <a:spAutoFit/>
          </a:bodyPr>
          <a:lstStyle/>
          <a:p>
            <a:pPr algn="l"/>
            <a:r>
              <a:rPr sz="950" b="1" u="none" spc="60">
                <a:solidFill>
                  <a:srgbClr val="2C5142"/>
                </a:solidFill>
                <a:latin typeface="Segoe UI"/>
              </a:rPr>
              <a:t>P2   ·   NEXT   ·   REAL LABELS</a:t>
            </a:r>
          </a:p>
        </p:txBody>
      </p:sp>
      <p:sp>
        <p:nvSpPr>
          <p:cNvPr id="33" name="TextBox 32"/>
          <p:cNvSpPr txBox="1"/>
          <p:nvPr/>
        </p:nvSpPr>
        <p:spPr>
          <a:xfrm>
            <a:off x="4509820" y="4251960"/>
            <a:ext cx="3377793" cy="457200"/>
          </a:xfrm>
          <a:prstGeom prst="rect">
            <a:avLst/>
          </a:prstGeom>
          <a:noFill/>
        </p:spPr>
        <p:txBody>
          <a:bodyPr wrap="square" lIns="0" rIns="0" tIns="0" bIns="0" anchor="t">
            <a:spAutoFit/>
          </a:bodyPr>
          <a:lstStyle/>
          <a:p>
            <a:pPr algn="l">
              <a:lnSpc>
                <a:spcPct val="126000"/>
              </a:lnSpc>
            </a:pPr>
            <a:r>
              <a:rPr sz="1000" b="0" u="none">
                <a:solidFill>
                  <a:srgbClr val="4A4640"/>
                </a:solidFill>
                <a:latin typeface="Segoe UI"/>
              </a:rPr>
              <a:t>200 complaints from one Coimbatore ward, labelled by that ward officer.</a:t>
            </a:r>
          </a:p>
        </p:txBody>
      </p:sp>
      <p:sp>
        <p:nvSpPr>
          <p:cNvPr id="34" name="TextBox 33"/>
          <p:cNvSpPr txBox="1"/>
          <p:nvPr/>
        </p:nvSpPr>
        <p:spPr>
          <a:xfrm>
            <a:off x="8161934" y="4041648"/>
            <a:ext cx="3377793" cy="237744"/>
          </a:xfrm>
          <a:prstGeom prst="rect">
            <a:avLst/>
          </a:prstGeom>
          <a:noFill/>
        </p:spPr>
        <p:txBody>
          <a:bodyPr wrap="square" lIns="0" rIns="0" tIns="0" bIns="0" anchor="t">
            <a:spAutoFit/>
          </a:bodyPr>
          <a:lstStyle/>
          <a:p>
            <a:pPr algn="l"/>
            <a:r>
              <a:rPr sz="950" b="1" u="none" spc="60">
                <a:solidFill>
                  <a:srgbClr val="2C5142"/>
                </a:solidFill>
                <a:latin typeface="Segoe UI"/>
              </a:rPr>
              <a:t>P3   ·   +1 MO   ·   TAMIL SCRIPT</a:t>
            </a:r>
          </a:p>
        </p:txBody>
      </p:sp>
      <p:sp>
        <p:nvSpPr>
          <p:cNvPr id="35" name="TextBox 34"/>
          <p:cNvSpPr txBox="1"/>
          <p:nvPr/>
        </p:nvSpPr>
        <p:spPr>
          <a:xfrm>
            <a:off x="8161934" y="4251960"/>
            <a:ext cx="3377793" cy="457200"/>
          </a:xfrm>
          <a:prstGeom prst="rect">
            <a:avLst/>
          </a:prstGeom>
          <a:noFill/>
        </p:spPr>
        <p:txBody>
          <a:bodyPr wrap="square" lIns="0" rIns="0" tIns="0" bIns="0" anchor="t">
            <a:spAutoFit/>
          </a:bodyPr>
          <a:lstStyle/>
          <a:p>
            <a:pPr algn="l">
              <a:lnSpc>
                <a:spcPct val="126000"/>
              </a:lnSpc>
            </a:pPr>
            <a:r>
              <a:rPr sz="1000" b="0" u="none">
                <a:solidFill>
                  <a:srgbClr val="4A4640"/>
                </a:solidFill>
                <a:latin typeface="Segoe UI"/>
              </a:rPr>
              <a:t>Swap in a multilingual encoder so native Tamil, not just transliteration, is handled.</a:t>
            </a:r>
          </a:p>
        </p:txBody>
      </p:sp>
      <p:sp>
        <p:nvSpPr>
          <p:cNvPr id="36" name="TextBox 35"/>
          <p:cNvSpPr txBox="1"/>
          <p:nvPr/>
        </p:nvSpPr>
        <p:spPr>
          <a:xfrm>
            <a:off x="857707" y="4718304"/>
            <a:ext cx="3377793" cy="237744"/>
          </a:xfrm>
          <a:prstGeom prst="rect">
            <a:avLst/>
          </a:prstGeom>
          <a:noFill/>
        </p:spPr>
        <p:txBody>
          <a:bodyPr wrap="square" lIns="0" rIns="0" tIns="0" bIns="0" anchor="t">
            <a:spAutoFit/>
          </a:bodyPr>
          <a:lstStyle/>
          <a:p>
            <a:pPr algn="l"/>
            <a:r>
              <a:rPr sz="950" b="1" u="none" spc="60">
                <a:solidFill>
                  <a:srgbClr val="2C5142"/>
                </a:solidFill>
                <a:latin typeface="Segoe UI"/>
              </a:rPr>
              <a:t>P4   ·   +2 MO   ·   OFFICER FEEDBACK</a:t>
            </a:r>
          </a:p>
        </p:txBody>
      </p:sp>
      <p:sp>
        <p:nvSpPr>
          <p:cNvPr id="37" name="TextBox 36"/>
          <p:cNvSpPr txBox="1"/>
          <p:nvPr/>
        </p:nvSpPr>
        <p:spPr>
          <a:xfrm>
            <a:off x="857707" y="4928616"/>
            <a:ext cx="3377793" cy="457200"/>
          </a:xfrm>
          <a:prstGeom prst="rect">
            <a:avLst/>
          </a:prstGeom>
          <a:noFill/>
        </p:spPr>
        <p:txBody>
          <a:bodyPr wrap="square" lIns="0" rIns="0" tIns="0" bIns="0" anchor="t">
            <a:spAutoFit/>
          </a:bodyPr>
          <a:lstStyle/>
          <a:p>
            <a:pPr algn="l">
              <a:lnSpc>
                <a:spcPct val="126000"/>
              </a:lnSpc>
            </a:pPr>
            <a:r>
              <a:rPr sz="1000" b="0" u="none">
                <a:solidFill>
                  <a:srgbClr val="4A4640"/>
                </a:solidFill>
                <a:latin typeface="Segoe UI"/>
              </a:rPr>
              <a:t>A re-route button that logs corrections, so thresholds tune on real disagreement.</a:t>
            </a:r>
          </a:p>
        </p:txBody>
      </p:sp>
      <p:sp>
        <p:nvSpPr>
          <p:cNvPr id="38" name="TextBox 37"/>
          <p:cNvSpPr txBox="1"/>
          <p:nvPr/>
        </p:nvSpPr>
        <p:spPr>
          <a:xfrm>
            <a:off x="4509820" y="4718304"/>
            <a:ext cx="3377793" cy="237744"/>
          </a:xfrm>
          <a:prstGeom prst="rect">
            <a:avLst/>
          </a:prstGeom>
          <a:noFill/>
        </p:spPr>
        <p:txBody>
          <a:bodyPr wrap="square" lIns="0" rIns="0" tIns="0" bIns="0" anchor="t">
            <a:spAutoFit/>
          </a:bodyPr>
          <a:lstStyle/>
          <a:p>
            <a:pPr algn="l"/>
            <a:r>
              <a:rPr sz="950" b="1" u="none" spc="60">
                <a:solidFill>
                  <a:srgbClr val="2C5142"/>
                </a:solidFill>
                <a:latin typeface="Segoe UI"/>
              </a:rPr>
              <a:t>P5   ·   +3 MO   ·   PORTAL IMPORT</a:t>
            </a:r>
          </a:p>
        </p:txBody>
      </p:sp>
      <p:sp>
        <p:nvSpPr>
          <p:cNvPr id="39" name="TextBox 38"/>
          <p:cNvSpPr txBox="1"/>
          <p:nvPr/>
        </p:nvSpPr>
        <p:spPr>
          <a:xfrm>
            <a:off x="4509820" y="4928616"/>
            <a:ext cx="3377793" cy="457200"/>
          </a:xfrm>
          <a:prstGeom prst="rect">
            <a:avLst/>
          </a:prstGeom>
          <a:noFill/>
        </p:spPr>
        <p:txBody>
          <a:bodyPr wrap="square" lIns="0" rIns="0" tIns="0" bIns="0" anchor="t">
            <a:spAutoFit/>
          </a:bodyPr>
          <a:lstStyle/>
          <a:p>
            <a:pPr algn="l">
              <a:lnSpc>
                <a:spcPct val="126000"/>
              </a:lnSpc>
            </a:pPr>
            <a:r>
              <a:rPr sz="1000" b="0" u="none">
                <a:solidFill>
                  <a:srgbClr val="4A4640"/>
                </a:solidFill>
                <a:latin typeface="Segoe UI"/>
              </a:rPr>
              <a:t>Read a CM Helpline or ASKTN CSV export directly, write back grouped incident ids.</a:t>
            </a:r>
          </a:p>
        </p:txBody>
      </p:sp>
      <p:sp>
        <p:nvSpPr>
          <p:cNvPr id="40" name="TextBox 39"/>
          <p:cNvSpPr txBox="1"/>
          <p:nvPr/>
        </p:nvSpPr>
        <p:spPr>
          <a:xfrm>
            <a:off x="8161934" y="4718304"/>
            <a:ext cx="3377793" cy="237744"/>
          </a:xfrm>
          <a:prstGeom prst="rect">
            <a:avLst/>
          </a:prstGeom>
          <a:noFill/>
        </p:spPr>
        <p:txBody>
          <a:bodyPr wrap="square" lIns="0" rIns="0" tIns="0" bIns="0" anchor="t">
            <a:spAutoFit/>
          </a:bodyPr>
          <a:lstStyle/>
          <a:p>
            <a:pPr algn="l"/>
            <a:r>
              <a:rPr sz="950" b="1" u="none" spc="60">
                <a:solidFill>
                  <a:srgbClr val="2C5142"/>
                </a:solidFill>
                <a:latin typeface="Segoe UI"/>
              </a:rPr>
              <a:t>P6   ·   +6 MO   ·   PILOT</a:t>
            </a:r>
          </a:p>
        </p:txBody>
      </p:sp>
      <p:sp>
        <p:nvSpPr>
          <p:cNvPr id="41" name="TextBox 40"/>
          <p:cNvSpPr txBox="1"/>
          <p:nvPr/>
        </p:nvSpPr>
        <p:spPr>
          <a:xfrm>
            <a:off x="8161934" y="4928616"/>
            <a:ext cx="3377793" cy="457200"/>
          </a:xfrm>
          <a:prstGeom prst="rect">
            <a:avLst/>
          </a:prstGeom>
          <a:noFill/>
        </p:spPr>
        <p:txBody>
          <a:bodyPr wrap="square" lIns="0" rIns="0" tIns="0" bIns="0" anchor="t">
            <a:spAutoFit/>
          </a:bodyPr>
          <a:lstStyle/>
          <a:p>
            <a:pPr algn="l">
              <a:lnSpc>
                <a:spcPct val="126000"/>
              </a:lnSpc>
            </a:pPr>
            <a:r>
              <a:rPr sz="1000" b="0" u="none">
                <a:solidFill>
                  <a:srgbClr val="4A4640"/>
                </a:solidFill>
                <a:latin typeface="Segoe UI"/>
              </a:rPr>
              <a:t>One ward, one month, measured against the desk own resolution times.</a:t>
            </a:r>
          </a:p>
        </p:txBody>
      </p:sp>
      <p:sp>
        <p:nvSpPr>
          <p:cNvPr id="42" name="Rounded Rectangle 41"/>
          <p:cNvSpPr/>
          <p:nvPr/>
        </p:nvSpPr>
        <p:spPr>
          <a:xfrm>
            <a:off x="583387" y="5614416"/>
            <a:ext cx="11011204" cy="804672"/>
          </a:xfrm>
          <a:prstGeom prst="roundRect">
            <a:avLst>
              <a:gd name="adj" fmla="val 800"/>
            </a:avLst>
          </a:prstGeom>
          <a:solidFill>
            <a:srgbClr val="FBF3E6"/>
          </a:solidFill>
          <a:ln w="9525">
            <a:solidFill>
              <a:srgbClr val="8A64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5311749" y="5495544"/>
            <a:ext cx="1554480" cy="237744"/>
          </a:xfrm>
          <a:prstGeom prst="rect">
            <a:avLst/>
          </a:prstGeom>
          <a:solidFill>
            <a:srgbClr val="FBF3E6"/>
          </a:solidFill>
          <a:ln w="7620">
            <a:solidFill>
              <a:srgbClr val="8A6414"/>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spc="120">
                <a:solidFill>
                  <a:srgbClr val="8A6414"/>
                </a:solidFill>
                <a:latin typeface="Segoe UI"/>
              </a:rPr>
              <a:t>STATED LIMITS</a:t>
            </a:r>
          </a:p>
        </p:txBody>
      </p:sp>
      <p:sp>
        <p:nvSpPr>
          <p:cNvPr id="44" name="TextBox 43"/>
          <p:cNvSpPr txBox="1"/>
          <p:nvPr/>
        </p:nvSpPr>
        <p:spPr>
          <a:xfrm>
            <a:off x="912571" y="5870448"/>
            <a:ext cx="10352836" cy="548640"/>
          </a:xfrm>
          <a:prstGeom prst="rect">
            <a:avLst/>
          </a:prstGeom>
          <a:noFill/>
        </p:spPr>
        <p:txBody>
          <a:bodyPr wrap="square" lIns="0" rIns="0" tIns="0" bIns="0" anchor="t">
            <a:spAutoFit/>
          </a:bodyPr>
          <a:lstStyle/>
          <a:p>
            <a:pPr algn="ctr">
              <a:lnSpc>
                <a:spcPct val="132000"/>
              </a:lnSpc>
            </a:pPr>
            <a:r>
              <a:rPr sz="1050" b="0" u="none">
                <a:solidFill>
                  <a:srgbClr val="4A4640"/>
                </a:solidFill>
                <a:latin typeface="Segoe UI"/>
              </a:rPr>
              <a:t>The 100 complaints were written by us to match the register real ones arrive in, and the desk anchors were written by the same hand, so treat routing accuracy as an upper bound. Urgency errors are lopsided: it over-calls P1 far more often than it under-calls it. Real labels from a real ward are the next step, not more features.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1133856"/>
            <a:ext cx="12191695" cy="1097280"/>
          </a:xfrm>
          <a:prstGeom prst="rect">
            <a:avLst/>
          </a:prstGeom>
          <a:noFill/>
        </p:spPr>
        <p:txBody>
          <a:bodyPr wrap="square" lIns="0" rIns="0" tIns="0" bIns="0" anchor="t">
            <a:spAutoFit/>
          </a:bodyPr>
          <a:lstStyle/>
          <a:p>
            <a:pPr algn="ctr"/>
            <a:r>
              <a:rPr sz="5200" b="0" u="none">
                <a:solidFill>
                  <a:srgbClr val="1C1A17"/>
                </a:solidFill>
                <a:latin typeface="Georgia"/>
              </a:rPr>
              <a:t>Thank You</a:t>
            </a:r>
          </a:p>
        </p:txBody>
      </p:sp>
      <p:sp>
        <p:nvSpPr>
          <p:cNvPr id="4" name="Rectangle 3"/>
          <p:cNvSpPr/>
          <p:nvPr/>
        </p:nvSpPr>
        <p:spPr>
          <a:xfrm>
            <a:off x="5592927" y="2231136"/>
            <a:ext cx="1005840" cy="25603"/>
          </a:xfrm>
          <a:prstGeom prst="rect">
            <a:avLst/>
          </a:prstGeom>
          <a:solidFill>
            <a:srgbClr val="2C5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0" y="2432304"/>
            <a:ext cx="12191695" cy="365760"/>
          </a:xfrm>
          <a:prstGeom prst="rect">
            <a:avLst/>
          </a:prstGeom>
          <a:noFill/>
        </p:spPr>
        <p:txBody>
          <a:bodyPr wrap="square" lIns="0" rIns="0" tIns="0" bIns="0" anchor="t">
            <a:spAutoFit/>
          </a:bodyPr>
          <a:lstStyle/>
          <a:p>
            <a:pPr algn="ctr"/>
            <a:r>
              <a:rPr sz="1400" b="1" u="none">
                <a:solidFill>
                  <a:srgbClr val="2C5142"/>
                </a:solidFill>
                <a:latin typeface="Segoe UI"/>
              </a:rPr>
              <a:t>ONDRU   ·   many voices, one issue</a:t>
            </a:r>
          </a:p>
        </p:txBody>
      </p:sp>
      <p:sp>
        <p:nvSpPr>
          <p:cNvPr id="6" name="Rounded Rectangle 5"/>
          <p:cNvSpPr/>
          <p:nvPr/>
        </p:nvSpPr>
        <p:spPr>
          <a:xfrm>
            <a:off x="583387" y="3127248"/>
            <a:ext cx="2615641" cy="1152144"/>
          </a:xfrm>
          <a:prstGeom prst="roundRect">
            <a:avLst>
              <a:gd name="adj" fmla="val 800"/>
            </a:avLst>
          </a:prstGeom>
          <a:solidFill>
            <a:srgbClr val="FFFFFF"/>
          </a:solidFill>
          <a:ln w="9525">
            <a:solidFill>
              <a:srgbClr val="E0DC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68831" y="3008376"/>
            <a:ext cx="1444752" cy="237744"/>
          </a:xfrm>
          <a:prstGeom prst="rect">
            <a:avLst/>
          </a:prstGeom>
          <a:solidFill>
            <a:srgbClr val="EAEFEA"/>
          </a:solidFill>
          <a:ln w="7620">
            <a:solidFill>
              <a:srgbClr val="2C514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spc="120">
                <a:solidFill>
                  <a:srgbClr val="2C5142"/>
                </a:solidFill>
                <a:latin typeface="Segoe UI"/>
              </a:rPr>
              <a:t>DEMO VIDEO</a:t>
            </a:r>
          </a:p>
        </p:txBody>
      </p:sp>
      <p:sp>
        <p:nvSpPr>
          <p:cNvPr id="8" name="TextBox 7"/>
          <p:cNvSpPr txBox="1"/>
          <p:nvPr/>
        </p:nvSpPr>
        <p:spPr>
          <a:xfrm>
            <a:off x="656539" y="3474720"/>
            <a:ext cx="2469337" cy="475488"/>
          </a:xfrm>
          <a:prstGeom prst="rect">
            <a:avLst/>
          </a:prstGeom>
          <a:noFill/>
        </p:spPr>
        <p:txBody>
          <a:bodyPr wrap="square" lIns="0" rIns="0" tIns="0" bIns="0" anchor="t">
            <a:spAutoFit/>
          </a:bodyPr>
          <a:lstStyle/>
          <a:p>
            <a:pPr algn="ctr">
              <a:lnSpc>
                <a:spcPct val="125000"/>
              </a:lnSpc>
            </a:pPr>
            <a:r>
              <a:rPr sz="850" b="1" u="none">
                <a:solidFill>
                  <a:srgbClr val="1C1A17"/>
                </a:solidFill>
                <a:latin typeface="Segoe UI"/>
                <a:hlinkClick r:id="rId2"/>
              </a:rPr>
              <a:t>drive.google.com/file/d/1wskAFJJ6Vx5H08E7pGRBakwX2vZdtDsc/view</a:t>
            </a:r>
          </a:p>
        </p:txBody>
      </p:sp>
      <p:sp>
        <p:nvSpPr>
          <p:cNvPr id="9" name="TextBox 8"/>
          <p:cNvSpPr txBox="1"/>
          <p:nvPr/>
        </p:nvSpPr>
        <p:spPr>
          <a:xfrm>
            <a:off x="674827" y="3968496"/>
            <a:ext cx="2432761" cy="256032"/>
          </a:xfrm>
          <a:prstGeom prst="rect">
            <a:avLst/>
          </a:prstGeom>
          <a:noFill/>
        </p:spPr>
        <p:txBody>
          <a:bodyPr wrap="square" lIns="0" rIns="0" tIns="0" bIns="0" anchor="t">
            <a:spAutoFit/>
          </a:bodyPr>
          <a:lstStyle/>
          <a:p>
            <a:pPr algn="ctr"/>
            <a:r>
              <a:rPr sz="950" b="0" u="none">
                <a:solidFill>
                  <a:srgbClr val="8A8478"/>
                </a:solidFill>
                <a:latin typeface="Segoe UI"/>
              </a:rPr>
              <a:t>3 minute walkthrough</a:t>
            </a:r>
          </a:p>
        </p:txBody>
      </p:sp>
      <p:sp>
        <p:nvSpPr>
          <p:cNvPr id="10" name="Rounded Rectangle 9"/>
          <p:cNvSpPr/>
          <p:nvPr/>
        </p:nvSpPr>
        <p:spPr>
          <a:xfrm>
            <a:off x="3381908" y="3127248"/>
            <a:ext cx="2615641" cy="1152144"/>
          </a:xfrm>
          <a:prstGeom prst="roundRect">
            <a:avLst>
              <a:gd name="adj" fmla="val 800"/>
            </a:avLst>
          </a:prstGeom>
          <a:solidFill>
            <a:srgbClr val="FFFFFF"/>
          </a:solidFill>
          <a:ln w="9525">
            <a:solidFill>
              <a:srgbClr val="E0DC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967353" y="3008376"/>
            <a:ext cx="1444752" cy="237744"/>
          </a:xfrm>
          <a:prstGeom prst="rect">
            <a:avLst/>
          </a:prstGeom>
          <a:solidFill>
            <a:srgbClr val="EAEFEA"/>
          </a:solidFill>
          <a:ln w="7620">
            <a:solidFill>
              <a:srgbClr val="2C514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spc="120">
                <a:solidFill>
                  <a:srgbClr val="2C5142"/>
                </a:solidFill>
                <a:latin typeface="Segoe UI"/>
              </a:rPr>
              <a:t>LIVE APPLICATION</a:t>
            </a:r>
          </a:p>
        </p:txBody>
      </p:sp>
      <p:sp>
        <p:nvSpPr>
          <p:cNvPr id="12" name="TextBox 11"/>
          <p:cNvSpPr txBox="1"/>
          <p:nvPr/>
        </p:nvSpPr>
        <p:spPr>
          <a:xfrm>
            <a:off x="3455060" y="3474720"/>
            <a:ext cx="2469337" cy="475488"/>
          </a:xfrm>
          <a:prstGeom prst="rect">
            <a:avLst/>
          </a:prstGeom>
          <a:noFill/>
        </p:spPr>
        <p:txBody>
          <a:bodyPr wrap="square" lIns="0" rIns="0" tIns="0" bIns="0" anchor="t">
            <a:spAutoFit/>
          </a:bodyPr>
          <a:lstStyle/>
          <a:p>
            <a:pPr algn="ctr">
              <a:lnSpc>
                <a:spcPct val="125000"/>
              </a:lnSpc>
            </a:pPr>
            <a:r>
              <a:rPr sz="1050" b="1" u="none">
                <a:solidFill>
                  <a:srgbClr val="1C1A17"/>
                </a:solidFill>
                <a:latin typeface="Segoe UI"/>
                <a:hlinkClick r:id="rId3"/>
              </a:rPr>
              <a:t>quantum-pi-blush.vercel.app</a:t>
            </a:r>
          </a:p>
        </p:txBody>
      </p:sp>
      <p:sp>
        <p:nvSpPr>
          <p:cNvPr id="13" name="TextBox 12"/>
          <p:cNvSpPr txBox="1"/>
          <p:nvPr/>
        </p:nvSpPr>
        <p:spPr>
          <a:xfrm>
            <a:off x="3473348" y="3968496"/>
            <a:ext cx="2432761" cy="256032"/>
          </a:xfrm>
          <a:prstGeom prst="rect">
            <a:avLst/>
          </a:prstGeom>
          <a:noFill/>
        </p:spPr>
        <p:txBody>
          <a:bodyPr wrap="square" lIns="0" rIns="0" tIns="0" bIns="0" anchor="t">
            <a:spAutoFit/>
          </a:bodyPr>
          <a:lstStyle/>
          <a:p>
            <a:pPr algn="ctr"/>
            <a:r>
              <a:rPr sz="950" b="0" u="none">
                <a:solidFill>
                  <a:srgbClr val="8A8478"/>
                </a:solidFill>
                <a:latin typeface="Segoe UI"/>
              </a:rPr>
              <a:t>runs in your browser</a:t>
            </a:r>
          </a:p>
        </p:txBody>
      </p:sp>
      <p:sp>
        <p:nvSpPr>
          <p:cNvPr id="14" name="Rounded Rectangle 13"/>
          <p:cNvSpPr/>
          <p:nvPr/>
        </p:nvSpPr>
        <p:spPr>
          <a:xfrm>
            <a:off x="6180429" y="3127248"/>
            <a:ext cx="2615641" cy="1152144"/>
          </a:xfrm>
          <a:prstGeom prst="roundRect">
            <a:avLst>
              <a:gd name="adj" fmla="val 800"/>
            </a:avLst>
          </a:prstGeom>
          <a:solidFill>
            <a:srgbClr val="FFFFFF"/>
          </a:solidFill>
          <a:ln w="9525">
            <a:solidFill>
              <a:srgbClr val="E0DC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6765874" y="3008376"/>
            <a:ext cx="1444752" cy="237744"/>
          </a:xfrm>
          <a:prstGeom prst="rect">
            <a:avLst/>
          </a:prstGeom>
          <a:solidFill>
            <a:srgbClr val="EAEFEA"/>
          </a:solidFill>
          <a:ln w="7620">
            <a:solidFill>
              <a:srgbClr val="2C514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spc="120">
                <a:solidFill>
                  <a:srgbClr val="2C5142"/>
                </a:solidFill>
                <a:latin typeface="Segoe UI"/>
              </a:rPr>
              <a:t>SOURCE CODE</a:t>
            </a:r>
          </a:p>
        </p:txBody>
      </p:sp>
      <p:sp>
        <p:nvSpPr>
          <p:cNvPr id="16" name="TextBox 15"/>
          <p:cNvSpPr txBox="1"/>
          <p:nvPr/>
        </p:nvSpPr>
        <p:spPr>
          <a:xfrm>
            <a:off x="6253581" y="3474720"/>
            <a:ext cx="2469337" cy="475488"/>
          </a:xfrm>
          <a:prstGeom prst="rect">
            <a:avLst/>
          </a:prstGeom>
          <a:noFill/>
        </p:spPr>
        <p:txBody>
          <a:bodyPr wrap="square" lIns="0" rIns="0" tIns="0" bIns="0" anchor="t">
            <a:spAutoFit/>
          </a:bodyPr>
          <a:lstStyle/>
          <a:p>
            <a:pPr algn="ctr">
              <a:lnSpc>
                <a:spcPct val="125000"/>
              </a:lnSpc>
            </a:pPr>
            <a:r>
              <a:rPr sz="1050" b="1" u="none">
                <a:solidFill>
                  <a:srgbClr val="1C1A17"/>
                </a:solidFill>
                <a:latin typeface="Segoe UI"/>
                <a:hlinkClick r:id="rId4"/>
              </a:rPr>
              <a:t>github.com/ishyamprasath/quantum</a:t>
            </a:r>
          </a:p>
        </p:txBody>
      </p:sp>
      <p:sp>
        <p:nvSpPr>
          <p:cNvPr id="17" name="TextBox 16"/>
          <p:cNvSpPr txBox="1"/>
          <p:nvPr/>
        </p:nvSpPr>
        <p:spPr>
          <a:xfrm>
            <a:off x="6271869" y="3968496"/>
            <a:ext cx="2432761" cy="256032"/>
          </a:xfrm>
          <a:prstGeom prst="rect">
            <a:avLst/>
          </a:prstGeom>
          <a:noFill/>
        </p:spPr>
        <p:txBody>
          <a:bodyPr wrap="square" lIns="0" rIns="0" tIns="0" bIns="0" anchor="t">
            <a:spAutoFit/>
          </a:bodyPr>
          <a:lstStyle/>
          <a:p>
            <a:pPr algn="ctr"/>
            <a:r>
              <a:rPr sz="950" b="0" u="none">
                <a:solidFill>
                  <a:srgbClr val="8A8478"/>
                </a:solidFill>
                <a:latin typeface="Segoe UI"/>
              </a:rPr>
              <a:t>sweep script included</a:t>
            </a:r>
          </a:p>
        </p:txBody>
      </p:sp>
      <p:sp>
        <p:nvSpPr>
          <p:cNvPr id="18" name="Rounded Rectangle 17"/>
          <p:cNvSpPr/>
          <p:nvPr/>
        </p:nvSpPr>
        <p:spPr>
          <a:xfrm>
            <a:off x="8978950" y="3127248"/>
            <a:ext cx="2615641" cy="1152144"/>
          </a:xfrm>
          <a:prstGeom prst="roundRect">
            <a:avLst>
              <a:gd name="adj" fmla="val 800"/>
            </a:avLst>
          </a:prstGeom>
          <a:solidFill>
            <a:srgbClr val="FFFFFF"/>
          </a:solidFill>
          <a:ln w="9525">
            <a:solidFill>
              <a:srgbClr val="E0DC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64395" y="3008376"/>
            <a:ext cx="1444752" cy="237744"/>
          </a:xfrm>
          <a:prstGeom prst="rect">
            <a:avLst/>
          </a:prstGeom>
          <a:solidFill>
            <a:srgbClr val="EAEFEA"/>
          </a:solidFill>
          <a:ln w="7620">
            <a:solidFill>
              <a:srgbClr val="2C514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spc="120">
                <a:solidFill>
                  <a:srgbClr val="2C5142"/>
                </a:solidFill>
                <a:latin typeface="Segoe UI"/>
              </a:rPr>
              <a:t>SUBMITTED BY</a:t>
            </a:r>
          </a:p>
        </p:txBody>
      </p:sp>
      <p:sp>
        <p:nvSpPr>
          <p:cNvPr id="20" name="TextBox 19"/>
          <p:cNvSpPr txBox="1"/>
          <p:nvPr/>
        </p:nvSpPr>
        <p:spPr>
          <a:xfrm>
            <a:off x="9052102" y="3474720"/>
            <a:ext cx="2469337" cy="475488"/>
          </a:xfrm>
          <a:prstGeom prst="rect">
            <a:avLst/>
          </a:prstGeom>
          <a:noFill/>
        </p:spPr>
        <p:txBody>
          <a:bodyPr wrap="square" lIns="0" rIns="0" tIns="0" bIns="0" anchor="t">
            <a:spAutoFit/>
          </a:bodyPr>
          <a:lstStyle/>
          <a:p>
            <a:pPr algn="ctr">
              <a:lnSpc>
                <a:spcPct val="125000"/>
              </a:lnSpc>
            </a:pPr>
            <a:r>
              <a:rPr sz="1050" b="1" u="none">
                <a:solidFill>
                  <a:srgbClr val="1C1A17"/>
                </a:solidFill>
                <a:latin typeface="Segoe UI"/>
              </a:rPr>
              <a:t>Shyam Prasath S</a:t>
            </a:r>
          </a:p>
        </p:txBody>
      </p:sp>
      <p:sp>
        <p:nvSpPr>
          <p:cNvPr id="21" name="TextBox 20"/>
          <p:cNvSpPr txBox="1"/>
          <p:nvPr/>
        </p:nvSpPr>
        <p:spPr>
          <a:xfrm>
            <a:off x="9070390" y="3968496"/>
            <a:ext cx="2432761" cy="256032"/>
          </a:xfrm>
          <a:prstGeom prst="rect">
            <a:avLst/>
          </a:prstGeom>
          <a:noFill/>
        </p:spPr>
        <p:txBody>
          <a:bodyPr wrap="square" lIns="0" rIns="0" tIns="0" bIns="0" anchor="t">
            <a:spAutoFit/>
          </a:bodyPr>
          <a:lstStyle/>
          <a:p>
            <a:pPr algn="ctr"/>
            <a:r>
              <a:rPr sz="950" b="0" u="none">
                <a:solidFill>
                  <a:srgbClr val="8A8478"/>
                </a:solidFill>
                <a:latin typeface="Segoe UI"/>
              </a:rPr>
              <a:t>Sri Krishna College of Technology</a:t>
            </a:r>
          </a:p>
        </p:txBody>
      </p:sp>
      <p:sp>
        <p:nvSpPr>
          <p:cNvPr id="22" name="Rounded Rectangle 21"/>
          <p:cNvSpPr/>
          <p:nvPr/>
        </p:nvSpPr>
        <p:spPr>
          <a:xfrm>
            <a:off x="583387" y="4736592"/>
            <a:ext cx="11011204" cy="1115568"/>
          </a:xfrm>
          <a:prstGeom prst="roundRect">
            <a:avLst>
              <a:gd name="adj" fmla="val 800"/>
            </a:avLst>
          </a:prstGeom>
          <a:solidFill>
            <a:srgbClr val="F4F1E9"/>
          </a:solidFill>
          <a:ln w="9525">
            <a:solidFill>
              <a:srgbClr val="E0DC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5471769" y="4617720"/>
            <a:ext cx="1234440" cy="237744"/>
          </a:xfrm>
          <a:prstGeom prst="rect">
            <a:avLst/>
          </a:prstGeom>
          <a:solidFill>
            <a:srgbClr val="EAEFEA"/>
          </a:solidFill>
          <a:ln w="7620">
            <a:solidFill>
              <a:srgbClr val="2C514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50" b="1" spc="120">
                <a:solidFill>
                  <a:srgbClr val="2C5142"/>
                </a:solidFill>
                <a:latin typeface="Segoe UI"/>
              </a:rPr>
              <a:t>QUESTIONS</a:t>
            </a:r>
          </a:p>
        </p:txBody>
      </p:sp>
      <p:sp>
        <p:nvSpPr>
          <p:cNvPr id="24" name="TextBox 23"/>
          <p:cNvSpPr txBox="1"/>
          <p:nvPr/>
        </p:nvSpPr>
        <p:spPr>
          <a:xfrm>
            <a:off x="0" y="5065776"/>
            <a:ext cx="12191695" cy="365760"/>
          </a:xfrm>
          <a:prstGeom prst="rect">
            <a:avLst/>
          </a:prstGeom>
          <a:noFill/>
        </p:spPr>
        <p:txBody>
          <a:bodyPr wrap="square" lIns="0" rIns="0" tIns="0" bIns="0" anchor="t">
            <a:spAutoFit/>
          </a:bodyPr>
          <a:lstStyle/>
          <a:p>
            <a:pPr algn="ctr"/>
            <a:r>
              <a:rPr sz="1600" b="1" u="none">
                <a:solidFill>
                  <a:srgbClr val="2C5142"/>
                </a:solidFill>
                <a:latin typeface="Georgia"/>
              </a:rPr>
              <a:t>“It ranks and groups. It never closes a complaint.”</a:t>
            </a:r>
          </a:p>
        </p:txBody>
      </p:sp>
      <p:sp>
        <p:nvSpPr>
          <p:cNvPr id="25" name="TextBox 24"/>
          <p:cNvSpPr txBox="1"/>
          <p:nvPr/>
        </p:nvSpPr>
        <p:spPr>
          <a:xfrm>
            <a:off x="1040587" y="5486400"/>
            <a:ext cx="10096804" cy="365760"/>
          </a:xfrm>
          <a:prstGeom prst="rect">
            <a:avLst/>
          </a:prstGeom>
          <a:noFill/>
        </p:spPr>
        <p:txBody>
          <a:bodyPr wrap="square" lIns="0" rIns="0" tIns="0" bIns="0" anchor="t">
            <a:spAutoFit/>
          </a:bodyPr>
          <a:lstStyle/>
          <a:p>
            <a:pPr algn="ctr"/>
            <a:r>
              <a:rPr sz="1100" b="0" u="none">
                <a:solidFill>
                  <a:srgbClr val="4A4640"/>
                </a:solidFill>
                <a:latin typeface="Segoe UI"/>
              </a:rPr>
              <a:t>Ask about the clustering choice, the abstention gate, or anything on the evaluation page.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2C5142"/>
      </a:hlink>
      <a:folHlink>
        <a:srgbClr val="2C514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