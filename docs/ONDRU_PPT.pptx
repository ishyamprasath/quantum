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3500"/>
            </a:avLst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3387" y="1298448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14161C"/>
                </a:solidFill>
                <a:latin typeface="Segoe UI"/>
              </a:rPr>
              <a:t>ONDRU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8251" y="230428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F4BD6"/>
                </a:solidFill>
                <a:latin typeface="Segoe UI"/>
              </a:rPr>
              <a:t>ஒன்று  ·  many voices, one issue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3387" y="2761488"/>
            <a:ext cx="4617720" cy="10972"/>
          </a:xfrm>
          <a:prstGeom prst="roundRect">
            <a:avLst>
              <a:gd name="adj" fmla="val 0"/>
            </a:avLst>
          </a:prstGeom>
          <a:solidFill>
            <a:srgbClr val="E2E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83387" y="2980944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454A56"/>
                </a:solidFill>
                <a:latin typeface="Segoe UI"/>
              </a:rPr>
              <a:t>On-device AI triage for a municipal grievance desk. It groups re-reports of one incident into a single card, routes it to a desk, ranks what is dangerous — and refuses to guess when it is not sure.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3387" y="422452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67C8A"/>
                </a:solidFill>
                <a:latin typeface="Consolas"/>
              </a:rPr>
              <a:t>SUBMITTED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3387" y="44622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161C"/>
                </a:solidFill>
                <a:latin typeface="Segoe UI"/>
              </a:rPr>
              <a:t>Shyam Prasath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3387" y="4828032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54A56"/>
                </a:solidFill>
                <a:latin typeface="Segoe UI"/>
              </a:rPr>
              <a:t>Sri Krishna College of Technology, Coimbatore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" y="532180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67C8A"/>
                </a:solidFill>
                <a:latin typeface="Consolas"/>
              </a:rPr>
              <a:t>TRACK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3387" y="55595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161C"/>
                </a:solidFill>
                <a:latin typeface="Segoe UI"/>
              </a:rPr>
              <a:t>SDG 16 · Peace, Justice &amp; Strong Institutions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3387" y="5888736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67C8A"/>
                </a:solidFill>
                <a:latin typeface="Segoe UI"/>
              </a:rPr>
              <a:t>Code for Communities · Tech for Good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3387" y="566928"/>
            <a:ext cx="1572768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AI MINI PROJECT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83587" y="566928"/>
            <a:ext cx="1773936" cy="246888"/>
          </a:xfrm>
          <a:prstGeom prst="roundRect">
            <a:avLst>
              <a:gd name="adj" fmla="val 28000"/>
            </a:avLst>
          </a:prstGeom>
          <a:solidFill>
            <a:srgbClr val="ED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5803D"/>
                </a:solidFill>
                <a:latin typeface="Segoe UI"/>
              </a:rPr>
              <a:t>RUNS IN THE BROWSER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1152144"/>
            <a:ext cx="5852160" cy="3840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02-tri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261872"/>
            <a:ext cx="5632704" cy="35204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5120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767C8A"/>
                </a:solidFill>
                <a:latin typeface="Segoe UI"/>
              </a:rPr>
              <a:t>The console — 100 complaints in a ward inbox, grouped into 68 real incidents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541324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F4BD6"/>
                </a:solidFill>
                <a:latin typeface="Consolas"/>
              </a:rPr>
              <a:t>quantum-pi-blush.vercel.app   ·   github.com/ishyamprasath/quantum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3387" y="38404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14161C"/>
                </a:solidFill>
                <a:latin typeface="Segoe U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3387" y="109728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454A56"/>
                </a:solidFill>
                <a:latin typeface="Segoe UI"/>
              </a:rPr>
              <a:t>Why a ward grievance desk is slow, and where the complaints go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20624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14161C"/>
                </a:solidFill>
                <a:latin typeface="Segoe UI"/>
              </a:rPr>
              <a:t>ONDRU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731520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767C8A"/>
                </a:solidFill>
                <a:latin typeface="Consolas"/>
              </a:rPr>
              <a:t>many voices, one issue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3387" y="1874519"/>
            <a:ext cx="3556101" cy="4041648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744218" y="1755648"/>
            <a:ext cx="123444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THE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3387" y="2414015"/>
            <a:ext cx="355610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 i="0">
                <a:solidFill>
                  <a:srgbClr val="2F4BD6"/>
                </a:solidFill>
                <a:latin typeface="Segoe UI"/>
              </a:rPr>
              <a:t>49%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3427" y="3090672"/>
            <a:ext cx="29160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14161C"/>
                </a:solidFill>
                <a:latin typeface="Segoe UI"/>
              </a:rPr>
              <a:t>of the sample queue were re-reports of an incident already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" y="3712464"/>
            <a:ext cx="35561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67C8A"/>
                </a:solidFill>
                <a:latin typeface="Segoe UI"/>
              </a:rPr>
              <a:t>measured on 100 labelled complaints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3387" y="4151376"/>
            <a:ext cx="355610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14161C"/>
                </a:solidFill>
                <a:latin typeface="Segoe UI"/>
              </a:rPr>
              <a:t>200+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3427" y="4736592"/>
            <a:ext cx="29160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14161C"/>
                </a:solidFill>
                <a:latin typeface="Segoe UI"/>
              </a:rPr>
              <a:t>complaints a day into one shared ward inbox, sorted by hand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3387" y="5358383"/>
            <a:ext cx="35561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67C8A"/>
                </a:solidFill>
                <a:latin typeface="Segoe UI"/>
              </a:rPr>
              <a:t>CODERA, team 295 · Code for Communities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0938" y="1874519"/>
            <a:ext cx="3550386" cy="1975104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5802668" y="1751075"/>
            <a:ext cx="566928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2106" y="2258568"/>
            <a:ext cx="314805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2F8C"/>
                </a:solidFill>
                <a:latin typeface="Segoe UI"/>
              </a:rPr>
              <a:t>DUPLICATES ARE READ AS NEW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2106" y="2606039"/>
            <a:ext cx="3148050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54A56"/>
                </a:solidFill>
                <a:latin typeface="Segoe UI"/>
              </a:rPr>
              <a:t>Eleven reports of one pothole become eleven tickets. The crew goes once, one ticket closes, and ten stay open with nobody looking at them.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4205" y="1874519"/>
            <a:ext cx="3550386" cy="1975104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9535934" y="1751075"/>
            <a:ext cx="566928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5373" y="2258568"/>
            <a:ext cx="314805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2F8C"/>
                </a:solidFill>
                <a:latin typeface="Segoe UI"/>
              </a:rPr>
              <a:t>ROUTING IS MANUAL AND SLOW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5373" y="2606039"/>
            <a:ext cx="3148050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54A56"/>
                </a:solidFill>
                <a:latin typeface="Segoe UI"/>
              </a:rPr>
              <a:t>A clerk reads each complaint to guess a department. A wrong desk does not bounce back — it sits in the wrong queue while the resident is told “under process”.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0938" y="3986783"/>
            <a:ext cx="3550386" cy="1975104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5802668" y="3863339"/>
            <a:ext cx="566928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2106" y="4370831"/>
            <a:ext cx="314805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2F8C"/>
                </a:solidFill>
                <a:latin typeface="Segoe UI"/>
              </a:rPr>
              <a:t>URGENCY IS FIRST-COME, NOT SEVERITY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2106" y="4718303"/>
            <a:ext cx="3148050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54A56"/>
                </a:solidFill>
                <a:latin typeface="Segoe UI"/>
              </a:rPr>
              <a:t>An open manhole waits behind a request to repaint a speed breaker, because the queue is ordered by arrival time and nothing else.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4205" y="3986783"/>
            <a:ext cx="3550386" cy="1975104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9535934" y="3863339"/>
            <a:ext cx="566928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5373" y="4370831"/>
            <a:ext cx="314805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2F8C"/>
                </a:solidFill>
                <a:latin typeface="Segoe UI"/>
              </a:rPr>
              <a:t>AI TRIAGE TOOLS GUESS WHEN UNSURE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5373" y="4718303"/>
            <a:ext cx="3148050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54A56"/>
                </a:solidFill>
                <a:latin typeface="Segoe UI"/>
              </a:rPr>
              <a:t>A model that always answers will confidently file “please do the needful” to a desk. A confidently wrong label is worse than no label at all.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3387" y="6071616"/>
            <a:ext cx="11011204" cy="731520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5014569" y="5961888"/>
            <a:ext cx="214884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THE GAP ONDRU FILLS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9147" y="6345936"/>
            <a:ext cx="102796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i="0">
                <a:solidFill>
                  <a:srgbClr val="1E2F8C"/>
                </a:solidFill>
                <a:latin typeface="Segoe UI"/>
              </a:rPr>
              <a:t>“Show me the incidents, not the messages — and tell me plainly when you don’t know which desk it belongs to.”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3387" y="38404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14161C"/>
                </a:solidFill>
                <a:latin typeface="Segoe UI"/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3387" y="109728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454A56"/>
                </a:solidFill>
                <a:latin typeface="Segoe UI"/>
              </a:rPr>
              <a:t>One queue, done properly — not a dashboard of four half-features.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20624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14161C"/>
                </a:solidFill>
                <a:latin typeface="Segoe UI"/>
              </a:rPr>
              <a:t>ONDRU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731520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767C8A"/>
                </a:solidFill>
                <a:latin typeface="Consolas"/>
              </a:rPr>
              <a:t>many voices, one issue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3387" y="1700784"/>
            <a:ext cx="1682800" cy="402336"/>
          </a:xfrm>
          <a:prstGeom prst="roundRect">
            <a:avLst>
              <a:gd name="adj" fmla="val 12000"/>
            </a:avLst>
          </a:prstGeom>
          <a:solidFill>
            <a:srgbClr val="2F4BD6"/>
          </a:solidFill>
          <a:ln w="9525">
            <a:solidFill>
              <a:srgbClr val="2F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 spc="80">
                <a:solidFill>
                  <a:srgbClr val="FFFFFF"/>
                </a:solidFill>
                <a:latin typeface="Consolas"/>
              </a:rPr>
              <a:t>INGEST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77160" y="1719072"/>
            <a:ext cx="1645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 i="0">
                <a:solidFill>
                  <a:srgbClr val="767C8A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49068" y="1700784"/>
            <a:ext cx="1682800" cy="402336"/>
          </a:xfrm>
          <a:prstGeom prst="roundRect">
            <a:avLst>
              <a:gd name="adj" fmla="val 12000"/>
            </a:avLst>
          </a:prstGeom>
          <a:solidFill>
            <a:srgbClr val="2F4BD6"/>
          </a:solidFill>
          <a:ln w="9525">
            <a:solidFill>
              <a:srgbClr val="2F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 spc="80">
                <a:solidFill>
                  <a:srgbClr val="FFFFFF"/>
                </a:solidFill>
                <a:latin typeface="Consolas"/>
              </a:rPr>
              <a:t>EMBED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42841" y="1719072"/>
            <a:ext cx="1645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 i="0">
                <a:solidFill>
                  <a:srgbClr val="767C8A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4748" y="1700784"/>
            <a:ext cx="1682800" cy="402336"/>
          </a:xfrm>
          <a:prstGeom prst="roundRect">
            <a:avLst>
              <a:gd name="adj" fmla="val 12000"/>
            </a:avLst>
          </a:prstGeom>
          <a:solidFill>
            <a:srgbClr val="2F4BD6"/>
          </a:solidFill>
          <a:ln w="9525">
            <a:solidFill>
              <a:srgbClr val="2F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 spc="80">
                <a:solidFill>
                  <a:srgbClr val="FFFFFF"/>
                </a:solidFill>
                <a:latin typeface="Consolas"/>
              </a:rPr>
              <a:t>CLUSTER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08522" y="1719072"/>
            <a:ext cx="1645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 i="0">
                <a:solidFill>
                  <a:srgbClr val="767C8A"/>
                </a:solidFill>
                <a:latin typeface="Segoe U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0429" y="1700784"/>
            <a:ext cx="1682800" cy="402336"/>
          </a:xfrm>
          <a:prstGeom prst="roundRect">
            <a:avLst>
              <a:gd name="adj" fmla="val 12000"/>
            </a:avLst>
          </a:prstGeom>
          <a:solidFill>
            <a:srgbClr val="2F4BD6"/>
          </a:solidFill>
          <a:ln w="9525">
            <a:solidFill>
              <a:srgbClr val="2F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 spc="80">
                <a:solidFill>
                  <a:srgbClr val="FFFFFF"/>
                </a:solidFill>
                <a:latin typeface="Consolas"/>
              </a:rPr>
              <a:t>ROUTE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4203" y="1719072"/>
            <a:ext cx="1645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 i="0">
                <a:solidFill>
                  <a:srgbClr val="767C8A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110" y="1700784"/>
            <a:ext cx="1682800" cy="402336"/>
          </a:xfrm>
          <a:prstGeom prst="roundRect">
            <a:avLst>
              <a:gd name="adj" fmla="val 12000"/>
            </a:avLst>
          </a:prstGeom>
          <a:solidFill>
            <a:srgbClr val="2F4BD6"/>
          </a:solidFill>
          <a:ln w="9525">
            <a:solidFill>
              <a:srgbClr val="2F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 spc="80">
                <a:solidFill>
                  <a:srgbClr val="FFFFFF"/>
                </a:solidFill>
                <a:latin typeface="Consolas"/>
              </a:rPr>
              <a:t>RANK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39884" y="1719072"/>
            <a:ext cx="1645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 i="0">
                <a:solidFill>
                  <a:srgbClr val="767C8A"/>
                </a:solidFill>
                <a:latin typeface="Segoe U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11791" y="1700784"/>
            <a:ext cx="1682800" cy="402336"/>
          </a:xfrm>
          <a:prstGeom prst="roundRect">
            <a:avLst>
              <a:gd name="adj" fmla="val 12000"/>
            </a:avLst>
          </a:prstGeom>
          <a:solidFill>
            <a:srgbClr val="DDE3FB"/>
          </a:solidFill>
          <a:ln w="9525">
            <a:solidFill>
              <a:srgbClr val="DDE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 spc="80">
                <a:solidFill>
                  <a:srgbClr val="1E2F8C"/>
                </a:solidFill>
                <a:latin typeface="Consolas"/>
              </a:rPr>
              <a:t>HAND BACK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3387" y="2468880"/>
            <a:ext cx="3556101" cy="2395728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1835658" y="2345436"/>
            <a:ext cx="105156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MOAT 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" y="2889504"/>
            <a:ext cx="311718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F8C"/>
                </a:solidFill>
                <a:latin typeface="Segoe UI"/>
              </a:rPr>
              <a:t>IT NEVER LEAVES THE TAB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" y="3255264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2F4BD6"/>
                </a:solidFill>
                <a:latin typeface="Segoe UI"/>
              </a:rPr>
              <a:t>‣ </a:t>
            </a:r>
            <a:r>
              <a:rPr sz="1100">
                <a:solidFill>
                  <a:srgbClr val="454A56"/>
                </a:solidFill>
                <a:latin typeface="Segoe UI"/>
              </a:rPr>
              <a:t>all-MiniLM-L6-v2 runs in the browser on ONNX Runtime Web. No API key, no server, no complaint text in transit.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" y="3883548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2F4BD6"/>
                </a:solidFill>
                <a:latin typeface="Segoe UI"/>
              </a:rPr>
              <a:t>‣ </a:t>
            </a:r>
            <a:r>
              <a:rPr sz="1100">
                <a:solidFill>
                  <a:srgbClr val="454A56"/>
                </a:solidFill>
                <a:latin typeface="Segoe UI"/>
              </a:rPr>
              <a:t>That is the only reason a ward office can point it at a live inbox without a data-sharing note.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0938" y="2468880"/>
            <a:ext cx="3556101" cy="2395728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5563209" y="2345436"/>
            <a:ext cx="105156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MOAT 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0394" y="2889504"/>
            <a:ext cx="311718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F8C"/>
                </a:solidFill>
                <a:latin typeface="Segoe UI"/>
              </a:rPr>
              <a:t>IT IS ALLOWED TO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0394" y="3255264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2F4BD6"/>
                </a:solidFill>
                <a:latin typeface="Segoe UI"/>
              </a:rPr>
              <a:t>‣ </a:t>
            </a:r>
            <a:r>
              <a:rPr sz="1100">
                <a:solidFill>
                  <a:srgbClr val="454A56"/>
                </a:solidFill>
                <a:latin typeface="Segoe UI"/>
              </a:rPr>
              <a:t>Routing needs a score floor AND a margin over second place. Fail either and nothing is assigned.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0394" y="3883548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2F4BD6"/>
                </a:solidFill>
                <a:latin typeface="Segoe UI"/>
              </a:rPr>
              <a:t>‣ </a:t>
            </a:r>
            <a:r>
              <a:rPr sz="1100">
                <a:solidFill>
                  <a:srgbClr val="454A56"/>
                </a:solidFill>
                <a:latin typeface="Segoe UI"/>
              </a:rPr>
              <a:t>The complaint lands in a visible review lane with the numeric reason. Never dropped, never auto-filed.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38490" y="2468880"/>
            <a:ext cx="3556101" cy="2395728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9290761" y="2345436"/>
            <a:ext cx="105156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MOAT 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946" y="2889504"/>
            <a:ext cx="311718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F8C"/>
                </a:solidFill>
                <a:latin typeface="Segoe UI"/>
              </a:rPr>
              <a:t>EVERY NUMBER IS RECOMPUTED LIVE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946" y="3255264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2F4BD6"/>
                </a:solidFill>
                <a:latin typeface="Segoe UI"/>
              </a:rPr>
              <a:t>‣ </a:t>
            </a:r>
            <a:r>
              <a:rPr sz="1100">
                <a:solidFill>
                  <a:srgbClr val="454A56"/>
                </a:solidFill>
                <a:latin typeface="Segoe UI"/>
              </a:rPr>
              <a:t>The evaluation page scores 100 hand-labelled complaints in your browser when you press the button.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946" y="3883548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2F4BD6"/>
                </a:solidFill>
                <a:latin typeface="Segoe UI"/>
              </a:rPr>
              <a:t>‣ </a:t>
            </a:r>
            <a:r>
              <a:rPr sz="1100">
                <a:solidFill>
                  <a:srgbClr val="454A56"/>
                </a:solidFill>
                <a:latin typeface="Segoe UI"/>
              </a:rPr>
              <a:t>Nothing is hard-coded. If the model gets worse, the page gets worse.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3387" y="5175504"/>
            <a:ext cx="11011204" cy="1060704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5083149" y="5065776"/>
            <a:ext cx="201168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WHAT THE DESK GETS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4283" y="5431536"/>
            <a:ext cx="504840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2F4BD6"/>
                </a:solidFill>
                <a:latin typeface="Segoe UI"/>
              </a:rPr>
              <a:t>‣ </a:t>
            </a:r>
            <a:r>
              <a:rPr sz="1100">
                <a:solidFill>
                  <a:srgbClr val="454A56"/>
                </a:solidFill>
                <a:latin typeface="Segoe UI"/>
              </a:rPr>
              <a:t>100 complaints collapse to 68 incident cards, P1 first.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4283" y="5674492"/>
            <a:ext cx="504840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2F4BD6"/>
                </a:solidFill>
                <a:latin typeface="Segoe UI"/>
              </a:rPr>
              <a:t>‣ </a:t>
            </a:r>
            <a:r>
              <a:rPr sz="1100">
                <a:solidFill>
                  <a:srgbClr val="454A56"/>
                </a:solidFill>
                <a:latin typeface="Segoe UI"/>
              </a:rPr>
              <a:t>Every original report stays attached to its card.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005" y="5431536"/>
            <a:ext cx="504840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2F4BD6"/>
                </a:solidFill>
                <a:latin typeface="Segoe UI"/>
              </a:rPr>
              <a:t>‣ </a:t>
            </a:r>
            <a:r>
              <a:rPr sz="1100">
                <a:solidFill>
                  <a:srgbClr val="454A56"/>
                </a:solidFill>
                <a:latin typeface="Segoe UI"/>
              </a:rPr>
              <a:t>22 items handed back with the reason they failed the gate.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005" y="5674492"/>
            <a:ext cx="504840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2F4BD6"/>
                </a:solidFill>
                <a:latin typeface="Segoe UI"/>
              </a:rPr>
              <a:t>‣ </a:t>
            </a:r>
            <a:r>
              <a:rPr sz="1100">
                <a:solidFill>
                  <a:srgbClr val="454A56"/>
                </a:solidFill>
                <a:latin typeface="Segoe UI"/>
              </a:rPr>
              <a:t>A live metrics page the officer can audit, and a CSV upload for their own inbox.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3387" y="38404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14161C"/>
                </a:solidFill>
                <a:latin typeface="Segoe UI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3387" y="109728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454A56"/>
                </a:solidFill>
                <a:latin typeface="Segoe UI"/>
              </a:rPr>
              <a:t>Six capabilities. The fourth is the one most triage demos skip.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20624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14161C"/>
                </a:solidFill>
                <a:latin typeface="Segoe UI"/>
              </a:rPr>
              <a:t>ONDRU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731520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767C8A"/>
                </a:solidFill>
                <a:latin typeface="Consolas"/>
              </a:rPr>
              <a:t>many voices, one issue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3387" y="1737360"/>
            <a:ext cx="3556101" cy="2084831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712214" y="1613916"/>
            <a:ext cx="1298448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FEATURE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2843" y="2139696"/>
            <a:ext cx="311718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F8C"/>
                </a:solidFill>
                <a:latin typeface="Segoe UI"/>
              </a:rPr>
              <a:t>INCIDENT GROUPING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2843" y="2487168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Complete-linkage clustering on cosine similarity, not single-linkage.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" y="2922788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A report joins an incident only if it clears the threshold against every member — so unrelated complaints are never chained together and closed as 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0938" y="1737360"/>
            <a:ext cx="3556101" cy="2084831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5439765" y="1613916"/>
            <a:ext cx="1298448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FEATURE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0394" y="2139696"/>
            <a:ext cx="311718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F8C"/>
                </a:solidFill>
                <a:latin typeface="Segoe UI"/>
              </a:rPr>
              <a:t>DESK ROUTING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0394" y="2487168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Eight prototype vectors, one per municipal desk, built from the phrasing residents actually use.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0394" y="3115452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96.2% accurate on what it answered, across the labelled set.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8490" y="1737360"/>
            <a:ext cx="3556101" cy="2084831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9167317" y="1613916"/>
            <a:ext cx="1298448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FEATURE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946" y="2139696"/>
            <a:ext cx="311718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F8C"/>
                </a:solidFill>
                <a:latin typeface="Segoe UI"/>
              </a:rPr>
              <a:t>SEVERITY RANKING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946" y="2487168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Similarity to three severity prototypes plus a nine-rule hazard lexicon that is printed in full.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946" y="3115452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No language model writes the priority, so a supervisor can point at the rule that fired.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3387" y="4206240"/>
            <a:ext cx="3556101" cy="2084831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1712214" y="4082796"/>
            <a:ext cx="1298448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FEATURE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" y="4608576"/>
            <a:ext cx="311718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F8C"/>
                </a:solidFill>
                <a:latin typeface="Segoe UI"/>
              </a:rPr>
              <a:t>THE REFUSAL LANE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2843" y="4956048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Below the floor or inside the margin, nothing is assigned.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" y="5391668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It abstained on 7 of the 7 complaints a human reader could not route either.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0938" y="4206240"/>
            <a:ext cx="3556101" cy="2084831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439765" y="4082796"/>
            <a:ext cx="1298448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FEATURE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0394" y="4608576"/>
            <a:ext cx="311718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F8C"/>
                </a:solidFill>
                <a:latin typeface="Segoe UI"/>
              </a:rPr>
              <a:t>GRACEFUL DEGRADATION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0394" y="4956048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If the model cannot be fetched, a deterministic n-gram engine takes over with its own tuned thresholds.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0394" y="5584332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The desk still gets grouping on a bad connection instead of a spinner.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38490" y="4206240"/>
            <a:ext cx="3556101" cy="2084831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9167317" y="4082796"/>
            <a:ext cx="1298448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FEATURE 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946" y="4608576"/>
            <a:ext cx="311718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F8C"/>
                </a:solidFill>
                <a:latin typeface="Segoe UI"/>
              </a:rPr>
              <a:t>AUDITABLE BY DESIGN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7946" y="4956048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Every threshold, prototype and lexicon rule is on the /method page.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946" y="5391668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The sweep that chose them ships in the repo as tune.mts.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3387" y="38404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14161C"/>
                </a:solidFill>
                <a:latin typeface="Segoe UI"/>
              </a:rPr>
              <a:t>Idea /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3387" y="109728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454A56"/>
                </a:solidFill>
                <a:latin typeface="Segoe UI"/>
              </a:rPr>
              <a:t>Every layer is a component that already shipped. Nothing here is speculative.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20624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14161C"/>
                </a:solidFill>
                <a:latin typeface="Segoe UI"/>
              </a:rPr>
              <a:t>ONDRU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731520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767C8A"/>
                </a:solidFill>
                <a:latin typeface="Consolas"/>
              </a:rPr>
              <a:t>many voices, one issue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3387" y="1737360"/>
            <a:ext cx="3556101" cy="2084831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803654" y="1613916"/>
            <a:ext cx="1115568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2843" y="2139696"/>
            <a:ext cx="311718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F8C"/>
                </a:solidFill>
                <a:latin typeface="Segoe UI"/>
              </a:rPr>
              <a:t>SENTENCE ENCODER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2843" y="2505456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Xenova/all-MiniLM-L6-v2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" y="2732684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6-layer MiniLM, int8 quantised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" y="2959912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~23 MB, cached after first 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" y="3187141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384-dim, mean-pooled, L2 normalised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" y="3414369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Dot product is the cosine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0938" y="1737360"/>
            <a:ext cx="3556101" cy="2084831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5531205" y="1613916"/>
            <a:ext cx="1115568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0394" y="2139696"/>
            <a:ext cx="311718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F8C"/>
                </a:solidFill>
                <a:latin typeface="Segoe UI"/>
              </a:rPr>
              <a:t>BROWSER 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0394" y="2505456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transformers.js v3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0394" y="2732684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ONNX Runtime Web, WASM backend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0394" y="2959912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Batched 16 at a time, yields to paint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0394" y="3187141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No API route, no key, no database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0394" y="3414369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100 complaints in ~7 seconds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8490" y="1737360"/>
            <a:ext cx="3556101" cy="2084831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9258757" y="1613916"/>
            <a:ext cx="1115568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GROUPING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946" y="2139696"/>
            <a:ext cx="311718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F8C"/>
                </a:solidFill>
                <a:latin typeface="Segoe UI"/>
              </a:rPr>
              <a:t>CLUSTERING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946" y="2505456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Complete-linkage agglomerative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946" y="2732684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Pairs sorted by similarity, merged greedily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7946" y="3136849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Merge refused unless every pair clears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7946" y="3364077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Threshold 0.54, swept not guessed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946" y="3591306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Cohesion shown per incident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3387" y="4206240"/>
            <a:ext cx="3556101" cy="2084831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1803654" y="4082796"/>
            <a:ext cx="1115568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ROUTING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43" y="4608576"/>
            <a:ext cx="311718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F8C"/>
                </a:solidFill>
                <a:latin typeface="Segoe UI"/>
              </a:rPr>
              <a:t>PROTOTYPE CLASSIFIER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843" y="4974336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8 desks × 5 exemplar phrases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" y="5201564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Prototype = normalised mean of exemplars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" y="5428792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Two-part gate: floor 0.35, margin 0.04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2843" y="5656021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Zero-shot — no labelled training run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2843" y="5883249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Adding a desk is adding five sentences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10938" y="4206240"/>
            <a:ext cx="3556101" cy="2084831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531205" y="4082796"/>
            <a:ext cx="1115568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SEVERITY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0394" y="4608576"/>
            <a:ext cx="311718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F8C"/>
                </a:solidFill>
                <a:latin typeface="Segoe UI"/>
              </a:rPr>
              <a:t>HYBRID SCORING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0394" y="4974336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3 severity prototypes, P1 / P2 / P3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30394" y="5201564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9-rule signed hazard lexicon, weight ×2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30394" y="5428792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Grid-searched on the labelled set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30394" y="5656021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84.6% P1 recall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30394" y="5883249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Zero true P1 demoted to routine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38490" y="4206240"/>
            <a:ext cx="3556101" cy="2084831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9258757" y="4082796"/>
            <a:ext cx="1115568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DELIVERY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57946" y="4608576"/>
            <a:ext cx="311718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2F8C"/>
                </a:solidFill>
                <a:latin typeface="Segoe UI"/>
              </a:rPr>
              <a:t>SERVING AND UI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946" y="4974336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Next.js 16 App Router, React 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57946" y="5201564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TypeScript throughout, strict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57946" y="5428792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Tailwind v4, single light theme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57946" y="5656021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Static pages on Vercel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57946" y="5883249"/>
            <a:ext cx="311718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No server-side inference to pay for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3387" y="38404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14161C"/>
                </a:solidFill>
                <a:latin typeface="Segoe UI"/>
              </a:rPr>
              <a:t>System Architecture /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3387" y="109728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454A56"/>
                </a:solidFill>
                <a:latin typeface="Segoe UI"/>
              </a:rPr>
              <a:t>One inbox, from raw messages to a ranked incident queue — entirely in the tab.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20624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14161C"/>
                </a:solidFill>
                <a:latin typeface="Segoe UI"/>
              </a:rPr>
              <a:t>ONDRU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731520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767C8A"/>
                </a:solidFill>
                <a:latin typeface="Consolas"/>
              </a:rPr>
              <a:t>many voices, one issue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3387" y="1737360"/>
            <a:ext cx="8732520" cy="396849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" y="1847088"/>
            <a:ext cx="8549640" cy="303227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535363" y="1865376"/>
            <a:ext cx="2072944" cy="1865376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565995" y="1755648"/>
            <a:ext cx="201168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WHY COMPLETE LINKAGE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36531" y="2212848"/>
            <a:ext cx="167060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00" b="1">
                <a:solidFill>
                  <a:srgbClr val="2F4BD6"/>
                </a:solidFill>
                <a:latin typeface="Segoe UI"/>
              </a:rPr>
              <a:t>‣ </a:t>
            </a:r>
            <a:r>
              <a:rPr sz="1000">
                <a:solidFill>
                  <a:srgbClr val="454A56"/>
                </a:solidFill>
                <a:latin typeface="Segoe UI"/>
              </a:rPr>
              <a:t>Single linkage chains A to C through any middling 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36531" y="2770357"/>
            <a:ext cx="167060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00" b="1">
                <a:solidFill>
                  <a:srgbClr val="2F4BD6"/>
                </a:solidFill>
                <a:latin typeface="Segoe UI"/>
              </a:rPr>
              <a:t>‣ </a:t>
            </a:r>
            <a:r>
              <a:rPr sz="1000">
                <a:solidFill>
                  <a:srgbClr val="454A56"/>
                </a:solidFill>
                <a:latin typeface="Segoe UI"/>
              </a:rPr>
              <a:t>Here the Ukkadam and Sungam drain reports would merge.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6531" y="3327867"/>
            <a:ext cx="167060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00" b="1">
                <a:solidFill>
                  <a:srgbClr val="2F4BD6"/>
                </a:solidFill>
                <a:latin typeface="Segoe UI"/>
              </a:rPr>
              <a:t>‣ </a:t>
            </a:r>
            <a:r>
              <a:rPr sz="1000">
                <a:solidFill>
                  <a:srgbClr val="454A56"/>
                </a:solidFill>
                <a:latin typeface="Segoe UI"/>
              </a:rPr>
              <a:t>One then hides behind the other and closes with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35363" y="3877056"/>
            <a:ext cx="2072944" cy="1828800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9657435" y="3767328"/>
            <a:ext cx="1828800" cy="246888"/>
          </a:xfrm>
          <a:prstGeom prst="roundRect">
            <a:avLst>
              <a:gd name="adj" fmla="val 28000"/>
            </a:avLst>
          </a:prstGeom>
          <a:solidFill>
            <a:srgbClr val="FD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A55B06"/>
                </a:solidFill>
                <a:latin typeface="Segoe UI"/>
              </a:rPr>
              <a:t>ASYMMETRIC ERRORS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36531" y="4224528"/>
            <a:ext cx="167060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00" b="1">
                <a:solidFill>
                  <a:srgbClr val="2F4BD6"/>
                </a:solidFill>
                <a:latin typeface="Segoe UI"/>
              </a:rPr>
              <a:t>‣ </a:t>
            </a:r>
            <a:r>
              <a:rPr sz="1000">
                <a:solidFill>
                  <a:srgbClr val="454A56"/>
                </a:solidFill>
                <a:latin typeface="Segoe UI"/>
              </a:rPr>
              <a:t>Splitting one incident into two cards wastes thirty seconds.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36531" y="4782037"/>
            <a:ext cx="167060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00" b="1">
                <a:solidFill>
                  <a:srgbClr val="2F4BD6"/>
                </a:solidFill>
                <a:latin typeface="Segoe UI"/>
              </a:rPr>
              <a:t>‣ </a:t>
            </a:r>
            <a:r>
              <a:rPr sz="1000">
                <a:solidFill>
                  <a:srgbClr val="454A56"/>
                </a:solidFill>
                <a:latin typeface="Segoe UI"/>
              </a:rPr>
              <a:t>Merging two incidents into one loses a complaint.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6531" y="5339547"/>
            <a:ext cx="167060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00" b="1">
                <a:solidFill>
                  <a:srgbClr val="2F4BD6"/>
                </a:solidFill>
                <a:latin typeface="Segoe UI"/>
              </a:rPr>
              <a:t>‣ </a:t>
            </a:r>
            <a:r>
              <a:rPr sz="1000">
                <a:solidFill>
                  <a:srgbClr val="454A56"/>
                </a:solidFill>
                <a:latin typeface="Segoe UI"/>
              </a:rPr>
              <a:t>So the threshold sits tight of the F1 peak.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3387" y="38404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14161C"/>
                </a:solidFill>
                <a:latin typeface="Segoe UI"/>
              </a:rPr>
              <a:t>Innovation &amp; Existing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3387" y="109728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454A56"/>
                </a:solidFill>
                <a:latin typeface="Segoe UI"/>
              </a:rPr>
              <a:t>What a ward desk can use today, and where ONDRU sits.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20624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14161C"/>
                </a:solidFill>
                <a:latin typeface="Segoe UI"/>
              </a:rPr>
              <a:t>ONDRU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731520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767C8A"/>
                </a:solidFill>
                <a:latin typeface="Consolas"/>
              </a:rPr>
              <a:t>many voices, one issue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3387" y="1719072"/>
            <a:ext cx="11011204" cy="3310128"/>
          </a:xfrm>
          <a:prstGeom prst="roundRect">
            <a:avLst>
              <a:gd name="adj" fmla="val 1799"/>
            </a:avLst>
          </a:prstGeom>
          <a:solidFill>
            <a:srgbClr val="FFFFFF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945989" y="1609343"/>
            <a:ext cx="228600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CAPABILITY COMPARISON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" y="2048255"/>
            <a:ext cx="2807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67C8A"/>
                </a:solidFill>
                <a:latin typeface="Segoe UI"/>
              </a:rPr>
              <a:t>CAPABILITY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19779" y="2048255"/>
            <a:ext cx="14615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767C8A"/>
                </a:solidFill>
                <a:latin typeface="Segoe UI"/>
              </a:rPr>
              <a:t>MANUAL SORTING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4508" y="2048255"/>
            <a:ext cx="14615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767C8A"/>
                </a:solidFill>
                <a:latin typeface="Segoe UI"/>
              </a:rPr>
              <a:t>KEYWORD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9237" y="2048255"/>
            <a:ext cx="14615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767C8A"/>
                </a:solidFill>
                <a:latin typeface="Segoe UI"/>
              </a:rPr>
              <a:t>CLOUD LLM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3966" y="2048255"/>
            <a:ext cx="14615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767C8A"/>
                </a:solidFill>
                <a:latin typeface="Segoe UI"/>
              </a:rPr>
              <a:t>GRIEVANCE PORTALS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58695" y="2048255"/>
            <a:ext cx="14615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2F4BD6"/>
                </a:solidFill>
                <a:latin typeface="Segoe UI"/>
              </a:rPr>
              <a:t>ONDRU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" y="2505456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161C"/>
                </a:solidFill>
                <a:latin typeface="Segoe UI"/>
              </a:rPr>
              <a:t>Groups duplicate reports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9779" y="2505456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4508" y="2505456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67C8A"/>
                </a:solidFill>
                <a:latin typeface="Segoe UI"/>
              </a:rPr>
              <a:t>partial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9237" y="2505456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803D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3966" y="2505456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58695" y="2505456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803D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" y="2798063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161C"/>
                </a:solidFill>
                <a:latin typeface="Segoe UI"/>
              </a:rPr>
              <a:t>Routes to a department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9779" y="2798063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4508" y="2798063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67C8A"/>
                </a:solidFill>
                <a:latin typeface="Segoe UI"/>
              </a:rPr>
              <a:t>partial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9237" y="2798063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803D"/>
                </a:solidFill>
                <a:latin typeface="Segoe U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3966" y="2798063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803D"/>
                </a:solidFill>
                <a:latin typeface="Segoe U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58695" y="2798063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803D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" y="3090672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161C"/>
                </a:solidFill>
                <a:latin typeface="Segoe UI"/>
              </a:rPr>
              <a:t>Ranks by severity, not arrival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9779" y="3090672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4508" y="3090672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9237" y="3090672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803D"/>
                </a:solidFill>
                <a:latin typeface="Segoe U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3966" y="3090672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8695" y="3090672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803D"/>
                </a:solidFill>
                <a:latin typeface="Segoe U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" y="3383279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161C"/>
                </a:solidFill>
                <a:latin typeface="Segoe UI"/>
              </a:rPr>
              <a:t>Refuses to guess when unsure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19779" y="3383279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67C8A"/>
                </a:solidFill>
                <a:latin typeface="Segoe U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4508" y="3383279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89237" y="3383279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3966" y="3383279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58695" y="3383279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803D"/>
                </a:solidFill>
                <a:latin typeface="Segoe U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" y="3675887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161C"/>
                </a:solidFill>
                <a:latin typeface="Segoe UI"/>
              </a:rPr>
              <a:t>No text leaves the machine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19779" y="3675887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803D"/>
                </a:solidFill>
                <a:latin typeface="Segoe U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54508" y="3675887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803D"/>
                </a:solidFill>
                <a:latin typeface="Segoe U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9237" y="3675887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3966" y="3675887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58695" y="3675887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803D"/>
                </a:solidFill>
                <a:latin typeface="Segoe U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419" y="3968496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161C"/>
                </a:solidFill>
                <a:latin typeface="Segoe UI"/>
              </a:rPr>
              <a:t>Works with no API key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19779" y="3968496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803D"/>
                </a:solidFill>
                <a:latin typeface="Segoe UI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54508" y="3968496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803D"/>
                </a:solidFill>
                <a:latin typeface="Segoe U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89237" y="3968496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3966" y="3968496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58695" y="3968496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803D"/>
                </a:solidFill>
                <a:latin typeface="Segoe UI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9419" y="4261104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161C"/>
                </a:solidFill>
                <a:latin typeface="Segoe UI"/>
              </a:rPr>
              <a:t>Published accuracy numbers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19779" y="4261104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4508" y="4261104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89237" y="4261104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3966" y="4261104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58695" y="4261104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803D"/>
                </a:solidFill>
                <a:latin typeface="Segoe UI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9419" y="4553712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161C"/>
                </a:solidFill>
                <a:latin typeface="Segoe UI"/>
              </a:rPr>
              <a:t>Marginal cost per 1,000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19779" y="4553712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67C8A"/>
                </a:solidFill>
                <a:latin typeface="Segoe UI"/>
              </a:rPr>
              <a:t>8 hrs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54508" y="4553712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67C8A"/>
                </a:solidFill>
                <a:latin typeface="Segoe UI"/>
              </a:rPr>
              <a:t>free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89237" y="4553712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67C8A"/>
                </a:solidFill>
                <a:latin typeface="Segoe UI"/>
              </a:rPr>
              <a:t>~₹120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3966" y="4553712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67C8A"/>
                </a:solidFill>
                <a:latin typeface="Segoe UI"/>
              </a:rPr>
              <a:t>free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58695" y="4553712"/>
            <a:ext cx="1461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F4BD6"/>
                </a:solidFill>
                <a:latin typeface="Segoe UI"/>
              </a:rPr>
              <a:t>₹0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83387" y="5376672"/>
            <a:ext cx="5395874" cy="1078992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2572664" y="5266944"/>
            <a:ext cx="141732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POSITIONING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1131" y="5705856"/>
            <a:ext cx="492038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454A56"/>
                </a:solidFill>
                <a:latin typeface="Segoe UI"/>
              </a:rPr>
              <a:t>Cloud LLM triage is the obvious build and it is the one a government desk cannot adopt: it means posting citizen complaints to a third party, per call, forever. ONDRU takes the same job offline.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98717" y="5376672"/>
            <a:ext cx="5395874" cy="1078992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ounded Rectangle 66"/>
          <p:cNvSpPr/>
          <p:nvPr/>
        </p:nvSpPr>
        <p:spPr>
          <a:xfrm>
            <a:off x="8142274" y="5266944"/>
            <a:ext cx="150876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WHAT IS NEW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99885" y="5687568"/>
            <a:ext cx="499353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A grievance triage tool with a measured, visible abstention rate.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99885" y="5914796"/>
            <a:ext cx="499353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2F4BD6"/>
                </a:solidFill>
                <a:latin typeface="Segoe UI"/>
              </a:rPr>
              <a:t>‣ </a:t>
            </a:r>
            <a:r>
              <a:rPr sz="1050">
                <a:solidFill>
                  <a:srgbClr val="454A56"/>
                </a:solidFill>
                <a:latin typeface="Segoe UI"/>
              </a:rPr>
              <a:t>Zero marginal cost per complaint, and nothing to procure.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3387" y="38404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14161C"/>
                </a:solidFill>
                <a:latin typeface="Segoe UI"/>
              </a:rPr>
              <a:t>Impact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3387" y="109728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454A56"/>
                </a:solidFill>
                <a:latin typeface="Segoe UI"/>
              </a:rPr>
              <a:t>What it does today, measured — and the honest next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20624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14161C"/>
                </a:solidFill>
                <a:latin typeface="Segoe UI"/>
              </a:rPr>
              <a:t>ONDRU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731520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767C8A"/>
                </a:solidFill>
                <a:latin typeface="Consolas"/>
              </a:rPr>
              <a:t>many voices, one issue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3387" y="1847088"/>
            <a:ext cx="2615641" cy="1298448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434007" y="1737360"/>
            <a:ext cx="91440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DEDUPE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3387" y="2157984"/>
            <a:ext cx="261564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2F4BD6"/>
                </a:solidFill>
                <a:latin typeface="Segoe UI"/>
              </a:rPr>
              <a:t>76.3%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403" y="2615184"/>
            <a:ext cx="23596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161C"/>
                </a:solidFill>
                <a:latin typeface="Segoe UI"/>
              </a:rPr>
              <a:t>Duplicate grouping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403" y="2834639"/>
            <a:ext cx="23596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767C8A"/>
                </a:solidFill>
                <a:latin typeface="Segoe UI"/>
              </a:rPr>
              <a:t>pairwise over 4,950 complaint pairs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1908" y="1847088"/>
            <a:ext cx="2615641" cy="1298448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232529" y="1737360"/>
            <a:ext cx="91440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908" y="2157984"/>
            <a:ext cx="261564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2F4BD6"/>
                </a:solidFill>
                <a:latin typeface="Segoe UI"/>
              </a:rPr>
              <a:t>96.2%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9924" y="2615184"/>
            <a:ext cx="23596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161C"/>
                </a:solidFill>
                <a:latin typeface="Segoe UI"/>
              </a:rPr>
              <a:t>Routing 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9924" y="2834639"/>
            <a:ext cx="23596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767C8A"/>
                </a:solidFill>
                <a:latin typeface="Segoe UI"/>
              </a:rPr>
              <a:t>on the 84% of complaints it answered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0429" y="1847088"/>
            <a:ext cx="2615641" cy="1298448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7031050" y="1737360"/>
            <a:ext cx="91440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REFUSAL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0429" y="2157984"/>
            <a:ext cx="261564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2F4BD6"/>
                </a:solidFill>
                <a:latin typeface="Segoe UI"/>
              </a:rPr>
              <a:t>7 /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8445" y="2615184"/>
            <a:ext cx="23596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161C"/>
                </a:solidFill>
                <a:latin typeface="Segoe UI"/>
              </a:rPr>
              <a:t>Correctly abstained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8445" y="2834639"/>
            <a:ext cx="23596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767C8A"/>
                </a:solidFill>
                <a:latin typeface="Segoe UI"/>
              </a:rPr>
              <a:t>on the deliberately unroutable ones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8950" y="1847088"/>
            <a:ext cx="2615641" cy="1298448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9829571" y="1737360"/>
            <a:ext cx="91440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SAFETY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8950" y="2157984"/>
            <a:ext cx="261564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2F4BD6"/>
                </a:solidFill>
                <a:latin typeface="Segoe U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6966" y="2615184"/>
            <a:ext cx="23596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161C"/>
                </a:solidFill>
                <a:latin typeface="Segoe UI"/>
              </a:rPr>
              <a:t>True P1 sent to routine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6966" y="2834639"/>
            <a:ext cx="23596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767C8A"/>
                </a:solidFill>
                <a:latin typeface="Segoe UI"/>
              </a:rPr>
              <a:t>P1 recall 84.6%, never demoted to P3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3387" y="3547872"/>
            <a:ext cx="11011204" cy="1755648"/>
          </a:xfrm>
          <a:prstGeom prst="roundRect">
            <a:avLst>
              <a:gd name="adj" fmla="val 3500"/>
            </a:avLst>
          </a:prstGeom>
          <a:solidFill>
            <a:srgbClr val="F5F6FB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471769" y="3438144"/>
            <a:ext cx="123444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ROADMAP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" y="3895344"/>
            <a:ext cx="33960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E2F8C"/>
                </a:solidFill>
                <a:latin typeface="Consolas"/>
              </a:rPr>
              <a:t>P1  ·  NOW  ·  PROTOTYPE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" y="4114800"/>
            <a:ext cx="339608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54A56"/>
                </a:solidFill>
                <a:latin typeface="Segoe UI"/>
              </a:rPr>
              <a:t>100 labelled complaints, live metrics page, deployed and public.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1532" y="3895344"/>
            <a:ext cx="33960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E2F8C"/>
                </a:solidFill>
                <a:latin typeface="Consolas"/>
              </a:rPr>
              <a:t>P2  ·  NEXT  ·  REAL LABELS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1532" y="4114800"/>
            <a:ext cx="339608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54A56"/>
                </a:solidFill>
                <a:latin typeface="Segoe UI"/>
              </a:rPr>
              <a:t>200 complaints from one Coimbatore ward, labelled by that ward's officer.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43646" y="3895344"/>
            <a:ext cx="33960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E2F8C"/>
                </a:solidFill>
                <a:latin typeface="Consolas"/>
              </a:rPr>
              <a:t>P3  ·  +1 MO  ·  TAMIL SCRIPT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3646" y="4114800"/>
            <a:ext cx="339608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54A56"/>
                </a:solidFill>
                <a:latin typeface="Segoe UI"/>
              </a:rPr>
              <a:t>Swap in a multilingual encoder so native Tamil, not just transliteration, is handled.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419" y="4590288"/>
            <a:ext cx="33960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E2F8C"/>
                </a:solidFill>
                <a:latin typeface="Consolas"/>
              </a:rPr>
              <a:t>P4  ·  +2 MO  ·  OFFICER FEEDBACK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" y="4809744"/>
            <a:ext cx="339608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54A56"/>
                </a:solidFill>
                <a:latin typeface="Segoe UI"/>
              </a:rPr>
              <a:t>A re-route button that logs corrections, so thresholds tune on real disagreement.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91532" y="4590288"/>
            <a:ext cx="33960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E2F8C"/>
                </a:solidFill>
                <a:latin typeface="Consolas"/>
              </a:rPr>
              <a:t>P5  ·  +3 MO  ·  PORTAL IMPORT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91532" y="4809744"/>
            <a:ext cx="339608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54A56"/>
                </a:solidFill>
                <a:latin typeface="Segoe UI"/>
              </a:rPr>
              <a:t>Read a CM Helpline / ASKTN CSV export directly, write back grouped incident ids.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43646" y="4590288"/>
            <a:ext cx="33960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E2F8C"/>
                </a:solidFill>
                <a:latin typeface="Consolas"/>
              </a:rPr>
              <a:t>P6  ·  +6 MO  ·  PILOT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43646" y="4809744"/>
            <a:ext cx="339608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54A56"/>
                </a:solidFill>
                <a:latin typeface="Segoe UI"/>
              </a:rPr>
              <a:t>One ward, one month, measured against the desk's own resolution times.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3387" y="5596128"/>
            <a:ext cx="11011204" cy="841248"/>
          </a:xfrm>
          <a:prstGeom prst="roundRect">
            <a:avLst>
              <a:gd name="adj" fmla="val 3500"/>
            </a:avLst>
          </a:prstGeom>
          <a:solidFill>
            <a:srgbClr val="FDF4E7"/>
          </a:solidFill>
          <a:ln w="9525">
            <a:solidFill>
              <a:srgbClr val="F0D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5288889" y="5486400"/>
            <a:ext cx="1600200" cy="246888"/>
          </a:xfrm>
          <a:prstGeom prst="roundRect">
            <a:avLst>
              <a:gd name="adj" fmla="val 28000"/>
            </a:avLst>
          </a:prstGeom>
          <a:solidFill>
            <a:srgbClr val="FD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A55B06"/>
                </a:solidFill>
                <a:latin typeface="Segoe UI"/>
              </a:rPr>
              <a:t>STATED LIMITS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4283" y="5888736"/>
            <a:ext cx="103894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454A56"/>
                </a:solidFill>
                <a:latin typeface="Segoe UI"/>
              </a:rPr>
              <a:t>The 100 complaints were written by us to match the register real ones arrive in, and the desk anchors were written by the same hand — so treat routing accuracy as an upper bound. Urgency errors are lopsided: it over-calls P1 far more often than it under-calls it. Real labels from a real ward are the next step, not more features.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3500"/>
            </a:avLst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1078992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400" b="1" i="0">
                <a:solidFill>
                  <a:srgbClr val="14161C"/>
                </a:solidFill>
                <a:latin typeface="Segoe Script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304288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50" b="1" i="0">
                <a:solidFill>
                  <a:srgbClr val="2F4BD6"/>
                </a:solidFill>
                <a:latin typeface="Segoe UI"/>
              </a:rPr>
              <a:t>ONDRU  ·  many voices, one issue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3387" y="3072384"/>
            <a:ext cx="2615641" cy="113385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319707" y="2962656"/>
            <a:ext cx="114300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DEMO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251" y="3438144"/>
            <a:ext cx="250591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E2F8C"/>
                </a:solidFill>
                <a:latin typeface="Segoe UI"/>
              </a:rPr>
              <a:t>link to be added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15" y="3877056"/>
            <a:ext cx="239618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67C8A"/>
                </a:solidFill>
                <a:latin typeface="Segoe UI"/>
              </a:rPr>
              <a:t>3 min walkthrough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1908" y="3072384"/>
            <a:ext cx="2615641" cy="113385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118229" y="2962656"/>
            <a:ext cx="114300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LIVE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772" y="3438144"/>
            <a:ext cx="250591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E2F8C"/>
                </a:solidFill>
                <a:latin typeface="Segoe UI"/>
              </a:rPr>
              <a:t>quantum-pi-blush.vercel.app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1636" y="3877056"/>
            <a:ext cx="239618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67C8A"/>
                </a:solidFill>
                <a:latin typeface="Segoe UI"/>
              </a:rPr>
              <a:t>runs in your browser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0429" y="3072384"/>
            <a:ext cx="2615641" cy="113385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6916750" y="2962656"/>
            <a:ext cx="114300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5293" y="3438144"/>
            <a:ext cx="250591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E2F8C"/>
                </a:solidFill>
                <a:latin typeface="Segoe UI"/>
              </a:rPr>
              <a:t>github.com/ishyamprasath/quantum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0157" y="3877056"/>
            <a:ext cx="239618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67C8A"/>
                </a:solidFill>
                <a:latin typeface="Segoe UI"/>
              </a:rPr>
              <a:t>MIT, sweep script included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8950" y="3072384"/>
            <a:ext cx="2615641" cy="113385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9715271" y="2962656"/>
            <a:ext cx="114300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BY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33814" y="3438144"/>
            <a:ext cx="250591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E2F8C"/>
                </a:solidFill>
                <a:latin typeface="Segoe UI"/>
              </a:rPr>
              <a:t>Shyam Prasath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8678" y="3877056"/>
            <a:ext cx="239618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67C8A"/>
                </a:solidFill>
                <a:latin typeface="Segoe UI"/>
              </a:rPr>
              <a:t>Sri Krishna College of Technology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3387" y="4663440"/>
            <a:ext cx="11011204" cy="113385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5448909" y="4553712"/>
            <a:ext cx="1280160" cy="246888"/>
          </a:xfrm>
          <a:prstGeom prst="roundRect">
            <a:avLst>
              <a:gd name="adj" fmla="val 28000"/>
            </a:avLst>
          </a:prstGeom>
          <a:solidFill>
            <a:srgbClr val="DDE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 b="1" spc="90">
                <a:solidFill>
                  <a:srgbClr val="1E2F8C"/>
                </a:solidFill>
                <a:latin typeface="Segoe UI"/>
              </a:rPr>
              <a:t>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5010912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E2F8C"/>
                </a:solidFill>
                <a:latin typeface="Segoe UI"/>
              </a:rPr>
              <a:t>“It ranks and groups. It never closes a complaint.”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" y="5413248"/>
            <a:ext cx="100968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54A56"/>
                </a:solidFill>
                <a:latin typeface="Segoe UI"/>
              </a:rPr>
              <a:t>Ask about the clustering choice, the abstention gate, or anything on the evaluation page.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